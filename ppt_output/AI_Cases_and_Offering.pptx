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3200" b="1">
                <a:solidFill>
                  <a:srgbClr val="1F2A44"/>
                </a:solidFill>
                <a:latin typeface="微软雅黑"/>
              </a:rPr>
              <a:t>AI Case &amp; Offering 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400" b="0">
                <a:solidFill>
                  <a:srgbClr val="555555"/>
                </a:solidFill>
                <a:latin typeface="微软雅黑"/>
              </a:rPr>
              <a:t>我们在过去一年在多个业务和技术维度成功落地了多个典型AI项目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30000" cy="27432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411480" cy="3840480"/>
          </a:xfrm>
          <a:prstGeom prst="rect">
            <a:avLst/>
          </a:prstGeom>
          <a:solidFill>
            <a:srgbClr val="E6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1F2A44"/>
                </a:solidFill>
                <a:latin typeface="微软雅黑"/>
              </a:rPr>
              <a:t>AI Enable Business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17320"/>
            <a:ext cx="35661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1400" b="1">
                <a:solidFill>
                  <a:srgbClr val="0B2A6B"/>
                </a:solidFill>
                <a:latin typeface="微软雅黑"/>
              </a:rPr>
              <a:t>Content 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417320"/>
            <a:ext cx="35661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1400" b="1">
                <a:solidFill>
                  <a:srgbClr val="3EA7E6"/>
                </a:solidFill>
                <a:latin typeface="微软雅黑"/>
              </a:rPr>
              <a:t>Efficiency Improvement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417320"/>
            <a:ext cx="35661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1400" b="1">
                <a:solidFill>
                  <a:srgbClr val="1F8F8A"/>
                </a:solidFill>
                <a:latin typeface="微软雅黑"/>
              </a:rPr>
              <a:t>WoW Innovation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83080"/>
            <a:ext cx="3566160" cy="36576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783080"/>
            <a:ext cx="3566160" cy="36576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783080"/>
            <a:ext cx="3566160" cy="36576"/>
          </a:xfrm>
          <a:prstGeom prst="rect">
            <a:avLst/>
          </a:prstGeom>
          <a:solidFill>
            <a:srgbClr val="1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874519"/>
            <a:ext cx="3566160" cy="3383280"/>
          </a:xfrm>
          <a:prstGeom prst="rect">
            <a:avLst/>
          </a:prstGeom>
          <a:noFill/>
          <a:ln w="9525">
            <a:solidFill>
              <a:srgbClr val="0B2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800" b="1" i="0">
                <a:solidFill>
                  <a:srgbClr val="1F2A44"/>
                </a:solidFill>
                <a:latin typeface="微软雅黑"/>
              </a:rPr>
              <a:t>
AI 效果图助手</a:t>
            </a:r>
          </a:p>
          <a:p>
            <a:pPr algn="ctr"/>
            <a:r>
              <a:rPr sz="1100" b="0" i="0">
                <a:solidFill>
                  <a:srgbClr val="555555"/>
                </a:solidFill>
                <a:latin typeface="微软雅黑"/>
              </a:rPr>
              <a:t>全员可用的生图工具与智能图像处理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874519"/>
            <a:ext cx="310896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1300" b="1" i="0">
                <a:solidFill>
                  <a:srgbClr val="1F2A44"/>
                </a:solidFill>
                <a:latin typeface="微软雅黑"/>
              </a:rPr>
              <a:t>AI 目标识别</a:t>
            </a:r>
          </a:p>
          <a:p>
            <a:pPr algn="ctr"/>
            <a:r>
              <a:rPr sz="900" b="0" i="0">
                <a:solidFill>
                  <a:srgbClr val="555555"/>
                </a:solidFill>
                <a:latin typeface="微软雅黑"/>
              </a:rPr>
              <a:t>实现高性能 OCR 和图章检测，满足预定义基准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1965960"/>
            <a:ext cx="411480" cy="4114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</a:rPr>
              <a:t>J&amp;J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551176"/>
            <a:ext cx="310896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1300" b="1" i="0">
                <a:solidFill>
                  <a:srgbClr val="1F2A44"/>
                </a:solidFill>
                <a:latin typeface="微软雅黑"/>
              </a:rPr>
              <a:t>AI 文献搜索：百济</a:t>
            </a:r>
          </a:p>
          <a:p>
            <a:pPr algn="ctr"/>
            <a:r>
              <a:rPr sz="900" b="0" i="0">
                <a:solidFill>
                  <a:srgbClr val="555555"/>
                </a:solidFill>
                <a:latin typeface="微软雅黑"/>
              </a:rPr>
              <a:t>人机互动全链路赋能销售代表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2642616"/>
            <a:ext cx="411480" cy="4114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</a:rPr>
              <a:t>BeiGene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227832"/>
            <a:ext cx="310896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1300" b="1" i="0">
                <a:solidFill>
                  <a:srgbClr val="1F2A44"/>
                </a:solidFill>
                <a:latin typeface="微软雅黑"/>
              </a:rPr>
              <a:t>AI日志分析</a:t>
            </a:r>
          </a:p>
          <a:p>
            <a:pPr algn="ctr"/>
            <a:r>
              <a:rPr sz="900" b="0" i="0">
                <a:solidFill>
                  <a:srgbClr val="555555"/>
                </a:solidFill>
                <a:latin typeface="微软雅黑"/>
              </a:rPr>
              <a:t>轮询实现日志的自动化推理检测与异常日志实时告警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3319272"/>
            <a:ext cx="411480" cy="4114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</a:rPr>
              <a:t>Porsche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904488"/>
            <a:ext cx="310896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1300" b="1" i="0">
                <a:solidFill>
                  <a:srgbClr val="1F2A44"/>
                </a:solidFill>
                <a:latin typeface="微软雅黑"/>
              </a:rPr>
              <a:t>AI 合同管理：沃尔沃/越秀</a:t>
            </a:r>
          </a:p>
          <a:p>
            <a:pPr algn="ctr"/>
            <a:r>
              <a:rPr sz="900" b="0" i="0">
                <a:solidFill>
                  <a:srgbClr val="555555"/>
                </a:solidFill>
                <a:latin typeface="微软雅黑"/>
              </a:rPr>
              <a:t>“智能秒级”响应，自动解析合同条款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3995928"/>
            <a:ext cx="411480" cy="4114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</a:rPr>
              <a:t>YX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4581144"/>
            <a:ext cx="310896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1300" b="1" i="0">
                <a:solidFill>
                  <a:srgbClr val="1F2A44"/>
                </a:solidFill>
                <a:latin typeface="微软雅黑"/>
              </a:rPr>
              <a:t>智能客服系统</a:t>
            </a:r>
          </a:p>
          <a:p>
            <a:pPr algn="ctr"/>
            <a:r>
              <a:rPr sz="900" b="0" i="0">
                <a:solidFill>
                  <a:srgbClr val="555555"/>
                </a:solidFill>
                <a:latin typeface="微软雅黑"/>
              </a:rPr>
              <a:t>7*24快速响应客户需求并自动记录到业务系统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4672584"/>
            <a:ext cx="411480" cy="4114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</a:rPr>
              <a:t>Porsche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874519"/>
            <a:ext cx="310896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 i="0">
                <a:solidFill>
                  <a:srgbClr val="1F2A44"/>
                </a:solidFill>
                <a:latin typeface="微软雅黑"/>
              </a:rPr>
              <a:t>Deep Research 混合检索引擎</a:t>
            </a:r>
          </a:p>
          <a:p>
            <a:pPr algn="ctr"/>
            <a:r>
              <a:rPr sz="900" b="0" i="0">
                <a:solidFill>
                  <a:srgbClr val="555555"/>
                </a:solidFill>
                <a:latin typeface="微软雅黑"/>
              </a:rPr>
              <a:t>集成知识库 + 外部网站搜索 + 内部资产 Confluence 为一体，整合多源检索与多轮优化能力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338560" y="1965960"/>
            <a:ext cx="457200" cy="365760"/>
          </a:xfrm>
          <a:prstGeom prst="rect">
            <a:avLst/>
          </a:prstGeom>
          <a:solidFill>
            <a:srgbClr val="1A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</a:rPr>
              <a:t>BMW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788920"/>
            <a:ext cx="31089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 i="0">
                <a:solidFill>
                  <a:srgbClr val="1F2A44"/>
                </a:solidFill>
                <a:latin typeface="微软雅黑"/>
              </a:rPr>
              <a:t>AI智能陪练</a:t>
            </a:r>
          </a:p>
          <a:p>
            <a:pPr algn="ctr"/>
            <a:r>
              <a:rPr sz="900" b="0" i="0">
                <a:solidFill>
                  <a:srgbClr val="555555"/>
                </a:solidFill>
                <a:latin typeface="微软雅黑"/>
              </a:rPr>
              <a:t>线上实时陪练，数据驱动优化效果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520439"/>
            <a:ext cx="31089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 i="0">
                <a:solidFill>
                  <a:srgbClr val="1F2A44"/>
                </a:solidFill>
                <a:latin typeface="微软雅黑"/>
              </a:rPr>
              <a:t>AI 知识库</a:t>
            </a:r>
          </a:p>
          <a:p>
            <a:pPr algn="ctr"/>
            <a:r>
              <a:rPr sz="900" b="0" i="0">
                <a:solidFill>
                  <a:srgbClr val="555555"/>
                </a:solidFill>
                <a:latin typeface="微软雅黑"/>
              </a:rPr>
              <a:t>打造企业“智能知识中枢”，实现24h智能服务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251959"/>
            <a:ext cx="310896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 i="0">
                <a:solidFill>
                  <a:srgbClr val="1F2A44"/>
                </a:solidFill>
                <a:latin typeface="微软雅黑"/>
              </a:rPr>
              <a:t>Machine Learning Ops</a:t>
            </a:r>
          </a:p>
          <a:p>
            <a:pPr algn="ctr"/>
            <a:r>
              <a:rPr sz="900" b="0" i="0">
                <a:solidFill>
                  <a:srgbClr val="555555"/>
                </a:solidFill>
                <a:latin typeface="微软雅黑"/>
              </a:rPr>
              <a:t>实现可复现、可追溯、可部署的机器学习工程化流程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338560" y="4343399"/>
            <a:ext cx="457200" cy="365760"/>
          </a:xfrm>
          <a:prstGeom prst="rect">
            <a:avLst/>
          </a:prstGeom>
          <a:solidFill>
            <a:srgbClr val="1A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</a:rPr>
              <a:t>J&amp;J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49240"/>
            <a:ext cx="411480" cy="1371600"/>
          </a:xfrm>
          <a:prstGeom prst="rect">
            <a:avLst/>
          </a:prstGeom>
          <a:solidFill>
            <a:srgbClr val="E6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1F2A44"/>
                </a:solidFill>
                <a:latin typeface="微软雅黑"/>
              </a:rPr>
              <a:t>AI Evolve Workspace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5349240"/>
            <a:ext cx="10881360" cy="685800"/>
          </a:xfrm>
          <a:prstGeom prst="rect">
            <a:avLst/>
          </a:prstGeom>
          <a:noFill/>
          <a:ln w="9525">
            <a:solidFill>
              <a:srgbClr val="E28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 i="0">
                <a:solidFill>
                  <a:srgbClr val="1F2A44"/>
                </a:solidFill>
                <a:latin typeface="微软雅黑"/>
              </a:rPr>
              <a:t>Product X</a:t>
            </a:r>
          </a:p>
          <a:p>
            <a:pPr algn="ctr"/>
            <a:r>
              <a:rPr sz="900" b="0" i="0">
                <a:solidFill>
                  <a:srgbClr val="555555"/>
                </a:solidFill>
                <a:latin typeface="微软雅黑"/>
              </a:rPr>
              <a:t>以大模型等AI技术为驱动，以提高软件研发运营智能化水平为导向，以提质增效为目标的新一代智能化软件工程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6080760"/>
            <a:ext cx="2084831" cy="29260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1F2A44"/>
                </a:solidFill>
                <a:latin typeface="微软雅黑"/>
              </a:rPr>
              <a:t>智能项目管理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36391" y="6080760"/>
            <a:ext cx="2084831" cy="29260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1F2A44"/>
                </a:solidFill>
                <a:latin typeface="微软雅黑"/>
              </a:rPr>
              <a:t>智能需求设计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12664" y="6080760"/>
            <a:ext cx="2084831" cy="29260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1F2A44"/>
                </a:solidFill>
                <a:latin typeface="微软雅黑"/>
              </a:rPr>
              <a:t>智能开发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88936" y="6080760"/>
            <a:ext cx="2084831" cy="29260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1F2A44"/>
                </a:solidFill>
                <a:latin typeface="微软雅黑"/>
              </a:rPr>
              <a:t>智能测试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65208" y="6080760"/>
            <a:ext cx="2084831" cy="29260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1F2A44"/>
                </a:solidFill>
                <a:latin typeface="微软雅黑"/>
              </a:rPr>
              <a:t>部署和运维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6446520"/>
            <a:ext cx="10881360" cy="365760"/>
          </a:xfrm>
          <a:prstGeom prst="rect">
            <a:avLst/>
          </a:prstGeom>
          <a:noFill/>
          <a:ln w="9525">
            <a:solidFill>
              <a:srgbClr val="E28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 i="0">
                <a:solidFill>
                  <a:srgbClr val="1F2A44"/>
                </a:solidFill>
                <a:latin typeface="微软雅黑"/>
              </a:rPr>
              <a:t>智擎</a:t>
            </a:r>
            <a:r>
              <a:rPr sz="800" b="0" i="0">
                <a:solidFill>
                  <a:srgbClr val="555555"/>
                </a:solidFill>
                <a:latin typeface="微软雅黑"/>
              </a:rPr>
              <a:t>    面向企业客户的智能体应用开发平台，以企业知识库为内核，帮助用户个性化定制基于大模型的智能体应用，并快速集成和部署到不同的平台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0" y="6629400"/>
            <a:ext cx="22860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r"/>
            <a:r>
              <a:rPr sz="800" b="0">
                <a:solidFill>
                  <a:srgbClr val="555555"/>
                </a:solidFill>
                <a:latin typeface="微软雅黑"/>
              </a:rPr>
              <a:t>Company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0E1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402336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2800" b="1">
                <a:solidFill>
                  <a:srgbClr val="1F2A44"/>
                </a:solidFill>
                <a:latin typeface="微软雅黑"/>
              </a:rPr>
              <a:t>AI ERP 合同赋能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40233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400" b="1">
                <a:solidFill>
                  <a:srgbClr val="1F2A44"/>
                </a:solidFill>
                <a:latin typeface="微软雅黑"/>
              </a:rPr>
              <a:t>让风险洞察“先知先觉”，“智能秒级”响应，自动解析合同条款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74519"/>
            <a:ext cx="4023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200" b="1">
                <a:solidFill>
                  <a:srgbClr val="216BD0"/>
                </a:solidFill>
                <a:latin typeface="微软雅黑"/>
              </a:rPr>
              <a:t>处理速度大幅提升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3931920" cy="12161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850" b="0">
                <a:solidFill>
                  <a:srgbClr val="1F2A44"/>
                </a:solidFill>
                <a:latin typeface="微软雅黑"/>
              </a:rPr>
              <a:t>• 传统人工审核：每份合同需要2-4小时</a:t>
            </a:r>
          </a:p>
          <a:p>
            <a:pPr algn="l"/>
            <a:r>
              <a:rPr sz="850" b="0">
                <a:solidFill>
                  <a:srgbClr val="1F2A44"/>
                </a:solidFill>
                <a:latin typeface="微软雅黑"/>
              </a:rPr>
              <a:t>• AI智能检测：单份合同检测≤30秒</a:t>
            </a:r>
          </a:p>
          <a:p>
            <a:pPr algn="l"/>
            <a:r>
              <a:rPr sz="850" b="0">
                <a:solidFill>
                  <a:srgbClr val="1F2A44"/>
                </a:solidFill>
                <a:latin typeface="微软雅黑"/>
              </a:rPr>
              <a:t>• 效率提升：百倍速度提升</a:t>
            </a:r>
          </a:p>
          <a:p>
            <a:pPr algn="l"/>
            <a:r>
              <a:rPr sz="850" b="0">
                <a:solidFill>
                  <a:srgbClr val="1F2A44"/>
                </a:solidFill>
                <a:latin typeface="微软雅黑"/>
              </a:rPr>
              <a:t>• 时间节约：每个工作日可节省大量人工时间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182112"/>
            <a:ext cx="4023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200" b="1">
                <a:solidFill>
                  <a:srgbClr val="216BD0"/>
                </a:solidFill>
                <a:latin typeface="微软雅黑"/>
              </a:rPr>
              <a:t>工作流程自动化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02152"/>
            <a:ext cx="3931920" cy="12161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850" b="0">
                <a:solidFill>
                  <a:srgbClr val="1F2A44"/>
                </a:solidFill>
                <a:latin typeface="微软雅黑"/>
              </a:rPr>
              <a:t>• 6大智能功能模块：租户资质、合同条款、价格分析、免租期、信用评估、舆情监控</a:t>
            </a:r>
          </a:p>
          <a:p>
            <a:pPr algn="l"/>
            <a:r>
              <a:rPr sz="850" b="0">
                <a:solidFill>
                  <a:srgbClr val="1F2A44"/>
                </a:solidFill>
                <a:latin typeface="微软雅黑"/>
              </a:rPr>
              <a:t>• 并行数据查询：同步调用多个外部数据源</a:t>
            </a:r>
          </a:p>
          <a:p>
            <a:pPr algn="l"/>
            <a:r>
              <a:rPr sz="850" b="0">
                <a:solidFill>
                  <a:srgbClr val="1F2A44"/>
                </a:solidFill>
                <a:latin typeface="微软雅黑"/>
              </a:rPr>
              <a:t>• 智能报告生成：自动生成分析报告</a:t>
            </a:r>
          </a:p>
          <a:p>
            <a:pPr algn="l"/>
            <a:r>
              <a:rPr sz="850" b="0">
                <a:solidFill>
                  <a:srgbClr val="1F2A44"/>
                </a:solidFill>
                <a:latin typeface="微软雅黑"/>
              </a:rPr>
              <a:t>• 减少人工干预：90%以上流程实现自动化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489704"/>
            <a:ext cx="4023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200" b="1">
                <a:solidFill>
                  <a:srgbClr val="216BD0"/>
                </a:solidFill>
                <a:latin typeface="微软雅黑"/>
              </a:rPr>
              <a:t>风险管控价值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09744"/>
            <a:ext cx="3931920" cy="12161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850" b="0">
                <a:solidFill>
                  <a:srgbClr val="1F2A44"/>
                </a:solidFill>
                <a:latin typeface="微软雅黑"/>
              </a:rPr>
              <a:t>• 风险识别能力提升：多维度风险评估：企业信用、经营异常、限制高消费、舆情风险</a:t>
            </a:r>
          </a:p>
          <a:p>
            <a:pPr algn="l"/>
            <a:r>
              <a:rPr sz="850" b="0">
                <a:solidFill>
                  <a:srgbClr val="1F2A44"/>
                </a:solidFill>
                <a:latin typeface="微软雅黑"/>
              </a:rPr>
              <a:t>• 风险预警机制：提前识别潜在风险租户</a:t>
            </a:r>
          </a:p>
          <a:p>
            <a:pPr algn="l"/>
            <a:r>
              <a:rPr sz="850" b="0">
                <a:solidFill>
                  <a:srgbClr val="1F2A44"/>
                </a:solidFill>
                <a:latin typeface="微软雅黑"/>
              </a:rPr>
              <a:t>• 预计避免损失：每年可避免百万级别风险损失</a:t>
            </a:r>
          </a:p>
          <a:p>
            <a:pPr algn="l"/>
            <a:r>
              <a:rPr sz="850" b="0">
                <a:solidFill>
                  <a:srgbClr val="1F2A44"/>
                </a:solidFill>
                <a:latin typeface="微软雅黑"/>
              </a:rPr>
              <a:t>• 合规性提升：政策对标检查：自动对比租赁政策和历史合同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74320"/>
            <a:ext cx="3657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2200" b="1">
                <a:solidFill>
                  <a:srgbClr val="3EA7E6"/>
                </a:solidFill>
                <a:latin typeface="微软雅黑"/>
              </a:rPr>
              <a:t>解决方案</a:t>
            </a:r>
          </a:p>
        </p:txBody>
      </p:sp>
      <p:sp>
        <p:nvSpPr>
          <p:cNvPr id="13" name="Hexagon 12"/>
          <p:cNvSpPr/>
          <p:nvPr/>
        </p:nvSpPr>
        <p:spPr>
          <a:xfrm>
            <a:off x="4846320" y="1005840"/>
            <a:ext cx="640080" cy="640080"/>
          </a:xfrm>
          <a:prstGeom prst="hexagon">
            <a:avLst/>
          </a:prstGeom>
          <a:solidFill>
            <a:srgbClr val="216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场景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005840"/>
            <a:ext cx="32918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400" b="1">
                <a:solidFill>
                  <a:srgbClr val="3EA7E6"/>
                </a:solidFill>
                <a:latin typeface="微软雅黑"/>
              </a:rPr>
              <a:t>场景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1371600"/>
            <a:ext cx="329184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JDE系统发起合同检测请求，传入合同基本信息和租户信息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根据租户类型和分析需求，调用启信宝、信用查询、舆情监控等外部API</a:t>
            </a:r>
          </a:p>
        </p:txBody>
      </p:sp>
      <p:sp>
        <p:nvSpPr>
          <p:cNvPr id="16" name="Hexagon 15"/>
          <p:cNvSpPr/>
          <p:nvPr/>
        </p:nvSpPr>
        <p:spPr>
          <a:xfrm>
            <a:off x="4846320" y="2697480"/>
            <a:ext cx="640080" cy="640080"/>
          </a:xfrm>
          <a:prstGeom prst="hexagon">
            <a:avLst/>
          </a:prstGeom>
          <a:solidFill>
            <a:srgbClr val="216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效果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697480"/>
            <a:ext cx="32918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400" b="1">
                <a:solidFill>
                  <a:srgbClr val="3EA7E6"/>
                </a:solidFill>
                <a:latin typeface="微软雅黑"/>
              </a:rPr>
              <a:t>效果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063240"/>
            <a:ext cx="329184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通过AI大模型执行6大功能模块的智能分析，帮助企业快速决策，提高检测时间效率，识别潜在风险。</a:t>
            </a:r>
          </a:p>
        </p:txBody>
      </p:sp>
      <p:sp>
        <p:nvSpPr>
          <p:cNvPr id="19" name="Hexagon 18"/>
          <p:cNvSpPr/>
          <p:nvPr/>
        </p:nvSpPr>
        <p:spPr>
          <a:xfrm>
            <a:off x="4846320" y="4389120"/>
            <a:ext cx="640080" cy="640080"/>
          </a:xfrm>
          <a:prstGeom prst="hexagon">
            <a:avLst/>
          </a:prstGeom>
          <a:solidFill>
            <a:srgbClr val="216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亮点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4389120"/>
            <a:ext cx="32918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400" b="1">
                <a:solidFill>
                  <a:srgbClr val="3EA7E6"/>
                </a:solidFill>
                <a:latin typeface="微软雅黑"/>
              </a:rPr>
              <a:t>亮点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4754880"/>
            <a:ext cx="329184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AI：DIFY平台通过通义大模型执行6大功能模块的智能分析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多系统集成：启信宝、信用查询、舆情监控等外部API，汇总多维度数据，作为AI上下文输入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005840"/>
            <a:ext cx="2926080" cy="4846320"/>
          </a:xfrm>
          <a:prstGeom prst="rect">
            <a:avLst/>
          </a:prstGeom>
          <a:solidFill>
            <a:srgbClr val="141F4A"/>
          </a:solidFill>
          <a:ln w="9525">
            <a:solidFill>
              <a:srgbClr val="E28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B34D"/>
                </a:solidFill>
                <a:latin typeface="微软雅黑"/>
              </a:rPr>
              <a:t>[ 合同分析报告示例 ]</a:t>
            </a:r>
          </a:p>
          <a:p>
            <a:pPr algn="ctr"/>
            <a:r>
              <a:rPr sz="900" b="0">
                <a:solidFill>
                  <a:srgbClr val="FFB34D"/>
                </a:solidFill>
                <a:latin typeface="微软雅黑"/>
              </a:rPr>
              <a:t/>
            </a:r>
          </a:p>
          <a:p>
            <a:pPr algn="ctr"/>
            <a:r>
              <a:rPr sz="900" b="0">
                <a:solidFill>
                  <a:srgbClr val="FFB34D"/>
                </a:solidFill>
                <a:latin typeface="微软雅黑"/>
              </a:rPr>
              <a:t>— 多维度数据汇总表</a:t>
            </a:r>
          </a:p>
          <a:p>
            <a:pPr algn="ctr"/>
            <a:r>
              <a:rPr sz="900" b="0">
                <a:solidFill>
                  <a:srgbClr val="FFB34D"/>
                </a:solidFill>
                <a:latin typeface="微软雅黑"/>
              </a:rPr>
              <a:t>— 风险评分明细</a:t>
            </a:r>
          </a:p>
          <a:p>
            <a:pPr algn="ctr"/>
            <a:r>
              <a:rPr sz="900" b="0">
                <a:solidFill>
                  <a:srgbClr val="FFB34D"/>
                </a:solidFill>
                <a:latin typeface="微软雅黑"/>
              </a:rPr>
              <a:t>— 合规检查项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36576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3000" b="1">
                <a:solidFill>
                  <a:srgbClr val="1F2A44"/>
                </a:solidFill>
                <a:latin typeface="微软雅黑"/>
              </a:rPr>
              <a:t>AI Product X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3657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800" b="1">
                <a:solidFill>
                  <a:srgbClr val="B8A96E"/>
                </a:solidFill>
                <a:latin typeface="微软雅黑"/>
              </a:rPr>
              <a:t>为软件全流程赋能</a:t>
            </a:r>
          </a:p>
          <a:p>
            <a:pPr algn="l"/>
            <a:r>
              <a:rPr sz="1800" b="1">
                <a:solidFill>
                  <a:srgbClr val="B8A96E"/>
                </a:solidFill>
                <a:latin typeface="微软雅黑"/>
              </a:rPr>
              <a:t>实现降本增效与加速创新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194560"/>
            <a:ext cx="365760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1F2A44"/>
                </a:solidFill>
                <a:latin typeface="微软雅黑"/>
              </a:rPr>
              <a:t>AI PRODUCT X智能辅助平台，利用AI技术重塑软件开发生命周期(SDLC)的每一个环节，通过需求智能化、开发智能化、测试智能化、运维智能化保障交付付质量，加速业务价值实现。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365760"/>
            <a:ext cx="75895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2000" b="1">
                <a:solidFill>
                  <a:srgbClr val="3EA7E6"/>
                </a:solidFill>
                <a:latin typeface="微软雅黑"/>
              </a:rPr>
              <a:t>解决方案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868680"/>
            <a:ext cx="75895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AI4SE(AI for Software Engineering)：是以大模型等AI技术为驱动，以提高软件研发运营智能化水平为导向，以提质增效为目标的新一代智能化软件工程。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1554480"/>
            <a:ext cx="1417320" cy="32004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智能化水平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554480"/>
            <a:ext cx="1417320" cy="32004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应用成熟度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0" y="1554480"/>
            <a:ext cx="1417320" cy="32004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应用成效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920240"/>
            <a:ext cx="12344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1F2A44"/>
                </a:solidFill>
                <a:latin typeface="微软雅黑"/>
              </a:rPr>
              <a:t>应用能力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920240"/>
            <a:ext cx="1234440" cy="32004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智能项目管理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920240"/>
            <a:ext cx="1234440" cy="320040"/>
          </a:xfrm>
          <a:prstGeom prst="rect">
            <a:avLst/>
          </a:prstGeom>
          <a:solidFill>
            <a:srgbClr val="2E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智能需求设计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920240"/>
            <a:ext cx="1234440" cy="320040"/>
          </a:xfrm>
          <a:prstGeom prst="rect">
            <a:avLst/>
          </a:prstGeom>
          <a:solidFill>
            <a:srgbClr val="2E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智能开发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1920240"/>
            <a:ext cx="1234440" cy="320040"/>
          </a:xfrm>
          <a:prstGeom prst="rect">
            <a:avLst/>
          </a:prstGeom>
          <a:solidFill>
            <a:srgbClr val="2E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智能测试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1920240"/>
            <a:ext cx="1234440" cy="32004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部署和运维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267712"/>
            <a:ext cx="1234440" cy="1554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1F2A44"/>
                </a:solidFill>
                <a:latin typeface="微软雅黑"/>
              </a:rPr>
              <a:t>平台</a:t>
            </a:r>
          </a:p>
          <a:p>
            <a:pPr algn="ctr"/>
            <a:r>
              <a:rPr sz="1000" b="1">
                <a:solidFill>
                  <a:srgbClr val="1F2A44"/>
                </a:solidFill>
                <a:latin typeface="微软雅黑"/>
              </a:rPr>
              <a:t>工具</a:t>
            </a:r>
          </a:p>
          <a:p>
            <a:pPr algn="ctr"/>
            <a:r>
              <a:rPr sz="1000" b="1">
                <a:solidFill>
                  <a:srgbClr val="1F2A44"/>
                </a:solidFill>
                <a:latin typeface="微软雅黑"/>
              </a:rPr>
              <a:t>能力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2267712"/>
            <a:ext cx="1234440" cy="274320"/>
          </a:xfrm>
          <a:prstGeom prst="rect">
            <a:avLst/>
          </a:prstGeom>
          <a:solidFill>
            <a:srgbClr val="6A3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知识库能力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2267712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需求分析能力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267712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代码生成能力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2267712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测试分析能力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07040" y="2267712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配置生成能力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578608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流程调度能力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2578608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需求生成能力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2578608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代码补全能力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2578608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测试用例生成能力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07040" y="2578608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代码检测能力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2889504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质量管理能力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2889504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架构设计能力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2889504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单测能力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2889504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测试脚本生成能力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0" y="2889504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智能监控能力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3200400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效能分析能力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3200400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UI/接口设计能力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3200400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代码注释能力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3200400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智能测试能力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07040" y="3200400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SQL脚本生成能力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3511296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过程检查能力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3511296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评审检查能力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3511296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编码辅助能力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0" y="3511296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缺陷分析能力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07040" y="3511296"/>
            <a:ext cx="12344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故障分析/纠正能力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5394960"/>
            <a:ext cx="38404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3EA7E6"/>
                </a:solidFill>
                <a:latin typeface="微软雅黑"/>
              </a:rPr>
              <a:t>• </a:t>
            </a:r>
            <a:r>
              <a:rPr sz="1000" b="1" i="0">
                <a:solidFill>
                  <a:srgbClr val="1F2A44"/>
                </a:solidFill>
                <a:latin typeface="微软雅黑"/>
              </a:rPr>
              <a:t>Agent首页功能完成：</a:t>
            </a:r>
            <a:r>
              <a:rPr sz="900" b="0" i="0">
                <a:solidFill>
                  <a:srgbClr val="1F2A44"/>
                </a:solidFill>
                <a:latin typeface="微软雅黑"/>
              </a:rPr>
              <a:t>实现Agent模块首页，提供关键数据概览与核心功能入口，提升操作便捷性。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5394960"/>
            <a:ext cx="38404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3EA7E6"/>
                </a:solidFill>
                <a:latin typeface="微软雅黑"/>
              </a:rPr>
              <a:t>• </a:t>
            </a:r>
            <a:r>
              <a:rPr sz="1000" b="1" i="0">
                <a:solidFill>
                  <a:srgbClr val="1F2A44"/>
                </a:solidFill>
                <a:latin typeface="微软雅黑"/>
              </a:rPr>
              <a:t>技术方案Agent对话历史快速操作与导航：</a:t>
            </a:r>
            <a:r>
              <a:rPr sz="900" b="0" i="0">
                <a:solidFill>
                  <a:srgbClr val="1F2A44"/>
                </a:solidFill>
                <a:latin typeface="微软雅黑"/>
              </a:rPr>
              <a:t>为技术方案Agent增加对话历史的快速操作（如删除、分享）及导航，优化用户交互效率。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6172200"/>
            <a:ext cx="38404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3EA7E6"/>
                </a:solidFill>
                <a:latin typeface="微软雅黑"/>
              </a:rPr>
              <a:t>• </a:t>
            </a:r>
            <a:r>
              <a:rPr sz="1000" b="1" i="0">
                <a:solidFill>
                  <a:srgbClr val="1F2A44"/>
                </a:solidFill>
                <a:latin typeface="微软雅黑"/>
              </a:rPr>
              <a:t>Subtask Agent对话历史快速操作与导航：</a:t>
            </a:r>
            <a:r>
              <a:rPr sz="900" b="0" i="0">
                <a:solidFill>
                  <a:srgbClr val="1F2A44"/>
                </a:solidFill>
                <a:latin typeface="微软雅黑"/>
              </a:rPr>
              <a:t>为Subtask Agent同步实现对话历史的快速操作与导航功能，保持体验一致性。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6172200"/>
            <a:ext cx="38404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3EA7E6"/>
                </a:solidFill>
                <a:latin typeface="微软雅黑"/>
              </a:rPr>
              <a:t>• </a:t>
            </a:r>
            <a:r>
              <a:rPr sz="1000" b="1" i="0">
                <a:solidFill>
                  <a:srgbClr val="1F2A44"/>
                </a:solidFill>
                <a:latin typeface="微软雅黑"/>
              </a:rPr>
              <a:t>历史记录跳转功能：</a:t>
            </a:r>
            <a:r>
              <a:rPr sz="900" b="0" i="0">
                <a:solidFill>
                  <a:srgbClr val="1F2A44"/>
                </a:solidFill>
                <a:latin typeface="微软雅黑"/>
              </a:rPr>
              <a:t>支持从历史记录列表直接跳转到对应对话详情，减少操作步骤，提升导航效率。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2800" b="1">
                <a:solidFill>
                  <a:srgbClr val="1F2A44"/>
                </a:solidFill>
                <a:latin typeface="微软雅黑"/>
              </a:rPr>
              <a:t>我们的AI赋能开发蓝图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300" b="0">
                <a:solidFill>
                  <a:srgbClr val="555555"/>
                </a:solidFill>
                <a:latin typeface="微软雅黑"/>
              </a:rPr>
              <a:t>从协同到自主——研发效能成熟度四级跃迁模型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9509760" cy="274320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457200" cy="2560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1F2A44"/>
                </a:solidFill>
                <a:latin typeface="微软雅黑"/>
              </a:rPr>
              <a:t>AI</a:t>
            </a:r>
          </a:p>
          <a:p>
            <a:pPr algn="ctr"/>
            <a:r>
              <a:rPr sz="1000" b="1">
                <a:solidFill>
                  <a:srgbClr val="1F2A44"/>
                </a:solidFill>
                <a:latin typeface="微软雅黑"/>
              </a:rPr>
              <a:t>×</a:t>
            </a:r>
          </a:p>
          <a:p>
            <a:pPr algn="ctr"/>
            <a:r>
              <a:rPr sz="1000" b="1">
                <a:solidFill>
                  <a:srgbClr val="1F2A44"/>
                </a:solidFill>
                <a:latin typeface="微软雅黑"/>
              </a:rPr>
              <a:t>效能</a:t>
            </a:r>
          </a:p>
          <a:p>
            <a:pPr algn="ctr"/>
            <a:r>
              <a:rPr sz="1000" b="1">
                <a:solidFill>
                  <a:srgbClr val="1F2A44"/>
                </a:solidFill>
                <a:latin typeface="微软雅黑"/>
              </a:rPr>
              <a:t>实践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12801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900" b="0">
                <a:solidFill>
                  <a:srgbClr val="1F2A44"/>
                </a:solidFill>
                <a:latin typeface="微软雅黑"/>
              </a:rPr>
              <a:t>四阶级实践演进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325880"/>
            <a:ext cx="411480" cy="4114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L0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371600"/>
            <a:ext cx="1828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1F2A44"/>
                </a:solidFill>
                <a:latin typeface="微软雅黑"/>
              </a:rPr>
              <a:t>人工开发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1325880"/>
            <a:ext cx="411480" cy="411480"/>
          </a:xfrm>
          <a:prstGeom prst="ellipse">
            <a:avLst/>
          </a:prstGeom>
          <a:solidFill>
            <a:srgbClr val="0B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L1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371600"/>
            <a:ext cx="1828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1F2A44"/>
                </a:solidFill>
                <a:latin typeface="微软雅黑"/>
              </a:rPr>
              <a:t>AI辅助（Copilot）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0" y="1325880"/>
            <a:ext cx="411480" cy="411480"/>
          </a:xfrm>
          <a:prstGeom prst="ellipse">
            <a:avLst/>
          </a:prstGeom>
          <a:solidFill>
            <a:srgbClr val="E5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L2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371600"/>
            <a:ext cx="1828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1F2A44"/>
                </a:solidFill>
                <a:latin typeface="微软雅黑"/>
              </a:rPr>
              <a:t>AI协同（Agent）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1325880"/>
            <a:ext cx="411480" cy="411480"/>
          </a:xfrm>
          <a:prstGeom prst="ellipse">
            <a:avLst/>
          </a:prstGeom>
          <a:solidFill>
            <a:srgbClr val="E28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L3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1828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1F2A44"/>
                </a:solidFill>
                <a:latin typeface="微软雅黑"/>
              </a:rPr>
              <a:t>AI自主（Agentic）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1828800"/>
            <a:ext cx="1371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900" b="0">
                <a:solidFill>
                  <a:srgbClr val="1F2A44"/>
                </a:solidFill>
                <a:latin typeface="微软雅黑"/>
              </a:rPr>
              <a:t>组织级 效能提升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1874519"/>
            <a:ext cx="640080" cy="320040"/>
          </a:xfrm>
          <a:prstGeom prst="rect">
            <a:avLst/>
          </a:prstGeom>
          <a:solidFill>
            <a:srgbClr val="CFE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1F2A44"/>
                </a:solidFill>
                <a:latin typeface="微软雅黑"/>
              </a:rPr>
              <a:t>精益提效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874519"/>
            <a:ext cx="5120640" cy="32004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AI First/AI Ready研发组织转型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874519"/>
            <a:ext cx="1554480" cy="320040"/>
          </a:xfrm>
          <a:prstGeom prst="rect">
            <a:avLst/>
          </a:prstGeom>
          <a:solidFill>
            <a:srgbClr val="CFE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1F2A44"/>
                </a:solidFill>
                <a:latin typeface="微软雅黑"/>
              </a:rPr>
              <a:t>AI Native研发组织转型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286000"/>
            <a:ext cx="1371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900" b="0">
                <a:solidFill>
                  <a:srgbClr val="1F2A44"/>
                </a:solidFill>
                <a:latin typeface="微软雅黑"/>
              </a:rPr>
              <a:t>团队级 研发模式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331720"/>
            <a:ext cx="640080" cy="320040"/>
          </a:xfrm>
          <a:prstGeom prst="rect">
            <a:avLst/>
          </a:prstGeom>
          <a:solidFill>
            <a:srgbClr val="CFE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1F2A44"/>
                </a:solidFill>
                <a:latin typeface="微软雅黑"/>
              </a:rPr>
              <a:t>敏捷开发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2331720"/>
            <a:ext cx="2468880" cy="32004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AI增强型 敏捷开发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2331720"/>
            <a:ext cx="2560320" cy="32004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AI驱动型 敏捷开发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2331720"/>
            <a:ext cx="1554480" cy="320040"/>
          </a:xfrm>
          <a:prstGeom prst="rect">
            <a:avLst/>
          </a:prstGeom>
          <a:solidFill>
            <a:srgbClr val="CFE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1F2A44"/>
                </a:solidFill>
                <a:latin typeface="微软雅黑"/>
              </a:rPr>
              <a:t>AI Native开发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2743200"/>
            <a:ext cx="1371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900" b="0">
                <a:solidFill>
                  <a:srgbClr val="1F2A44"/>
                </a:solidFill>
                <a:latin typeface="微软雅黑"/>
              </a:rPr>
              <a:t>个人级 开发方法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2788920"/>
            <a:ext cx="640080" cy="320040"/>
          </a:xfrm>
          <a:prstGeom prst="rect">
            <a:avLst/>
          </a:prstGeom>
          <a:solidFill>
            <a:srgbClr val="CFE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1F2A44"/>
                </a:solidFill>
                <a:latin typeface="微软雅黑"/>
              </a:rPr>
              <a:t>标准开发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788920"/>
            <a:ext cx="2468880" cy="32004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AI辅助编码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2788920"/>
            <a:ext cx="2560320" cy="32004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AI辅助/协同开发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2788920"/>
            <a:ext cx="1554480" cy="320040"/>
          </a:xfrm>
          <a:prstGeom prst="rect">
            <a:avLst/>
          </a:prstGeom>
          <a:solidFill>
            <a:srgbClr val="CFE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1F2A44"/>
                </a:solidFill>
                <a:latin typeface="微软雅黑"/>
              </a:rPr>
              <a:t>AI自主开发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12680" y="1325880"/>
            <a:ext cx="4572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900" b="0">
                <a:solidFill>
                  <a:srgbClr val="1F2A44"/>
                </a:solidFill>
                <a:latin typeface="微软雅黑"/>
              </a:rPr>
              <a:t>报告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0" y="1325880"/>
            <a:ext cx="1463040" cy="3657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1F2A44"/>
                </a:solidFill>
                <a:latin typeface="微软雅黑"/>
              </a:rPr>
              <a:t>效能洞察报告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12680" y="1783080"/>
            <a:ext cx="4572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900" b="0">
                <a:solidFill>
                  <a:srgbClr val="1F2A44"/>
                </a:solidFill>
                <a:latin typeface="微软雅黑"/>
              </a:rPr>
              <a:t>模型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0" y="1783080"/>
            <a:ext cx="1463040" cy="3657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1F2A44"/>
                </a:solidFill>
                <a:latin typeface="微软雅黑"/>
              </a:rPr>
              <a:t>研发效能 模型</a:t>
            </a:r>
          </a:p>
          <a:p>
            <a:pPr algn="ctr"/>
            <a:r>
              <a:rPr sz="800" b="0">
                <a:solidFill>
                  <a:srgbClr val="1F2A44"/>
                </a:solidFill>
                <a:latin typeface="微软雅黑"/>
              </a:rPr>
              <a:t>AI研发成熟度 模型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12680" y="2286000"/>
            <a:ext cx="4572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900" b="0">
                <a:solidFill>
                  <a:srgbClr val="1F2A44"/>
                </a:solidFill>
                <a:latin typeface="微软雅黑"/>
              </a:rPr>
              <a:t>指标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15600" y="2286000"/>
            <a:ext cx="731520" cy="12801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1F2A44"/>
                </a:solidFill>
                <a:latin typeface="微软雅黑"/>
              </a:rPr>
              <a:t>需求交付</a:t>
            </a:r>
          </a:p>
          <a:p>
            <a:pPr algn="ctr"/>
            <a:r>
              <a:rPr sz="800" b="0">
                <a:solidFill>
                  <a:srgbClr val="1F2A44"/>
                </a:solidFill>
                <a:latin typeface="微软雅黑"/>
              </a:rPr>
              <a:t>开发效率</a:t>
            </a:r>
          </a:p>
          <a:p>
            <a:pPr algn="ctr"/>
            <a:r>
              <a:rPr sz="800" b="0">
                <a:solidFill>
                  <a:srgbClr val="1F2A44"/>
                </a:solidFill>
                <a:latin typeface="微软雅黑"/>
              </a:rPr>
              <a:t>工程效率</a:t>
            </a:r>
          </a:p>
          <a:p>
            <a:pPr algn="ctr"/>
            <a:r>
              <a:rPr sz="800" b="0">
                <a:solidFill>
                  <a:srgbClr val="1F2A44"/>
                </a:solidFill>
                <a:latin typeface="微软雅黑"/>
              </a:rPr>
              <a:t>……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247120" y="2286000"/>
            <a:ext cx="731520" cy="12801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1F2A44"/>
                </a:solidFill>
                <a:latin typeface="微软雅黑"/>
              </a:rPr>
              <a:t>组织级</a:t>
            </a:r>
          </a:p>
          <a:p>
            <a:pPr algn="ctr"/>
            <a:r>
              <a:rPr sz="800" b="0">
                <a:solidFill>
                  <a:srgbClr val="1F2A44"/>
                </a:solidFill>
                <a:latin typeface="微软雅黑"/>
              </a:rPr>
              <a:t>业务线级</a:t>
            </a:r>
          </a:p>
          <a:p>
            <a:pPr algn="ctr"/>
            <a:r>
              <a:rPr sz="800" b="0">
                <a:solidFill>
                  <a:srgbClr val="1F2A44"/>
                </a:solidFill>
                <a:latin typeface="微软雅黑"/>
              </a:rPr>
              <a:t>团队级</a:t>
            </a:r>
          </a:p>
          <a:p>
            <a:pPr algn="ctr"/>
            <a:r>
              <a:rPr sz="800" b="0">
                <a:solidFill>
                  <a:srgbClr val="1F2A44"/>
                </a:solidFill>
                <a:latin typeface="微软雅黑"/>
              </a:rPr>
              <a:t>个人级</a:t>
            </a:r>
          </a:p>
          <a:p>
            <a:pPr algn="ctr"/>
            <a:r>
              <a:rPr sz="800" b="0">
                <a:solidFill>
                  <a:srgbClr val="1F2A44"/>
                </a:solidFill>
                <a:latin typeface="微软雅黑"/>
              </a:rPr>
              <a:t>……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114800"/>
            <a:ext cx="11430000" cy="26060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206240"/>
            <a:ext cx="45720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1F2A44"/>
                </a:solidFill>
                <a:latin typeface="微软雅黑"/>
              </a:rPr>
              <a:t>AI</a:t>
            </a:r>
          </a:p>
          <a:p>
            <a:pPr algn="ctr"/>
            <a:r>
              <a:rPr sz="1000" b="1">
                <a:solidFill>
                  <a:srgbClr val="1F2A44"/>
                </a:solidFill>
                <a:latin typeface="微软雅黑"/>
              </a:rPr>
              <a:t>×</a:t>
            </a:r>
          </a:p>
          <a:p>
            <a:pPr algn="ctr"/>
            <a:r>
              <a:rPr sz="1000" b="1">
                <a:solidFill>
                  <a:srgbClr val="1F2A44"/>
                </a:solidFill>
                <a:latin typeface="微软雅黑"/>
              </a:rPr>
              <a:t>效能</a:t>
            </a:r>
          </a:p>
          <a:p>
            <a:pPr algn="ctr"/>
            <a:r>
              <a:rPr sz="1000" b="1">
                <a:solidFill>
                  <a:srgbClr val="1F2A44"/>
                </a:solidFill>
                <a:latin typeface="微软雅黑"/>
              </a:rPr>
              <a:t>平台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4160520"/>
            <a:ext cx="1371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216BD0"/>
                </a:solidFill>
                <a:latin typeface="微软雅黑"/>
              </a:rPr>
              <a:t>ProductX</a:t>
            </a:r>
          </a:p>
          <a:p>
            <a:pPr algn="l"/>
            <a:r>
              <a:rPr sz="1000" b="1">
                <a:solidFill>
                  <a:srgbClr val="216BD0"/>
                </a:solidFill>
                <a:latin typeface="微软雅黑"/>
              </a:rPr>
              <a:t>智能效率平台</a:t>
            </a:r>
          </a:p>
        </p:txBody>
      </p:sp>
      <p:sp>
        <p:nvSpPr>
          <p:cNvPr id="39" name="Chevron 38"/>
          <p:cNvSpPr/>
          <p:nvPr/>
        </p:nvSpPr>
        <p:spPr>
          <a:xfrm>
            <a:off x="2377440" y="4206240"/>
            <a:ext cx="1280160" cy="365760"/>
          </a:xfrm>
          <a:prstGeom prst="chevron">
            <a:avLst/>
          </a:prstGeom>
          <a:solidFill>
            <a:srgbClr val="E28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需求阶段</a:t>
            </a:r>
          </a:p>
        </p:txBody>
      </p:sp>
      <p:sp>
        <p:nvSpPr>
          <p:cNvPr id="40" name="Chevron 39"/>
          <p:cNvSpPr/>
          <p:nvPr/>
        </p:nvSpPr>
        <p:spPr>
          <a:xfrm>
            <a:off x="3566160" y="4206240"/>
            <a:ext cx="2377440" cy="365760"/>
          </a:xfrm>
          <a:prstGeom prst="chevron">
            <a:avLst/>
          </a:prstGeom>
          <a:solidFill>
            <a:srgbClr val="E28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开发阶段</a:t>
            </a:r>
          </a:p>
        </p:txBody>
      </p:sp>
      <p:sp>
        <p:nvSpPr>
          <p:cNvPr id="41" name="Chevron 40"/>
          <p:cNvSpPr/>
          <p:nvPr/>
        </p:nvSpPr>
        <p:spPr>
          <a:xfrm>
            <a:off x="5852160" y="4206240"/>
            <a:ext cx="1280160" cy="365760"/>
          </a:xfrm>
          <a:prstGeom prst="chevron">
            <a:avLst/>
          </a:prstGeom>
          <a:solidFill>
            <a:srgbClr val="E28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测试阶段</a:t>
            </a:r>
          </a:p>
        </p:txBody>
      </p:sp>
      <p:sp>
        <p:nvSpPr>
          <p:cNvPr id="42" name="Chevron 41"/>
          <p:cNvSpPr/>
          <p:nvPr/>
        </p:nvSpPr>
        <p:spPr>
          <a:xfrm>
            <a:off x="7040880" y="4206240"/>
            <a:ext cx="1554480" cy="365760"/>
          </a:xfrm>
          <a:prstGeom prst="chevron">
            <a:avLst/>
          </a:prstGeom>
          <a:solidFill>
            <a:srgbClr val="E28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集成&amp;发布阶段</a:t>
            </a:r>
          </a:p>
        </p:txBody>
      </p:sp>
      <p:sp>
        <p:nvSpPr>
          <p:cNvPr id="43" name="Chevron 42"/>
          <p:cNvSpPr/>
          <p:nvPr/>
        </p:nvSpPr>
        <p:spPr>
          <a:xfrm>
            <a:off x="8503920" y="4206240"/>
            <a:ext cx="1280160" cy="365760"/>
          </a:xfrm>
          <a:prstGeom prst="chevron">
            <a:avLst/>
          </a:prstGeom>
          <a:solidFill>
            <a:srgbClr val="E28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运维阶段</a:t>
            </a:r>
          </a:p>
        </p:txBody>
      </p:sp>
      <p:sp>
        <p:nvSpPr>
          <p:cNvPr id="44" name="Chevron 43"/>
          <p:cNvSpPr/>
          <p:nvPr/>
        </p:nvSpPr>
        <p:spPr>
          <a:xfrm>
            <a:off x="9692640" y="4206240"/>
            <a:ext cx="1737360" cy="365760"/>
          </a:xfrm>
          <a:prstGeom prst="chevron">
            <a:avLst/>
          </a:prstGeom>
          <a:solidFill>
            <a:srgbClr val="E28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度量与改进阶段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4709160"/>
            <a:ext cx="1371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1F2A44"/>
                </a:solidFill>
                <a:latin typeface="微软雅黑"/>
              </a:rPr>
              <a:t>AI能力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77440" y="4709160"/>
            <a:ext cx="6766560" cy="32004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Native交付流（Flow）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35440" y="4709160"/>
            <a:ext cx="1371600" cy="32004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On Call/运维 Agent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98480" y="4709160"/>
            <a:ext cx="1097280" cy="32004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度量Agent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5074920"/>
            <a:ext cx="36576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900" b="0">
                <a:solidFill>
                  <a:srgbClr val="1F2A44"/>
                </a:solidFill>
                <a:latin typeface="微软雅黑"/>
              </a:rPr>
              <a:t>需求&amp;技术设计Agent   Code Agent   CR Agent   UT Agent   ……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5074920"/>
            <a:ext cx="13716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900" b="0">
                <a:solidFill>
                  <a:srgbClr val="1F2A44"/>
                </a:solidFill>
                <a:latin typeface="微软雅黑"/>
              </a:rPr>
              <a:t>测试Agent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89520" y="5074920"/>
            <a:ext cx="15544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900" b="0">
                <a:solidFill>
                  <a:srgbClr val="1F2A44"/>
                </a:solidFill>
                <a:latin typeface="微软雅黑"/>
              </a:rPr>
              <a:t>研发流程Agent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5486400"/>
            <a:ext cx="1371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1F2A44"/>
                </a:solidFill>
                <a:latin typeface="微软雅黑"/>
              </a:rPr>
              <a:t>研发</a:t>
            </a:r>
          </a:p>
          <a:p>
            <a:pPr algn="l"/>
            <a:r>
              <a:rPr sz="1000" b="1">
                <a:solidFill>
                  <a:srgbClr val="1F2A44"/>
                </a:solidFill>
                <a:latin typeface="微软雅黑"/>
              </a:rPr>
              <a:t>工具链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77440" y="5486400"/>
            <a:ext cx="1280160" cy="64008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协作平台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ProductX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0" y="5486400"/>
            <a:ext cx="5486400" cy="32004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多端交付平台：ProductX-Web/Lingma-Desktop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0" y="5806440"/>
            <a:ext cx="5486400" cy="32004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质量平台：ProductX-Test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5486400"/>
            <a:ext cx="1371600" cy="64008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运维平台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ProductX-Ops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698480" y="5486400"/>
            <a:ext cx="1097280" cy="64008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度量平台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" y="6263640"/>
            <a:ext cx="1371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000" b="1">
                <a:solidFill>
                  <a:srgbClr val="1F2A44"/>
                </a:solidFill>
                <a:latin typeface="微软雅黑"/>
              </a:rPr>
              <a:t>AI底座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377440" y="6263640"/>
            <a:ext cx="9418320" cy="36576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Qwen模型（研发数据、Agent记忆与自学系统）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2600" b="1">
                <a:solidFill>
                  <a:srgbClr val="1F2A44"/>
                </a:solidFill>
                <a:latin typeface="微软雅黑"/>
              </a:rPr>
              <a:t>AI 技术能力矩阵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5303520" cy="36576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🧠  大语言模型层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0" y="777240"/>
            <a:ext cx="6035040" cy="365760"/>
          </a:xfrm>
          <a:prstGeom prst="rect">
            <a:avLst/>
          </a:prstGeom>
          <a:solidFill>
            <a:srgbClr val="6A3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⚙  Agent 开发与编排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691639" cy="457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F2A44"/>
                </a:solidFill>
                <a:latin typeface="微软雅黑"/>
              </a:rPr>
              <a:t>OpenAI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188720"/>
            <a:ext cx="1691639" cy="457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F2A44"/>
                </a:solidFill>
                <a:latin typeface="微软雅黑"/>
              </a:rPr>
              <a:t>deepseek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188720"/>
            <a:ext cx="1691639" cy="457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F2A44"/>
                </a:solidFill>
                <a:latin typeface="微软雅黑"/>
              </a:rPr>
              <a:t>Ollama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1691639" cy="457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F2A44"/>
                </a:solidFill>
                <a:latin typeface="微软雅黑"/>
              </a:rPr>
              <a:t>通义千问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691640"/>
            <a:ext cx="1691639" cy="457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F2A44"/>
                </a:solidFill>
                <a:latin typeface="微软雅黑"/>
              </a:rPr>
              <a:t>文心一言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691640"/>
            <a:ext cx="1691639" cy="457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F2A44"/>
                </a:solidFill>
                <a:latin typeface="微软雅黑"/>
              </a:rPr>
              <a:t>Gemini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94560"/>
            <a:ext cx="1691639" cy="457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F2A44"/>
                </a:solidFill>
                <a:latin typeface="微软雅黑"/>
              </a:rPr>
              <a:t>Azure OpenAI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2194560"/>
            <a:ext cx="1691639" cy="457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F2A44"/>
                </a:solidFill>
                <a:latin typeface="微软雅黑"/>
              </a:rPr>
              <a:t>aws Bedrock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194560"/>
            <a:ext cx="1691639" cy="457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F2A44"/>
                </a:solidFill>
                <a:latin typeface="微软雅黑"/>
              </a:rPr>
              <a:t>智谱·AI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97480"/>
            <a:ext cx="1691639" cy="457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F2A44"/>
                </a:solidFill>
                <a:latin typeface="微软雅黑"/>
              </a:rPr>
              <a:t>Hugging Face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2697480"/>
            <a:ext cx="1691639" cy="457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F2A44"/>
                </a:solidFill>
                <a:latin typeface="微软雅黑"/>
              </a:rPr>
              <a:t>OpenLLM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697480"/>
            <a:ext cx="1691639" cy="457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F2A44"/>
                </a:solidFill>
                <a:latin typeface="微软雅黑"/>
              </a:rPr>
              <a:t>01.AI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188720"/>
            <a:ext cx="1965960" cy="274320"/>
          </a:xfrm>
          <a:prstGeom prst="rect">
            <a:avLst/>
          </a:prstGeom>
          <a:solidFill>
            <a:srgbClr val="E86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框架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188720"/>
            <a:ext cx="1965960" cy="274320"/>
          </a:xfrm>
          <a:prstGeom prst="rect">
            <a:avLst/>
          </a:prstGeom>
          <a:solidFill>
            <a:srgbClr val="E86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平台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1188720"/>
            <a:ext cx="1965960" cy="274320"/>
          </a:xfrm>
          <a:prstGeom prst="rect">
            <a:avLst/>
          </a:prstGeom>
          <a:solidFill>
            <a:srgbClr val="E86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协议/观测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1508760"/>
            <a:ext cx="1965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6A3DA8"/>
                </a:solidFill>
                <a:latin typeface="微软雅黑"/>
              </a:rPr>
              <a:t>▸ </a:t>
            </a:r>
            <a:r>
              <a:rPr sz="1000" b="1" i="0">
                <a:solidFill>
                  <a:srgbClr val="1F2A44"/>
                </a:solidFill>
                <a:latin typeface="微软雅黑"/>
              </a:rPr>
              <a:t>LangChain / LangGraph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链式·记忆·工具调用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011680"/>
            <a:ext cx="1965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6A3DA8"/>
                </a:solidFill>
                <a:latin typeface="微软雅黑"/>
              </a:rPr>
              <a:t>▸ </a:t>
            </a:r>
            <a:r>
              <a:rPr sz="1000" b="1" i="0">
                <a:solidFill>
                  <a:srgbClr val="1F2A44"/>
                </a:solidFill>
                <a:latin typeface="微软雅黑"/>
              </a:rPr>
              <a:t>AutoGen (微软)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多Agent对话协作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2514600"/>
            <a:ext cx="1965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6A3DA8"/>
                </a:solidFill>
                <a:latin typeface="微软雅黑"/>
              </a:rPr>
              <a:t>▸ </a:t>
            </a:r>
            <a:r>
              <a:rPr sz="1000" b="1" i="0">
                <a:solidFill>
                  <a:srgbClr val="1F2A44"/>
                </a:solidFill>
                <a:latin typeface="微软雅黑"/>
              </a:rPr>
              <a:t>CrewAI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角色Agent·任务分派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3017520"/>
            <a:ext cx="1965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6A3DA8"/>
                </a:solidFill>
                <a:latin typeface="微软雅黑"/>
              </a:rPr>
              <a:t>▸ </a:t>
            </a:r>
            <a:r>
              <a:rPr sz="1000" b="1" i="0">
                <a:solidFill>
                  <a:srgbClr val="1F2A44"/>
                </a:solidFill>
                <a:latin typeface="微软雅黑"/>
              </a:rPr>
              <a:t>Semantic Kernel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企业级·插件架构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1508760"/>
            <a:ext cx="1965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6A3DA8"/>
                </a:solidFill>
                <a:latin typeface="微软雅黑"/>
              </a:rPr>
              <a:t>▸ </a:t>
            </a:r>
            <a:r>
              <a:rPr sz="1000" b="1" i="0">
                <a:solidFill>
                  <a:srgbClr val="1F2A44"/>
                </a:solidFill>
                <a:latin typeface="微软雅黑"/>
              </a:rPr>
              <a:t>智擎（凯捷）/Dify / Coze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可视化编排·企业Bot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2011680"/>
            <a:ext cx="1965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6A3DA8"/>
                </a:solidFill>
                <a:latin typeface="微软雅黑"/>
              </a:rPr>
              <a:t>▸ </a:t>
            </a:r>
            <a:r>
              <a:rPr sz="1000" b="1" i="0">
                <a:solidFill>
                  <a:srgbClr val="1F2A44"/>
                </a:solidFill>
                <a:latin typeface="微软雅黑"/>
              </a:rPr>
              <a:t>钉钉 AI / 飞书 AI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企微集成·办公自动化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2514600"/>
            <a:ext cx="1965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6A3DA8"/>
                </a:solidFill>
                <a:latin typeface="微软雅黑"/>
              </a:rPr>
              <a:t>▸ </a:t>
            </a:r>
            <a:r>
              <a:rPr sz="1000" b="1" i="0">
                <a:solidFill>
                  <a:srgbClr val="1F2A44"/>
                </a:solidFill>
                <a:latin typeface="微软雅黑"/>
              </a:rPr>
              <a:t>阿里云百炼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DashScope·ModelScope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017520"/>
            <a:ext cx="1965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6A3DA8"/>
                </a:solidFill>
                <a:latin typeface="微软雅黑"/>
              </a:rPr>
              <a:t>▸ </a:t>
            </a:r>
            <a:r>
              <a:rPr sz="1000" b="1" i="0">
                <a:solidFill>
                  <a:srgbClr val="1F2A44"/>
                </a:solidFill>
                <a:latin typeface="微软雅黑"/>
              </a:rPr>
              <a:t>百度智能体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文心·知识库集成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1508760"/>
            <a:ext cx="1965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6A3DA8"/>
                </a:solidFill>
                <a:latin typeface="微软雅黑"/>
              </a:rPr>
              <a:t>▸ </a:t>
            </a:r>
            <a:r>
              <a:rPr sz="1000" b="1" i="0">
                <a:solidFill>
                  <a:srgbClr val="1F2A44"/>
                </a:solidFill>
                <a:latin typeface="微软雅黑"/>
              </a:rPr>
              <a:t>MCP (Model Context)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Anthropic·工具互操作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2011680"/>
            <a:ext cx="1965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6A3DA8"/>
                </a:solidFill>
                <a:latin typeface="微软雅黑"/>
              </a:rPr>
              <a:t>▸ </a:t>
            </a:r>
            <a:r>
              <a:rPr sz="1000" b="1" i="0">
                <a:solidFill>
                  <a:srgbClr val="1F2A44"/>
                </a:solidFill>
                <a:latin typeface="微软雅黑"/>
              </a:rPr>
              <a:t>Function Calling / A2A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OpenAI·Google标准接口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4080" y="2514600"/>
            <a:ext cx="1965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6A3DA8"/>
                </a:solidFill>
                <a:latin typeface="微软雅黑"/>
              </a:rPr>
              <a:t>▸ </a:t>
            </a:r>
            <a:r>
              <a:rPr sz="1000" b="1" i="0">
                <a:solidFill>
                  <a:srgbClr val="1F2A44"/>
                </a:solidFill>
                <a:latin typeface="微软雅黑"/>
              </a:rPr>
              <a:t>LangSmith / Helicone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调用追踪·成本分析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611880"/>
            <a:ext cx="6217920" cy="320040"/>
          </a:xfrm>
          <a:prstGeom prst="rect">
            <a:avLst/>
          </a:prstGeom>
          <a:solidFill>
            <a:srgbClr val="2C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💻  AI 开发工具 &amp; 编码助手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3611880"/>
            <a:ext cx="5120640" cy="320040"/>
          </a:xfrm>
          <a:prstGeom prst="rect">
            <a:avLst/>
          </a:prstGeom>
          <a:solidFill>
            <a:srgbClr val="2C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📊  MLOps · 评测 · 观测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977639"/>
            <a:ext cx="1197863" cy="777240"/>
          </a:xfrm>
          <a:prstGeom prst="rect">
            <a:avLst/>
          </a:prstGeom>
          <a:solidFill>
            <a:srgbClr val="EC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1F2A44"/>
                </a:solidFill>
                <a:latin typeface="微软雅黑"/>
              </a:rPr>
              <a:t>GitHub Copilot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代码补全·单元测试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09343" y="3977639"/>
            <a:ext cx="1197863" cy="777240"/>
          </a:xfrm>
          <a:prstGeom prst="rect">
            <a:avLst/>
          </a:prstGeom>
          <a:solidFill>
            <a:srgbClr val="EC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1F2A44"/>
                </a:solidFill>
                <a:latin typeface="微软雅黑"/>
              </a:rPr>
              <a:t>Cursor / windsurf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AI IDE·整文件重构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52927" y="3977639"/>
            <a:ext cx="1197863" cy="777240"/>
          </a:xfrm>
          <a:prstGeom prst="rect">
            <a:avLst/>
          </a:prstGeom>
          <a:solidFill>
            <a:srgbClr val="EC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1F2A44"/>
                </a:solidFill>
                <a:latin typeface="微软雅黑"/>
              </a:rPr>
              <a:t>Claude (CLI)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全栈·架构设计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96512" y="3977639"/>
            <a:ext cx="1197863" cy="777240"/>
          </a:xfrm>
          <a:prstGeom prst="rect">
            <a:avLst/>
          </a:prstGeom>
          <a:solidFill>
            <a:srgbClr val="EC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1F2A44"/>
                </a:solidFill>
                <a:latin typeface="微软雅黑"/>
              </a:rPr>
              <a:t>Codex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来自OpenAI·goal命令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40096" y="3977639"/>
            <a:ext cx="1197863" cy="777240"/>
          </a:xfrm>
          <a:prstGeom prst="rect">
            <a:avLst/>
          </a:prstGeom>
          <a:solidFill>
            <a:srgbClr val="EC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1F2A44"/>
                </a:solidFill>
                <a:latin typeface="微软雅黑"/>
              </a:rPr>
              <a:t>Lingma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国内合规·阿里系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3977639"/>
            <a:ext cx="978407" cy="777240"/>
          </a:xfrm>
          <a:prstGeom prst="rect">
            <a:avLst/>
          </a:prstGeom>
          <a:solidFill>
            <a:srgbClr val="EC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1F2A44"/>
                </a:solidFill>
                <a:latin typeface="微软雅黑"/>
              </a:rPr>
              <a:t>vLLM / Ollama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高吞吐推理·本地部署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99248" y="3977639"/>
            <a:ext cx="978407" cy="777240"/>
          </a:xfrm>
          <a:prstGeom prst="rect">
            <a:avLst/>
          </a:prstGeom>
          <a:solidFill>
            <a:srgbClr val="EC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1F2A44"/>
                </a:solidFill>
                <a:latin typeface="微软雅黑"/>
              </a:rPr>
              <a:t>Axolotl / TRL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分布式训练·RLHF/DPO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23376" y="3977639"/>
            <a:ext cx="978407" cy="777240"/>
          </a:xfrm>
          <a:prstGeom prst="rect">
            <a:avLst/>
          </a:prstGeom>
          <a:solidFill>
            <a:srgbClr val="EC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1F2A44"/>
                </a:solidFill>
                <a:latin typeface="微软雅黑"/>
              </a:rPr>
              <a:t>LM Arena / LMSYS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开源模型评测基准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47504" y="3977639"/>
            <a:ext cx="978407" cy="777240"/>
          </a:xfrm>
          <a:prstGeom prst="rect">
            <a:avLst/>
          </a:prstGeom>
          <a:solidFill>
            <a:srgbClr val="EC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1F2A44"/>
                </a:solidFill>
                <a:latin typeface="微软雅黑"/>
              </a:rPr>
              <a:t>OpenCompass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国产评测·中文能力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771632" y="3977639"/>
            <a:ext cx="978407" cy="777240"/>
          </a:xfrm>
          <a:prstGeom prst="rect">
            <a:avLst/>
          </a:prstGeom>
          <a:solidFill>
            <a:srgbClr val="EC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1F2A44"/>
                </a:solidFill>
                <a:latin typeface="微软雅黑"/>
              </a:rPr>
              <a:t>FlagEval</a:t>
            </a:r>
          </a:p>
          <a:p>
            <a:pPr algn="l"/>
            <a:r>
              <a:rPr sz="800" b="0" i="0">
                <a:solidFill>
                  <a:srgbClr val="555555"/>
                </a:solidFill>
                <a:latin typeface="微软雅黑"/>
              </a:rPr>
              <a:t>多维度·国产大模型评测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892040"/>
            <a:ext cx="11430000" cy="320040"/>
          </a:xfrm>
          <a:prstGeom prst="rect">
            <a:avLst/>
          </a:prstGeom>
          <a:solidFill>
            <a:srgbClr val="6A3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🛠  AI 工程化实践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257800"/>
            <a:ext cx="1859280" cy="292608"/>
          </a:xfrm>
          <a:prstGeom prst="rect">
            <a:avLst/>
          </a:prstGeom>
          <a:solidFill>
            <a:srgbClr val="F2A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SDD · 规格驱动开发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550408"/>
            <a:ext cx="185928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800" b="0">
                <a:solidFill>
                  <a:srgbClr val="1F2A44"/>
                </a:solidFill>
                <a:latin typeface="微软雅黑"/>
              </a:rPr>
              <a:t>形式化规格 → AI 精准生成代码</a:t>
            </a:r>
          </a:p>
          <a:p>
            <a:pPr algn="l"/>
            <a:r>
              <a:rPr sz="800" b="0">
                <a:solidFill>
                  <a:srgbClr val="1F2A44"/>
                </a:solidFill>
                <a:latin typeface="微软雅黑"/>
              </a:rPr>
              <a:t>降低返工，0规格偏差交付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6263640"/>
            <a:ext cx="1859280" cy="411480"/>
          </a:xfrm>
          <a:prstGeom prst="rect">
            <a:avLst/>
          </a:prstGeom>
          <a:solidFill>
            <a:srgbClr val="F2A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800" b="0">
                <a:solidFill>
                  <a:srgbClr val="FFFFFF"/>
                </a:solidFill>
                <a:latin typeface="微软雅黑"/>
              </a:rPr>
              <a:t>FSD → Code · 双向追溯 · AI Review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70760" y="5257800"/>
            <a:ext cx="1859280" cy="292608"/>
          </a:xfrm>
          <a:prstGeom prst="rect">
            <a:avLst/>
          </a:prstGeom>
          <a:solidFill>
            <a:srgbClr val="E2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TDD · 测试驱动 AI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70760" y="5550408"/>
            <a:ext cx="185928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800" b="0">
                <a:solidFill>
                  <a:srgbClr val="1F2A44"/>
                </a:solidFill>
                <a:latin typeface="微软雅黑"/>
              </a:rPr>
              <a:t>AI 自动生成测试用例</a:t>
            </a:r>
          </a:p>
          <a:p>
            <a:pPr algn="l"/>
            <a:r>
              <a:rPr sz="800" b="0">
                <a:solidFill>
                  <a:srgbClr val="1F2A44"/>
                </a:solidFill>
                <a:latin typeface="微软雅黑"/>
              </a:rPr>
              <a:t>覆盖边界条件，回归自动化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70760" y="6263640"/>
            <a:ext cx="1859280" cy="411480"/>
          </a:xfrm>
          <a:prstGeom prst="rect">
            <a:avLst/>
          </a:prstGeom>
          <a:solidFill>
            <a:srgbClr val="E2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800" b="0">
                <a:solidFill>
                  <a:srgbClr val="FFFFFF"/>
                </a:solidFill>
                <a:latin typeface="微软雅黑"/>
              </a:rPr>
              <a:t>用例生成 · Mock 数据 · 变异测试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75760" y="5257800"/>
            <a:ext cx="1859280" cy="292608"/>
          </a:xfrm>
          <a:prstGeom prst="rect">
            <a:avLst/>
          </a:prstGeom>
          <a:solidFill>
            <a:srgbClr val="4F9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MLOps · 模型运维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75760" y="5550408"/>
            <a:ext cx="185928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800" b="0">
                <a:solidFill>
                  <a:srgbClr val="1F2A44"/>
                </a:solidFill>
                <a:latin typeface="微软雅黑"/>
              </a:rPr>
              <a:t>训练→部署→监控→迭代</a:t>
            </a:r>
          </a:p>
          <a:p>
            <a:pPr algn="l"/>
            <a:r>
              <a:rPr sz="800" b="0">
                <a:solidFill>
                  <a:srgbClr val="1F2A44"/>
                </a:solidFill>
                <a:latin typeface="微软雅黑"/>
              </a:rPr>
              <a:t>全生命周期规模化管理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75760" y="6263640"/>
            <a:ext cx="1859280" cy="411480"/>
          </a:xfrm>
          <a:prstGeom prst="rect">
            <a:avLst/>
          </a:prstGeom>
          <a:solidFill>
            <a:srgbClr val="4F9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800" b="0">
                <a:solidFill>
                  <a:srgbClr val="FFFFFF"/>
                </a:solidFill>
                <a:latin typeface="微软雅黑"/>
              </a:rPr>
              <a:t>CI/CD for ML · A/B Testing · 漂移检测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5257800"/>
            <a:ext cx="1859280" cy="292608"/>
          </a:xfrm>
          <a:prstGeom prst="rect">
            <a:avLst/>
          </a:prstGeom>
          <a:solidFill>
            <a:srgbClr val="E09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Harness · 评测驱动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0760" y="5550408"/>
            <a:ext cx="185928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800" b="0">
                <a:solidFill>
                  <a:srgbClr val="1F2A44"/>
                </a:solidFill>
                <a:latin typeface="微软雅黑"/>
              </a:rPr>
              <a:t>MMLU / HumanEval / MMLU-Pro</a:t>
            </a:r>
          </a:p>
          <a:p>
            <a:pPr algn="l"/>
            <a:r>
              <a:rPr sz="800" b="0">
                <a:solidFill>
                  <a:srgbClr val="1F2A44"/>
                </a:solidFill>
                <a:latin typeface="微软雅黑"/>
              </a:rPr>
              <a:t>国产: OpenCompass / FlagEval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80760" y="6263640"/>
            <a:ext cx="1859280" cy="411480"/>
          </a:xfrm>
          <a:prstGeom prst="rect">
            <a:avLst/>
          </a:prstGeom>
          <a:solidFill>
            <a:srgbClr val="E09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800" b="0">
                <a:solidFill>
                  <a:srgbClr val="FFFFFF"/>
                </a:solidFill>
                <a:latin typeface="微软雅黑"/>
              </a:rPr>
              <a:t>能力评测 · 红队对抗 · 安全对齐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85760" y="5257800"/>
            <a:ext cx="1859280" cy="292608"/>
          </a:xfrm>
          <a:prstGeom prst="rect">
            <a:avLst/>
          </a:prstGeom>
          <a:solidFill>
            <a:srgbClr val="3A8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RAG · 检索增强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85760" y="5550408"/>
            <a:ext cx="185928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800" b="0">
                <a:solidFill>
                  <a:srgbClr val="1F2A44"/>
                </a:solidFill>
                <a:latin typeface="微软雅黑"/>
              </a:rPr>
              <a:t>向量数据库 + 大模型</a:t>
            </a:r>
          </a:p>
          <a:p>
            <a:pPr algn="l"/>
            <a:r>
              <a:rPr sz="800" b="0">
                <a:solidFill>
                  <a:srgbClr val="1F2A44"/>
                </a:solidFill>
                <a:latin typeface="微软雅黑"/>
              </a:rPr>
              <a:t>企业知识库问答事实增强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85760" y="6263640"/>
            <a:ext cx="1859280" cy="411480"/>
          </a:xfrm>
          <a:prstGeom prst="rect">
            <a:avLst/>
          </a:prstGeom>
          <a:solidFill>
            <a:srgbClr val="3A8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800" b="0">
                <a:solidFill>
                  <a:srgbClr val="FFFFFF"/>
                </a:solidFill>
                <a:latin typeface="微软雅黑"/>
              </a:rPr>
              <a:t>Embedding · 向量检索 · 知识库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890760" y="5257800"/>
            <a:ext cx="1859280" cy="292608"/>
          </a:xfrm>
          <a:prstGeom prst="rect">
            <a:avLst/>
          </a:prstGeom>
          <a:solidFill>
            <a:srgbClr val="8E5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Agent · 自主编排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90760" y="5550408"/>
            <a:ext cx="185928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800" b="0">
                <a:solidFill>
                  <a:srgbClr val="1F2A44"/>
                </a:solidFill>
                <a:latin typeface="微软雅黑"/>
              </a:rPr>
              <a:t>多步推理·工具调用</a:t>
            </a:r>
          </a:p>
          <a:p>
            <a:pPr algn="l"/>
            <a:r>
              <a:rPr sz="800" b="0">
                <a:solidFill>
                  <a:srgbClr val="1F2A44"/>
                </a:solidFill>
                <a:latin typeface="微软雅黑"/>
              </a:rPr>
              <a:t>ReAct / Plan-and-Execute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90760" y="6263640"/>
            <a:ext cx="1859280" cy="411480"/>
          </a:xfrm>
          <a:prstGeom prst="rect">
            <a:avLst/>
          </a:prstGeom>
          <a:solidFill>
            <a:srgbClr val="8E5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800" b="0">
                <a:solidFill>
                  <a:srgbClr val="FFFFFF"/>
                </a:solidFill>
                <a:latin typeface="微软雅黑"/>
              </a:rPr>
              <a:t>ReAct · Tool Use · 记忆管理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01200" y="6675120"/>
            <a:ext cx="22860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r"/>
            <a:r>
              <a:rPr sz="800" b="0">
                <a:solidFill>
                  <a:srgbClr val="555555"/>
                </a:solidFill>
                <a:latin typeface="微软雅黑"/>
              </a:rPr>
              <a:t>Company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0E1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36576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3200" b="1">
                <a:solidFill>
                  <a:srgbClr val="1F2A44"/>
                </a:solidFill>
                <a:latin typeface="微软雅黑"/>
              </a:rPr>
              <a:t>AI 陪练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1600" b="0">
                <a:solidFill>
                  <a:srgbClr val="E28818"/>
                </a:solidFill>
                <a:latin typeface="微软雅黑"/>
              </a:rPr>
              <a:t>线上实时陪练</a:t>
            </a:r>
          </a:p>
          <a:p>
            <a:pPr algn="ctr"/>
            <a:r>
              <a:rPr sz="1600" b="0">
                <a:solidFill>
                  <a:srgbClr val="E28818"/>
                </a:solidFill>
                <a:latin typeface="微软雅黑"/>
              </a:rPr>
              <a:t>+</a:t>
            </a:r>
          </a:p>
          <a:p>
            <a:pPr algn="ctr"/>
            <a:r>
              <a:rPr sz="1600" b="0">
                <a:solidFill>
                  <a:srgbClr val="E28818"/>
                </a:solidFill>
                <a:latin typeface="微软雅黑"/>
              </a:rPr>
              <a:t>数据驱动优化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468880"/>
            <a:ext cx="3657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600" b="1">
                <a:solidFill>
                  <a:srgbClr val="E28818"/>
                </a:solidFill>
                <a:latin typeface="微软雅黑"/>
              </a:rPr>
              <a:t>业务价值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91440" cy="45720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926080"/>
            <a:ext cx="347472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1F2A44"/>
                </a:solidFill>
                <a:latin typeface="微软雅黑"/>
              </a:rPr>
              <a:t>提升员工培训效率，随时随地通过移动端参与培训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749040"/>
            <a:ext cx="91440" cy="45720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749040"/>
            <a:ext cx="347472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1F2A44"/>
                </a:solidFill>
                <a:latin typeface="微软雅黑"/>
              </a:rPr>
              <a:t>显著降低长期培训成本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572000"/>
            <a:ext cx="91440" cy="45720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572000"/>
            <a:ext cx="347472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1F2A44"/>
                </a:solidFill>
                <a:latin typeface="微软雅黑"/>
              </a:rPr>
              <a:t>员工的能力数据透明化，培训提升更具针对性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74320"/>
            <a:ext cx="7315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2200" b="1">
                <a:solidFill>
                  <a:srgbClr val="3EA7E6"/>
                </a:solidFill>
                <a:latin typeface="微软雅黑"/>
              </a:rPr>
              <a:t>解决方案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960120"/>
            <a:ext cx="91440" cy="27432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941832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200" b="1" i="0">
                <a:solidFill>
                  <a:srgbClr val="FFFFFF"/>
                </a:solidFill>
                <a:latin typeface="微软雅黑"/>
              </a:rPr>
              <a:t>RAG：</a:t>
            </a:r>
            <a:r>
              <a:rPr sz="1100" b="0" i="0">
                <a:solidFill>
                  <a:srgbClr val="FFFFFF"/>
                </a:solidFill>
                <a:latin typeface="微软雅黑"/>
              </a:rPr>
              <a:t>通过 RAG 实现知识库，包含培训产品知识，培训话术，考核关键项等知识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325880"/>
            <a:ext cx="91440" cy="27432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1307592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200" b="1" i="0">
                <a:solidFill>
                  <a:srgbClr val="FFFFFF"/>
                </a:solidFill>
                <a:latin typeface="微软雅黑"/>
              </a:rPr>
              <a:t>虚拟人：</a:t>
            </a:r>
            <a:r>
              <a:rPr sz="1100" b="0" i="0">
                <a:solidFill>
                  <a:srgbClr val="FFFFFF"/>
                </a:solidFill>
                <a:latin typeface="微软雅黑"/>
              </a:rPr>
              <a:t>实现贴心且恰当的类人对话，提升用户体验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1691640"/>
            <a:ext cx="91440" cy="27432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1673352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200" b="1" i="0">
                <a:solidFill>
                  <a:srgbClr val="FFFFFF"/>
                </a:solidFill>
                <a:latin typeface="微软雅黑"/>
              </a:rPr>
              <a:t>LLM：</a:t>
            </a:r>
            <a:r>
              <a:rPr sz="1100" b="0" i="0">
                <a:solidFill>
                  <a:srgbClr val="FFFFFF"/>
                </a:solidFill>
                <a:latin typeface="微软雅黑"/>
              </a:rPr>
              <a:t>实现智能陪练智能体，包含意图识别，RAG 知识获取，组织语言答复，考核评价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194560"/>
            <a:ext cx="7498079" cy="4297680"/>
          </a:xfrm>
          <a:prstGeom prst="rect">
            <a:avLst/>
          </a:prstGeom>
          <a:solidFill>
            <a:srgbClr val="141F4A"/>
          </a:solidFill>
          <a:ln w="9525">
            <a:solidFill>
              <a:srgbClr val="3EA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2286000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AI COACH 用户旅程 - 界面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2743200"/>
            <a:ext cx="8229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Admin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2743200"/>
            <a:ext cx="1271016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数据培训列表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03136" y="2743200"/>
            <a:ext cx="1271016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新建陪练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9871" y="2743200"/>
            <a:ext cx="1271016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设置陪练选项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36608" y="2743200"/>
            <a:ext cx="1271016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配置对话环节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53344" y="2743200"/>
            <a:ext cx="1271016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陪练创建完成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5303520"/>
            <a:ext cx="8229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User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5303520"/>
            <a:ext cx="1600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选择培训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5303520"/>
            <a:ext cx="1600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选择素材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0" y="5303520"/>
            <a:ext cx="1600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沉浸式 AI 智能陪练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24160" y="5303520"/>
            <a:ext cx="1600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完成多维评估反馈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6126480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r"/>
            <a:r>
              <a:rPr sz="1000" b="0">
                <a:solidFill>
                  <a:srgbClr val="3EA7E6"/>
                </a:solidFill>
                <a:latin typeface="微软雅黑"/>
              </a:rPr>
              <a:t>移动端 AI 练习场景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617720" y="5852160"/>
            <a:ext cx="7223760" cy="182880"/>
          </a:xfrm>
          <a:prstGeom prst="rightArrow">
            <a:avLst/>
          </a:prstGeom>
          <a:solidFill>
            <a:srgbClr val="3EA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01200" y="6675120"/>
            <a:ext cx="22860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r"/>
            <a:r>
              <a:rPr sz="800" b="0">
                <a:solidFill>
                  <a:srgbClr val="555555"/>
                </a:solidFill>
                <a:latin typeface="微软雅黑"/>
              </a:rPr>
              <a:t>Company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0E1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36576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3000" b="1">
                <a:solidFill>
                  <a:srgbClr val="1F2A44"/>
                </a:solidFill>
                <a:latin typeface="微软雅黑"/>
              </a:rPr>
              <a:t>AI 文献搜索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657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400" b="0">
                <a:solidFill>
                  <a:srgbClr val="E28818"/>
                </a:solidFill>
                <a:latin typeface="微软雅黑"/>
              </a:rPr>
              <a:t>从文献检索到全链路赋能销售代表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2103120"/>
            <a:ext cx="731520" cy="731520"/>
          </a:xfrm>
          <a:prstGeom prst="ellipse">
            <a:avLst/>
          </a:prstGeom>
          <a:solidFill>
            <a:srgbClr val="216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拜访前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2103120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1F2A44"/>
                </a:solidFill>
                <a:latin typeface="微软雅黑"/>
              </a:rPr>
              <a:t>• 拜访计划生成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395727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1F2A44"/>
                </a:solidFill>
                <a:latin typeface="微软雅黑"/>
              </a:rPr>
              <a:t>• 拜访资料准备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2688336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1F2A44"/>
                </a:solidFill>
                <a:latin typeface="微软雅黑"/>
              </a:rPr>
              <a:t>• AI 智能教练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3474720"/>
            <a:ext cx="731520" cy="731520"/>
          </a:xfrm>
          <a:prstGeom prst="ellipse">
            <a:avLst/>
          </a:prstGeom>
          <a:solidFill>
            <a:srgbClr val="216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拜访中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3474720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1F2A44"/>
                </a:solidFill>
                <a:latin typeface="微软雅黑"/>
              </a:rPr>
              <a:t>• 业务知识问询解答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" y="4846320"/>
            <a:ext cx="731520" cy="731520"/>
          </a:xfrm>
          <a:prstGeom prst="ellipse">
            <a:avLst/>
          </a:prstGeom>
          <a:solidFill>
            <a:srgbClr val="216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拜访后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4846320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1F2A44"/>
                </a:solidFill>
                <a:latin typeface="微软雅黑"/>
              </a:rPr>
              <a:t>• 拜访报告智能撰写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5138928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1F2A44"/>
                </a:solidFill>
                <a:latin typeface="微软雅黑"/>
              </a:rPr>
              <a:t>• 用户肖像测绘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74320"/>
            <a:ext cx="7315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2200" b="1">
                <a:solidFill>
                  <a:srgbClr val="3EA7E6"/>
                </a:solidFill>
                <a:latin typeface="微软雅黑"/>
              </a:rPr>
              <a:t>解决方案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914400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提示词工程 + RAG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1371600"/>
            <a:ext cx="73152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人工智能 + 业务知识库分析推理，理解用户真实意图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1682496"/>
            <a:ext cx="73152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无需对文献资料进行人工审核注标签的运维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73152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支持人机互动，查询结果更精准。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743200"/>
            <a:ext cx="21945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1000" b="1">
                <a:solidFill>
                  <a:srgbClr val="3EA7E6"/>
                </a:solidFill>
                <a:latin typeface="微软雅黑"/>
              </a:rPr>
              <a:t>给出搜索结果并分析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2743200"/>
            <a:ext cx="21945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1000" b="1">
                <a:solidFill>
                  <a:srgbClr val="3EA7E6"/>
                </a:solidFill>
                <a:latin typeface="微软雅黑"/>
              </a:rPr>
              <a:t>追加资料并分析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0" y="3566160"/>
            <a:ext cx="365760" cy="365760"/>
          </a:xfrm>
          <a:prstGeom prst="ellipse">
            <a:avLst/>
          </a:prstGeom>
          <a:solidFill>
            <a:srgbClr val="3EA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14173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自然语言问询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3566160"/>
            <a:ext cx="365760" cy="365760"/>
          </a:xfrm>
          <a:prstGeom prst="ellipse">
            <a:avLst/>
          </a:prstGeom>
          <a:solidFill>
            <a:srgbClr val="3EA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25" name="Oval 24"/>
          <p:cNvSpPr/>
          <p:nvPr/>
        </p:nvSpPr>
        <p:spPr>
          <a:xfrm>
            <a:off x="7955280" y="3566160"/>
            <a:ext cx="365760" cy="365760"/>
          </a:xfrm>
          <a:prstGeom prst="ellipse">
            <a:avLst/>
          </a:prstGeom>
          <a:solidFill>
            <a:srgbClr val="3EA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4023360"/>
            <a:ext cx="14173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交互式提问</a:t>
            </a:r>
          </a:p>
        </p:txBody>
      </p:sp>
      <p:sp>
        <p:nvSpPr>
          <p:cNvPr id="27" name="Oval 26"/>
          <p:cNvSpPr/>
          <p:nvPr/>
        </p:nvSpPr>
        <p:spPr>
          <a:xfrm>
            <a:off x="9418320" y="3566160"/>
            <a:ext cx="365760" cy="365760"/>
          </a:xfrm>
          <a:prstGeom prst="ellipse">
            <a:avLst/>
          </a:prstGeom>
          <a:solidFill>
            <a:srgbClr val="3EA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8" name="Oval 27"/>
          <p:cNvSpPr/>
          <p:nvPr/>
        </p:nvSpPr>
        <p:spPr>
          <a:xfrm>
            <a:off x="10881360" y="3566160"/>
            <a:ext cx="365760" cy="365760"/>
          </a:xfrm>
          <a:prstGeom prst="ellipse">
            <a:avLst/>
          </a:prstGeom>
          <a:solidFill>
            <a:srgbClr val="3EA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20" y="4023360"/>
            <a:ext cx="14173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查看文献并下载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4572000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1">
                <a:solidFill>
                  <a:srgbClr val="3EA7E6"/>
                </a:solidFill>
                <a:latin typeface="微软雅黑"/>
              </a:rPr>
              <a:t>AI 能力支持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07992" y="4892040"/>
            <a:ext cx="859536" cy="32004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AI 智能体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22392" y="4892040"/>
            <a:ext cx="859536" cy="32004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提示词工程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36792" y="4892040"/>
            <a:ext cx="859536" cy="32004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Embedding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51192" y="4892040"/>
            <a:ext cx="859536" cy="32004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RAG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65592" y="4892040"/>
            <a:ext cx="859536" cy="32004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语音识别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79992" y="4892040"/>
            <a:ext cx="859536" cy="32004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图像处理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94392" y="4892040"/>
            <a:ext cx="859536" cy="32004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内容创作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08792" y="4892040"/>
            <a:ext cx="859536" cy="32004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数字人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0" y="5394960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1">
                <a:solidFill>
                  <a:srgbClr val="2EA56A"/>
                </a:solidFill>
                <a:latin typeface="微软雅黑"/>
              </a:rPr>
              <a:t>数据支持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07992" y="5715000"/>
            <a:ext cx="1773936" cy="320040"/>
          </a:xfrm>
          <a:prstGeom prst="rect">
            <a:avLst/>
          </a:prstGeom>
          <a:solidFill>
            <a:srgbClr val="2E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内容平台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36792" y="5715000"/>
            <a:ext cx="1773936" cy="320040"/>
          </a:xfrm>
          <a:prstGeom prst="rect">
            <a:avLst/>
          </a:prstGeom>
          <a:solidFill>
            <a:srgbClr val="2E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业务知识图谱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65592" y="5715000"/>
            <a:ext cx="1773936" cy="320040"/>
          </a:xfrm>
          <a:prstGeom prst="rect">
            <a:avLst/>
          </a:prstGeom>
          <a:solidFill>
            <a:srgbClr val="2E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HCP 360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94392" y="5715000"/>
            <a:ext cx="1773936" cy="320040"/>
          </a:xfrm>
          <a:prstGeom prst="rect">
            <a:avLst/>
          </a:prstGeom>
          <a:solidFill>
            <a:srgbClr val="2E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CRM 数据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0" y="6675120"/>
            <a:ext cx="22860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r"/>
            <a:r>
              <a:rPr sz="800" b="0">
                <a:solidFill>
                  <a:srgbClr val="555555"/>
                </a:solidFill>
                <a:latin typeface="微软雅黑"/>
              </a:rPr>
              <a:t>Company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2800" b="1">
                <a:solidFill>
                  <a:srgbClr val="1F2A44"/>
                </a:solidFill>
                <a:latin typeface="微软雅黑"/>
              </a:rPr>
              <a:t>AI 业务场景矩阵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3718560" cy="411480"/>
          </a:xfrm>
          <a:prstGeom prst="rect">
            <a:avLst/>
          </a:prstGeom>
          <a:solidFill>
            <a:srgbClr val="6A3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研发 R&amp;D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3718560" cy="292608"/>
          </a:xfrm>
          <a:prstGeom prst="rect">
            <a:avLst/>
          </a:prstGeom>
          <a:solidFill>
            <a:srgbClr val="F6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6A3DA8"/>
                </a:solidFill>
                <a:latin typeface="微软雅黑"/>
              </a:rPr>
              <a:t>研发周期 -40%  |  代码量 +60%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27632"/>
            <a:ext cx="37185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AI 辅助需求分析（BRD/FSD 自动生成）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架构方案 AI 评估与技术选型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代码生成 / 补全 / Review 自动化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AI 驱动产品设计优化与仿真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智能测试用例生成 &amp; 自动化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175760" y="914400"/>
            <a:ext cx="3718560" cy="411480"/>
          </a:xfrm>
          <a:prstGeom prst="rect">
            <a:avLst/>
          </a:prstGeom>
          <a:solidFill>
            <a:srgbClr val="1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生产制造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5760" y="1325880"/>
            <a:ext cx="3718560" cy="292608"/>
          </a:xfrm>
          <a:prstGeom prst="rect">
            <a:avLst/>
          </a:prstGeom>
          <a:solidFill>
            <a:srgbClr val="F6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1F8F8A"/>
                </a:solidFill>
                <a:latin typeface="微软雅黑"/>
              </a:rPr>
              <a:t>质检准确率 99.5%  |  停机 -60%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5760" y="1627632"/>
            <a:ext cx="37185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预测性设备维护（PdM）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视觉质检 AOI — 实时缺陷检测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生产工艺参数 AI 实时优化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数字孪生与柔性生产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能源管理与碳排放 AI 优化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7985760" y="914400"/>
            <a:ext cx="3718560" cy="411480"/>
          </a:xfrm>
          <a:prstGeom prst="rect">
            <a:avLst/>
          </a:prstGeom>
          <a:solidFill>
            <a:srgbClr val="2E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供应与销售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85760" y="1325880"/>
            <a:ext cx="3718560" cy="292608"/>
          </a:xfrm>
          <a:prstGeom prst="rect">
            <a:avLst/>
          </a:prstGeom>
          <a:solidFill>
            <a:srgbClr val="F6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2EA56A"/>
                </a:solidFill>
                <a:latin typeface="微软雅黑"/>
              </a:rPr>
              <a:t>库存周转 +35%  |  交付准时率 98%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85760" y="1627632"/>
            <a:ext cx="37185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时序 AI 需求预测（滚动预测）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智能补货与库存优化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动态物流路径规划与调度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供应商风险 AI 评估与监控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AI 驱动的定价与促销决策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840480"/>
            <a:ext cx="3718560" cy="411480"/>
          </a:xfrm>
          <a:prstGeom prst="rect">
            <a:avLst/>
          </a:prstGeom>
          <a:solidFill>
            <a:srgbClr val="E28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企业支撑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51960"/>
            <a:ext cx="3718560" cy="292608"/>
          </a:xfrm>
          <a:prstGeom prst="rect">
            <a:avLst/>
          </a:prstGeom>
          <a:solidFill>
            <a:srgbClr val="F6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E28818"/>
                </a:solidFill>
                <a:latin typeface="微软雅黑"/>
              </a:rPr>
              <a:t>人工工时 -70%  |  响应速度 10x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53712"/>
            <a:ext cx="37185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HR：简历筛选·面试·入职 Agent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财务：智能报销·对账·发票核验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法务：合同审查·合规·风险预警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IT：智能工单·故障自愈·运维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行政：会议室·出行·日程 AI 调度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5760" y="3840480"/>
            <a:ext cx="3718560" cy="411480"/>
          </a:xfrm>
          <a:prstGeom prst="rect">
            <a:avLst/>
          </a:prstGeom>
          <a:solidFill>
            <a:srgbClr val="E04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市场营销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75760" y="4251960"/>
            <a:ext cx="3718560" cy="292608"/>
          </a:xfrm>
          <a:prstGeom prst="rect">
            <a:avLst/>
          </a:prstGeom>
          <a:solidFill>
            <a:srgbClr val="F6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E04B8E"/>
                </a:solidFill>
                <a:latin typeface="微软雅黑"/>
              </a:rPr>
              <a:t>内容产出 10x  |  转化率 +25%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5760" y="4553712"/>
            <a:ext cx="37185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AI 文案·图片·视频多渠道内容生成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Sora / 可灵 AI 视频 — 产品演示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用户分层与个性化推荐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AI 分析竞品动态与市场洞察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AI 驱动的广告投放优化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85760" y="3840480"/>
            <a:ext cx="3718560" cy="411480"/>
          </a:xfrm>
          <a:prstGeom prst="rect">
            <a:avLst/>
          </a:prstGeom>
          <a:solidFill>
            <a:srgbClr val="6A3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客户服务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85760" y="4251960"/>
            <a:ext cx="3718560" cy="292608"/>
          </a:xfrm>
          <a:prstGeom prst="rect">
            <a:avLst/>
          </a:prstGeom>
          <a:solidFill>
            <a:srgbClr val="F6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6A3DA8"/>
                </a:solidFill>
                <a:latin typeface="微软雅黑"/>
              </a:rPr>
              <a:t>7×24 覆盖  |  人工介入 -65%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85760" y="4553712"/>
            <a:ext cx="37185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多模态 AI 客服（文字·语音·视频）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情感识别与意图理解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FAQ + 知识库智能问答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工单自动分类·优先级·派发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微软雅黑"/>
              </a:rPr>
              <a:t>· 客户满意度 AI 预测与挽回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6675120"/>
            <a:ext cx="22860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r"/>
            <a:r>
              <a:rPr sz="800" b="0">
                <a:solidFill>
                  <a:srgbClr val="555555"/>
                </a:solidFill>
                <a:latin typeface="微软雅黑"/>
              </a:rPr>
              <a:t>Company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4389120" y="0"/>
            <a:ext cx="7802575" cy="6858000"/>
          </a:xfrm>
          <a:prstGeom prst="rect">
            <a:avLst/>
          </a:prstGeom>
          <a:solidFill>
            <a:srgbClr val="0E1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38404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2600" b="1">
                <a:solidFill>
                  <a:srgbClr val="1F2A44"/>
                </a:solidFill>
                <a:latin typeface="微软雅黑"/>
              </a:rPr>
              <a:t>AI 整车测试平台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8404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400" b="0">
                <a:solidFill>
                  <a:srgbClr val="E28818"/>
                </a:solidFill>
                <a:latin typeface="微软雅黑"/>
              </a:rPr>
              <a:t>升级研发体系，用 AI 激活汽车研发潜能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38404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600" b="1">
                <a:solidFill>
                  <a:srgbClr val="216BD0"/>
                </a:solidFill>
                <a:latin typeface="微软雅黑"/>
              </a:rPr>
              <a:t>业务价值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1720"/>
            <a:ext cx="3840480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1F2A44"/>
                </a:solidFill>
                <a:latin typeface="微软雅黑"/>
              </a:rPr>
              <a:t>场景：</a:t>
            </a:r>
            <a:r>
              <a:rPr sz="900" b="0" i="0">
                <a:solidFill>
                  <a:srgbClr val="1F2A44"/>
                </a:solidFill>
                <a:latin typeface="微软雅黑"/>
              </a:rPr>
              <a:t>该平台将无缝接入客户现有研发问题追踪系统，捕捉分析车辆全生命周期的技术挑战、市场反馈与投诉。最大限度地减少问题重复出现：利用过去的见解来识别和解决重复出现的挑战，确保新车型的更高可靠性。降低质量风险：通过应用从以往项目中吸取的经验教训，积极主动地减少潜在的质量问题和召回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029200"/>
            <a:ext cx="3840480" cy="1645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000" b="1" i="0">
                <a:solidFill>
                  <a:srgbClr val="1F2A44"/>
                </a:solidFill>
                <a:latin typeface="微软雅黑"/>
              </a:rPr>
              <a:t>效果：</a:t>
            </a:r>
            <a:r>
              <a:rPr sz="900" b="0" i="0">
                <a:solidFill>
                  <a:srgbClr val="1F2A44"/>
                </a:solidFill>
                <a:latin typeface="微软雅黑"/>
              </a:rPr>
              <a:t>项目着眼长远，系统成熟后将进化为预测分析平台，提供风险评估与警报。还将助力客户构建企业知识生态，促进协作与数据决策，最终加速开发周期。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74320"/>
            <a:ext cx="7315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2200" b="1">
                <a:solidFill>
                  <a:srgbClr val="3EA7E6"/>
                </a:solidFill>
                <a:latin typeface="微软雅黑"/>
              </a:rPr>
              <a:t>解决方案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914400"/>
            <a:ext cx="7315200" cy="2377440"/>
          </a:xfrm>
          <a:prstGeom prst="rect">
            <a:avLst/>
          </a:prstGeom>
          <a:solidFill>
            <a:srgbClr val="141F4A"/>
          </a:solidFill>
          <a:ln w="9525">
            <a:solidFill>
              <a:srgbClr val="3EA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[ Mercedes × Bebest  AI Assistant Chat 界面预览 ]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Hi! What do you want to search today?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474720"/>
            <a:ext cx="7315200" cy="3017520"/>
          </a:xfrm>
          <a:prstGeom prst="rect">
            <a:avLst/>
          </a:prstGeom>
          <a:solidFill>
            <a:srgbClr val="141F4A"/>
          </a:solidFill>
          <a:ln w="9525">
            <a:solidFill>
              <a:srgbClr val="3EA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3566160"/>
            <a:ext cx="1828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900" b="1">
                <a:solidFill>
                  <a:srgbClr val="FFFFFF"/>
                </a:solidFill>
                <a:latin typeface="微软雅黑"/>
              </a:rPr>
              <a:t>Dialog module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3840480"/>
            <a:ext cx="1828800" cy="32004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LLM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4206240"/>
            <a:ext cx="182880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Chat guidance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4480560"/>
            <a:ext cx="1828800" cy="27432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</a:rPr>
              <a:t>Prompt Engineering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4754879"/>
            <a:ext cx="1097280" cy="27432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</a:rPr>
              <a:t>Guidance Mgmt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754879"/>
            <a:ext cx="685800" cy="27432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</a:rPr>
              <a:t>Guidance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5120640"/>
            <a:ext cx="182880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</a:rPr>
              <a:t>Multi-rounds dialog tree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3840480"/>
            <a:ext cx="457200" cy="155448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</a:rPr>
              <a:t>NLP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3566160"/>
            <a:ext cx="24688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900" b="1">
                <a:solidFill>
                  <a:srgbClr val="FFFFFF"/>
                </a:solidFill>
                <a:latin typeface="微软雅黑"/>
              </a:rPr>
              <a:t>Retrieval module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3840480"/>
            <a:ext cx="246888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Hybrid Retrieval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4160520"/>
            <a:ext cx="1188720" cy="27432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</a:rPr>
              <a:t>Preprocessor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4160520"/>
            <a:ext cx="1234440" cy="27432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</a:rPr>
              <a:t>Text Chunker / Speller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4480560"/>
            <a:ext cx="246888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Embedding Models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4892040"/>
            <a:ext cx="24688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900" b="1">
                <a:solidFill>
                  <a:srgbClr val="FFFFFF"/>
                </a:solidFill>
                <a:latin typeface="微软雅黑"/>
              </a:rPr>
              <a:t>Report module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80" y="5166360"/>
            <a:ext cx="7772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LLM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5166360"/>
            <a:ext cx="164592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Report Prompt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80" y="5486400"/>
            <a:ext cx="1188720" cy="27432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</a:rPr>
              <a:t>Templates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5486400"/>
            <a:ext cx="1234440" cy="27432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</a:rPr>
              <a:t>Agents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21240" y="3566160"/>
            <a:ext cx="19202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900" b="1">
                <a:solidFill>
                  <a:srgbClr val="FFFFFF"/>
                </a:solidFill>
                <a:latin typeface="微软雅黑"/>
              </a:rPr>
              <a:t>Data Center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3840480"/>
            <a:ext cx="1920240" cy="274320"/>
          </a:xfrm>
          <a:prstGeom prst="rect">
            <a:avLst/>
          </a:prstGeom>
          <a:solidFill>
            <a:srgbClr val="1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1F2A44"/>
                </a:solidFill>
                <a:latin typeface="微软雅黑"/>
              </a:rPr>
              <a:t>Source DB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21240" y="4206240"/>
            <a:ext cx="19202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</a:rPr>
              <a:t>Preprocess &amp; Convert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21240" y="4526279"/>
            <a:ext cx="19202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Vector store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21240" y="4892040"/>
            <a:ext cx="19202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900" b="1">
                <a:solidFill>
                  <a:srgbClr val="FFFFFF"/>
                </a:solidFill>
                <a:latin typeface="微软雅黑"/>
              </a:rPr>
              <a:t>Configuration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21240" y="5166360"/>
            <a:ext cx="19202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</a:rPr>
              <a:t>Business guidance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21240" y="5532120"/>
            <a:ext cx="192024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900" b="1">
                <a:solidFill>
                  <a:srgbClr val="FFFFFF"/>
                </a:solidFill>
                <a:latin typeface="微软雅黑"/>
              </a:rPr>
              <a:t>Result Store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5806440"/>
            <a:ext cx="1920240" cy="2743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/>
              </a:rPr>
              <a:t>Reports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6675120"/>
            <a:ext cx="22860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r"/>
            <a:r>
              <a:rPr sz="800" b="0">
                <a:solidFill>
                  <a:srgbClr val="555555"/>
                </a:solidFill>
                <a:latin typeface="微软雅黑"/>
              </a:rPr>
              <a:t>Company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0E1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36576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3000" b="1">
                <a:solidFill>
                  <a:srgbClr val="1F2A44"/>
                </a:solidFill>
                <a:latin typeface="微软雅黑"/>
              </a:rPr>
              <a:t>AI 知识库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6576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300" b="0">
                <a:solidFill>
                  <a:srgbClr val="E28818"/>
                </a:solidFill>
                <a:latin typeface="微软雅黑"/>
              </a:rPr>
              <a:t>打破企业信息孤岛，驱动知识管理与智能服务双重效能升级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377440"/>
            <a:ext cx="3657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600" b="1">
                <a:solidFill>
                  <a:srgbClr val="E28818"/>
                </a:solidFill>
                <a:latin typeface="微软雅黑"/>
              </a:rPr>
              <a:t>业务价值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34640"/>
            <a:ext cx="91440" cy="45720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16352"/>
            <a:ext cx="352044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200" b="1" i="0">
                <a:solidFill>
                  <a:srgbClr val="1F2A44"/>
                </a:solidFill>
                <a:latin typeface="微软雅黑"/>
              </a:rPr>
              <a:t>24 小时智能助手：</a:t>
            </a:r>
          </a:p>
          <a:p>
            <a:pPr algn="l"/>
            <a:r>
              <a:rPr sz="1000" b="0" i="0">
                <a:solidFill>
                  <a:srgbClr val="1F2A44"/>
                </a:solidFill>
                <a:latin typeface="微软雅黑"/>
              </a:rPr>
              <a:t>企业配了个“最强大脑”，员工随时提问（如产品参数、操作流程），秒获准确答案，减少 70% 重复咨询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526280"/>
            <a:ext cx="91440" cy="457200"/>
          </a:xfrm>
          <a:prstGeom prst="rect">
            <a:avLst/>
          </a:prstGeom>
          <a:solidFill>
            <a:srgbClr val="3EA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100" b="0">
                <a:solidFill>
                  <a:srgbClr val="202020"/>
                </a:solidFill>
                <a:latin typeface="微软雅黑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507992"/>
            <a:ext cx="352044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200" b="1" i="0">
                <a:solidFill>
                  <a:srgbClr val="1F2A44"/>
                </a:solidFill>
                <a:latin typeface="微软雅黑"/>
              </a:rPr>
              <a:t>打造“智能知识中枢”：</a:t>
            </a:r>
          </a:p>
          <a:p>
            <a:pPr algn="l"/>
            <a:r>
              <a:rPr sz="1000" b="0" i="0">
                <a:solidFill>
                  <a:srgbClr val="1F2A44"/>
                </a:solidFill>
                <a:latin typeface="微软雅黑"/>
              </a:rPr>
              <a:t>整合 OA、ERP 等多系统知识，助力企业建立知识大脑，提升服务效率、赋能员工专业化成长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74320"/>
            <a:ext cx="73152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2200" b="1">
                <a:solidFill>
                  <a:srgbClr val="3EA7E6"/>
                </a:solidFill>
                <a:latin typeface="微软雅黑"/>
              </a:rPr>
              <a:t>解决方案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914400"/>
            <a:ext cx="749807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1200" b="1" i="0">
                <a:solidFill>
                  <a:srgbClr val="FFFFFF"/>
                </a:solidFill>
                <a:latin typeface="微软雅黑"/>
              </a:rPr>
              <a:t>知识库平台：</a:t>
            </a:r>
            <a:r>
              <a:rPr sz="1100" b="0" i="0">
                <a:solidFill>
                  <a:srgbClr val="FFFFFF"/>
                </a:solidFill>
                <a:latin typeface="微软雅黑"/>
              </a:rPr>
              <a:t>通过构建知识库平台，企业可以通过 AI 大模型技术帮助实现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463040"/>
            <a:ext cx="5029200" cy="2377440"/>
          </a:xfrm>
          <a:prstGeom prst="rect">
            <a:avLst/>
          </a:prstGeom>
          <a:solidFill>
            <a:srgbClr val="141F4A"/>
          </a:solidFill>
          <a:ln w="9525">
            <a:solidFill>
              <a:srgbClr val="3EA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[ 知识库管理界面截图 ]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定义文件上传支持、业务系统动态刷新、打通数据增量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3931920"/>
            <a:ext cx="5029200" cy="2377440"/>
          </a:xfrm>
          <a:prstGeom prst="rect">
            <a:avLst/>
          </a:prstGeom>
          <a:solidFill>
            <a:srgbClr val="141F4A"/>
          </a:solidFill>
          <a:ln w="9525">
            <a:solidFill>
              <a:srgbClr val="3EA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[ 对话信息界面截图 ]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沉淀对话信息最佳输入，用于事后单独计费，提升 AI 服务质量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920" y="1463040"/>
            <a:ext cx="23317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AI 知识库应用场景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6920" y="2011680"/>
            <a:ext cx="2331720" cy="5029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企业内部产品知识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2697480"/>
            <a:ext cx="2331720" cy="5029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通过 AI 触摸知识内容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46920" y="3383280"/>
            <a:ext cx="2331720" cy="502920"/>
          </a:xfrm>
          <a:prstGeom prst="rect">
            <a:avLst/>
          </a:prstGeom>
          <a:solidFill>
            <a:srgbClr val="216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部门内的产品手册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6400800"/>
            <a:ext cx="749807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l"/>
            <a:r>
              <a:rPr sz="900" b="1" i="0">
                <a:solidFill>
                  <a:srgbClr val="FFFFFF"/>
                </a:solidFill>
                <a:latin typeface="微软雅黑"/>
              </a:rPr>
              <a:t>场景：</a:t>
            </a:r>
            <a:r>
              <a:rPr sz="800" b="0" i="0">
                <a:solidFill>
                  <a:srgbClr val="FFFFFF"/>
                </a:solidFill>
                <a:latin typeface="微软雅黑"/>
              </a:rPr>
              <a:t>通过 AI 把企业内部的知识，转换成 AI 可以学习的语言，将分散的经验转化为可复用的数字资产的核心引擎，能永久锁住人才智慧，缩短 70% 问题解决时间，让企业在人员流动与市场变化中持续降本增效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6675120"/>
            <a:ext cx="22860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" rIns="36000" tIns="18000" bIns="18000"/>
          <a:lstStyle/>
          <a:p>
            <a:pPr algn="r"/>
            <a:r>
              <a:rPr sz="800" b="0">
                <a:solidFill>
                  <a:srgbClr val="555555"/>
                </a:solidFill>
                <a:latin typeface="微软雅黑"/>
              </a:rPr>
              <a:t>Company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