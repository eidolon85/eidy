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3200" b="1">
                <a:solidFill>
                  <a:srgbClr val="1F2A44"/>
                </a:solidFill>
                <a:latin typeface="微软雅黑"/>
              </a:rPr>
              <a:t>AI Case &amp; Offering 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</a:rPr>
              <a:t>我们在过去一年在多个业务和技术维度成功落地了多个典型AI项目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34440"/>
            <a:ext cx="11430000" cy="27432"/>
          </a:xfrm>
          <a:prstGeom prst="rect">
            <a:avLst/>
          </a:prstGeom>
          <a:solidFill>
            <a:srgbClr val="CF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100" b="0">
                <a:solidFill>
                  <a:srgbClr val="202020"/>
                </a:solidFill>
                <a:latin typeface="微软雅黑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411480" cy="3840480"/>
          </a:xfrm>
          <a:prstGeom prst="rect">
            <a:avLst/>
          </a:prstGeom>
          <a:solidFill>
            <a:srgbClr val="E6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AI Enable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417320"/>
            <a:ext cx="3566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ctr"/>
            <a:r>
              <a:rPr sz="1400" b="1">
                <a:solidFill>
                  <a:srgbClr val="0B2A6B"/>
                </a:solidFill>
                <a:latin typeface="微软雅黑"/>
              </a:rPr>
              <a:t>Content Generation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417320"/>
            <a:ext cx="3566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ctr"/>
            <a:r>
              <a:rPr sz="1400" b="1">
                <a:solidFill>
                  <a:srgbClr val="3EA7E6"/>
                </a:solidFill>
                <a:latin typeface="微软雅黑"/>
              </a:rPr>
              <a:t>Efficiency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417320"/>
            <a:ext cx="3566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ctr"/>
            <a:r>
              <a:rPr sz="1400" b="1">
                <a:solidFill>
                  <a:srgbClr val="1F8F8A"/>
                </a:solidFill>
                <a:latin typeface="微软雅黑"/>
              </a:rPr>
              <a:t>WoW Innovation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783080"/>
            <a:ext cx="3566160" cy="36576"/>
          </a:xfrm>
          <a:prstGeom prst="rect">
            <a:avLst/>
          </a:prstGeom>
          <a:solidFill>
            <a:srgbClr val="0B2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100" b="0">
                <a:solidFill>
                  <a:srgbClr val="202020"/>
                </a:solidFill>
                <a:latin typeface="微软雅黑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783080"/>
            <a:ext cx="3566160" cy="36576"/>
          </a:xfrm>
          <a:prstGeom prst="rect">
            <a:avLst/>
          </a:prstGeom>
          <a:solidFill>
            <a:srgbClr val="3EA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100" b="0">
                <a:solidFill>
                  <a:srgbClr val="202020"/>
                </a:solidFill>
                <a:latin typeface="微软雅黑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783080"/>
            <a:ext cx="3566160" cy="36576"/>
          </a:xfrm>
          <a:prstGeom prst="rect">
            <a:avLst/>
          </a:prstGeom>
          <a:solidFill>
            <a:srgbClr val="1F8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100" b="0">
                <a:solidFill>
                  <a:srgbClr val="202020"/>
                </a:solidFill>
                <a:latin typeface="微软雅黑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874519"/>
            <a:ext cx="3566160" cy="3383280"/>
          </a:xfrm>
          <a:prstGeom prst="rect">
            <a:avLst/>
          </a:prstGeom>
          <a:noFill/>
          <a:ln w="9525">
            <a:solidFill>
              <a:srgbClr val="0B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 i="0">
                <a:solidFill>
                  <a:srgbClr val="1F2A44"/>
                </a:solidFill>
                <a:latin typeface="微软雅黑"/>
              </a:rPr>
              <a:t>
AI 效果图助手</a:t>
            </a:r>
          </a:p>
          <a:p>
            <a:pPr algn="ctr"/>
            <a:r>
              <a:rPr sz="1100" b="0" i="0">
                <a:solidFill>
                  <a:srgbClr val="555555"/>
                </a:solidFill>
                <a:latin typeface="微软雅黑"/>
              </a:rPr>
              <a:t>全员可用的生图工具与智能图像处理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874519"/>
            <a:ext cx="31089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ctr"/>
            <a:r>
              <a:rPr sz="1300" b="1" i="0">
                <a:solidFill>
                  <a:srgbClr val="1F2A44"/>
                </a:solidFill>
                <a:latin typeface="微软雅黑"/>
              </a:rPr>
              <a:t>AI 目标识别</a:t>
            </a:r>
          </a:p>
          <a:p>
            <a:pPr algn="ctr"/>
            <a:r>
              <a:rPr sz="900" b="0" i="0">
                <a:solidFill>
                  <a:srgbClr val="555555"/>
                </a:solidFill>
                <a:latin typeface="微软雅黑"/>
              </a:rPr>
              <a:t>实现高性能 OCR 和图章检测，满足预定义基准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965960"/>
            <a:ext cx="411480" cy="4114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0">
                <a:solidFill>
                  <a:srgbClr val="FFFFFF"/>
                </a:solidFill>
                <a:latin typeface="微软雅黑"/>
              </a:rPr>
              <a:t>J&amp;J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2551176"/>
            <a:ext cx="31089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ctr"/>
            <a:r>
              <a:rPr sz="1300" b="1" i="0">
                <a:solidFill>
                  <a:srgbClr val="1F2A44"/>
                </a:solidFill>
                <a:latin typeface="微软雅黑"/>
              </a:rPr>
              <a:t>AI 文献搜索：百济</a:t>
            </a:r>
          </a:p>
          <a:p>
            <a:pPr algn="ctr"/>
            <a:r>
              <a:rPr sz="900" b="0" i="0">
                <a:solidFill>
                  <a:srgbClr val="555555"/>
                </a:solidFill>
                <a:latin typeface="微软雅黑"/>
              </a:rPr>
              <a:t>人机互动全链路赋能销售代表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2642616"/>
            <a:ext cx="411480" cy="4114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0">
                <a:solidFill>
                  <a:srgbClr val="FFFFFF"/>
                </a:solidFill>
                <a:latin typeface="微软雅黑"/>
              </a:rPr>
              <a:t>BeiGene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227832"/>
            <a:ext cx="31089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ctr"/>
            <a:r>
              <a:rPr sz="1300" b="1" i="0">
                <a:solidFill>
                  <a:srgbClr val="1F2A44"/>
                </a:solidFill>
                <a:latin typeface="微软雅黑"/>
              </a:rPr>
              <a:t>AI日志分析</a:t>
            </a:r>
          </a:p>
          <a:p>
            <a:pPr algn="ctr"/>
            <a:r>
              <a:rPr sz="900" b="0" i="0">
                <a:solidFill>
                  <a:srgbClr val="555555"/>
                </a:solidFill>
                <a:latin typeface="微软雅黑"/>
              </a:rPr>
              <a:t>轮询实现日志的自动化推理检测与异常日志实时告警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3319272"/>
            <a:ext cx="411480" cy="4114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0">
                <a:solidFill>
                  <a:srgbClr val="FFFFFF"/>
                </a:solidFill>
                <a:latin typeface="微软雅黑"/>
              </a:rPr>
              <a:t>Porsche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3904488"/>
            <a:ext cx="31089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ctr"/>
            <a:r>
              <a:rPr sz="1300" b="1" i="0">
                <a:solidFill>
                  <a:srgbClr val="1F2A44"/>
                </a:solidFill>
                <a:latin typeface="微软雅黑"/>
              </a:rPr>
              <a:t>AI 合同管理：沃尔沃/越秀</a:t>
            </a:r>
          </a:p>
          <a:p>
            <a:pPr algn="ctr"/>
            <a:r>
              <a:rPr sz="900" b="0" i="0">
                <a:solidFill>
                  <a:srgbClr val="555555"/>
                </a:solidFill>
                <a:latin typeface="微软雅黑"/>
              </a:rPr>
              <a:t>“智能秒级”响应，自动解析合同条款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79" y="3995928"/>
            <a:ext cx="411480" cy="4114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0">
                <a:solidFill>
                  <a:srgbClr val="FFFFFF"/>
                </a:solidFill>
                <a:latin typeface="微软雅黑"/>
              </a:rPr>
              <a:t>YX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4581144"/>
            <a:ext cx="31089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ctr"/>
            <a:r>
              <a:rPr sz="1300" b="1" i="0">
                <a:solidFill>
                  <a:srgbClr val="1F2A44"/>
                </a:solidFill>
                <a:latin typeface="微软雅黑"/>
              </a:rPr>
              <a:t>智能客服系统</a:t>
            </a:r>
          </a:p>
          <a:p>
            <a:pPr algn="ctr"/>
            <a:r>
              <a:rPr sz="900" b="0" i="0">
                <a:solidFill>
                  <a:srgbClr val="555555"/>
                </a:solidFill>
                <a:latin typeface="微软雅黑"/>
              </a:rPr>
              <a:t>7*24快速响应客户需求并自动记录到业务系统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26679" y="4672584"/>
            <a:ext cx="411480" cy="4114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0">
                <a:solidFill>
                  <a:srgbClr val="FFFFFF"/>
                </a:solidFill>
                <a:latin typeface="微软雅黑"/>
              </a:rPr>
              <a:t>Porsche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874519"/>
            <a:ext cx="310896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 i="0">
                <a:solidFill>
                  <a:srgbClr val="1F2A44"/>
                </a:solidFill>
                <a:latin typeface="微软雅黑"/>
              </a:rPr>
              <a:t>Deep Research 混合检索引擎</a:t>
            </a:r>
          </a:p>
          <a:p>
            <a:pPr algn="ctr"/>
            <a:r>
              <a:rPr sz="900" b="0" i="0">
                <a:solidFill>
                  <a:srgbClr val="555555"/>
                </a:solidFill>
                <a:latin typeface="微软雅黑"/>
              </a:rPr>
              <a:t>集成知识库 + 外部网站搜索 + 内部资产 Confluence 为一体，整合多源检索与多轮优化能力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338560" y="1965960"/>
            <a:ext cx="457200" cy="365760"/>
          </a:xfrm>
          <a:prstGeom prst="rect">
            <a:avLst/>
          </a:prstGeom>
          <a:solidFill>
            <a:srgbClr val="1A4D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0">
                <a:solidFill>
                  <a:srgbClr val="FFFFFF"/>
                </a:solidFill>
                <a:latin typeface="微软雅黑"/>
              </a:rPr>
              <a:t>BMW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788920"/>
            <a:ext cx="310896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 i="0">
                <a:solidFill>
                  <a:srgbClr val="1F2A44"/>
                </a:solidFill>
                <a:latin typeface="微软雅黑"/>
              </a:rPr>
              <a:t>AI智能陪练</a:t>
            </a:r>
          </a:p>
          <a:p>
            <a:pPr algn="ctr"/>
            <a:r>
              <a:rPr sz="900" b="0" i="0">
                <a:solidFill>
                  <a:srgbClr val="555555"/>
                </a:solidFill>
                <a:latin typeface="微软雅黑"/>
              </a:rPr>
              <a:t>线上实时陪练，数据驱动优化效果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3520439"/>
            <a:ext cx="310896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 i="0">
                <a:solidFill>
                  <a:srgbClr val="1F2A44"/>
                </a:solidFill>
                <a:latin typeface="微软雅黑"/>
              </a:rPr>
              <a:t>AI 知识库</a:t>
            </a:r>
          </a:p>
          <a:p>
            <a:pPr algn="ctr"/>
            <a:r>
              <a:rPr sz="900" b="0" i="0">
                <a:solidFill>
                  <a:srgbClr val="555555"/>
                </a:solidFill>
                <a:latin typeface="微软雅黑"/>
              </a:rPr>
              <a:t>打造企业“智能知识中枢”，实现24h智能服务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4251959"/>
            <a:ext cx="310896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 i="0">
                <a:solidFill>
                  <a:srgbClr val="1F2A44"/>
                </a:solidFill>
                <a:latin typeface="微软雅黑"/>
              </a:rPr>
              <a:t>Machine Learning Ops</a:t>
            </a:r>
          </a:p>
          <a:p>
            <a:pPr algn="ctr"/>
            <a:r>
              <a:rPr sz="900" b="0" i="0">
                <a:solidFill>
                  <a:srgbClr val="555555"/>
                </a:solidFill>
                <a:latin typeface="微软雅黑"/>
              </a:rPr>
              <a:t>实现可复现、可追溯、可部署的机器学习工程化流程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338560" y="4343399"/>
            <a:ext cx="457200" cy="365760"/>
          </a:xfrm>
          <a:prstGeom prst="rect">
            <a:avLst/>
          </a:prstGeom>
          <a:solidFill>
            <a:srgbClr val="1A4D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0">
                <a:solidFill>
                  <a:srgbClr val="FFFFFF"/>
                </a:solidFill>
                <a:latin typeface="微软雅黑"/>
              </a:rPr>
              <a:t>J&amp;J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349240"/>
            <a:ext cx="411480" cy="1371600"/>
          </a:xfrm>
          <a:prstGeom prst="rect">
            <a:avLst/>
          </a:prstGeom>
          <a:solidFill>
            <a:srgbClr val="E6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1F2A44"/>
                </a:solidFill>
                <a:latin typeface="微软雅黑"/>
              </a:rPr>
              <a:t>AI Evolve Workspace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349240"/>
            <a:ext cx="10881360" cy="685800"/>
          </a:xfrm>
          <a:prstGeom prst="rect">
            <a:avLst/>
          </a:prstGeom>
          <a:noFill/>
          <a:ln w="9525">
            <a:solidFill>
              <a:srgbClr val="E28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 i="0">
                <a:solidFill>
                  <a:srgbClr val="1F2A44"/>
                </a:solidFill>
                <a:latin typeface="微软雅黑"/>
              </a:rPr>
              <a:t>Product X</a:t>
            </a:r>
          </a:p>
          <a:p>
            <a:pPr algn="ctr"/>
            <a:r>
              <a:rPr sz="900" b="0" i="0">
                <a:solidFill>
                  <a:srgbClr val="555555"/>
                </a:solidFill>
                <a:latin typeface="微软雅黑"/>
              </a:rPr>
              <a:t>以大模型等AI技术为驱动，以提高软件研发运营智能化水平为导向，以提质增效为目标的新一代智能化软件工程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6080760"/>
            <a:ext cx="2084831" cy="29260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1F2A44"/>
                </a:solidFill>
                <a:latin typeface="微软雅黑"/>
              </a:rPr>
              <a:t>智能项目管理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36391" y="6080760"/>
            <a:ext cx="2084831" cy="29260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1F2A44"/>
                </a:solidFill>
                <a:latin typeface="微软雅黑"/>
              </a:rPr>
              <a:t>智能需求设计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12664" y="6080760"/>
            <a:ext cx="2084831" cy="29260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1F2A44"/>
                </a:solidFill>
                <a:latin typeface="微软雅黑"/>
              </a:rPr>
              <a:t>智能开发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88936" y="6080760"/>
            <a:ext cx="2084831" cy="29260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1F2A44"/>
                </a:solidFill>
                <a:latin typeface="微软雅黑"/>
              </a:rPr>
              <a:t>智能测试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65208" y="6080760"/>
            <a:ext cx="2084831" cy="29260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1F2A44"/>
                </a:solidFill>
                <a:latin typeface="微软雅黑"/>
              </a:rPr>
              <a:t>部署和运维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446520"/>
            <a:ext cx="10881360" cy="365760"/>
          </a:xfrm>
          <a:prstGeom prst="rect">
            <a:avLst/>
          </a:prstGeom>
          <a:noFill/>
          <a:ln w="9525">
            <a:solidFill>
              <a:srgbClr val="E28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 i="0">
                <a:solidFill>
                  <a:srgbClr val="1F2A44"/>
                </a:solidFill>
                <a:latin typeface="微软雅黑"/>
              </a:rPr>
              <a:t>智擎</a:t>
            </a:r>
            <a:r>
              <a:rPr sz="800" b="0" i="0">
                <a:solidFill>
                  <a:srgbClr val="555555"/>
                </a:solidFill>
                <a:latin typeface="微软雅黑"/>
              </a:rPr>
              <a:t>    面向企业客户的智能体应用开发平台，以企业知识库为内核，帮助用户个性化定制基于大模型的智能体应用，并快速集成和部署到不同的平台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01200" y="6629400"/>
            <a:ext cx="228600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r"/>
            <a:r>
              <a:rPr sz="800" b="0">
                <a:solidFill>
                  <a:srgbClr val="555555"/>
                </a:solidFill>
                <a:latin typeface="微软雅黑"/>
              </a:rPr>
              <a:t>Company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100" b="0">
                <a:solidFill>
                  <a:srgbClr val="202020"/>
                </a:solidFill>
                <a:latin typeface="微软雅黑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0E1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100" b="0">
                <a:solidFill>
                  <a:srgbClr val="202020"/>
                </a:solidFill>
                <a:latin typeface="微软雅黑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40233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2800" b="1">
                <a:solidFill>
                  <a:srgbClr val="1F2A44"/>
                </a:solidFill>
                <a:latin typeface="微软雅黑"/>
              </a:rPr>
              <a:t>AI ERP 合同赋能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402336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400" b="1">
                <a:solidFill>
                  <a:srgbClr val="1F2A44"/>
                </a:solidFill>
                <a:latin typeface="微软雅黑"/>
              </a:rPr>
              <a:t>让风险洞察“先知先觉”，“智能秒级”响应，自动解析合同条款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74519"/>
            <a:ext cx="40233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200" b="1">
                <a:solidFill>
                  <a:srgbClr val="216BD0"/>
                </a:solidFill>
                <a:latin typeface="微软雅黑"/>
              </a:rPr>
              <a:t>处理速度大幅提升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931920" cy="12161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传统人工审核：每份合同需要2-4小时</a:t>
            </a:r>
          </a:p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AI智能检测：单份合同检测≤30秒</a:t>
            </a:r>
          </a:p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效率提升：百倍速度提升</a:t>
            </a:r>
          </a:p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时间节约：每个工作日可节省大量人工时间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182112"/>
            <a:ext cx="40233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200" b="1">
                <a:solidFill>
                  <a:srgbClr val="216BD0"/>
                </a:solidFill>
                <a:latin typeface="微软雅黑"/>
              </a:rPr>
              <a:t>工作流程自动化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02152"/>
            <a:ext cx="3931920" cy="12161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6大智能功能模块：租户资质、合同条款、价格分析、免租期、信用评估、舆情监控</a:t>
            </a:r>
          </a:p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并行数据查询：同步调用多个外部数据源</a:t>
            </a:r>
          </a:p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智能报告生成：自动生成分析报告</a:t>
            </a:r>
          </a:p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减少人工干预：90%以上流程实现自动化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489704"/>
            <a:ext cx="40233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200" b="1">
                <a:solidFill>
                  <a:srgbClr val="216BD0"/>
                </a:solidFill>
                <a:latin typeface="微软雅黑"/>
              </a:rPr>
              <a:t>风险管控价值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09744"/>
            <a:ext cx="3931920" cy="12161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风险识别能力提升：多维度风险评估：企业信用、经营异常、限制高消费、舆情风险</a:t>
            </a:r>
          </a:p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风险预警机制：提前识别潜在风险租户</a:t>
            </a:r>
          </a:p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预计避免损失：每年可避免百万级别风险损失</a:t>
            </a:r>
          </a:p>
          <a:p>
            <a:pPr algn="l"/>
            <a:r>
              <a:rPr sz="850" b="0">
                <a:solidFill>
                  <a:srgbClr val="1F2A44"/>
                </a:solidFill>
                <a:latin typeface="微软雅黑"/>
              </a:rPr>
              <a:t>• 合规性提升：政策对标检查：自动对比租赁政策和历史合同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274320"/>
            <a:ext cx="3657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2200" b="1">
                <a:solidFill>
                  <a:srgbClr val="3EA7E6"/>
                </a:solidFill>
                <a:latin typeface="微软雅黑"/>
              </a:rPr>
              <a:t>解决方案</a:t>
            </a:r>
          </a:p>
        </p:txBody>
      </p:sp>
      <p:sp>
        <p:nvSpPr>
          <p:cNvPr id="13" name="Hexagon 12"/>
          <p:cNvSpPr/>
          <p:nvPr/>
        </p:nvSpPr>
        <p:spPr>
          <a:xfrm>
            <a:off x="4846320" y="1005840"/>
            <a:ext cx="640080" cy="640080"/>
          </a:xfrm>
          <a:prstGeom prst="hexagon">
            <a:avLst/>
          </a:prstGeom>
          <a:solidFill>
            <a:srgbClr val="216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场景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1005840"/>
            <a:ext cx="32918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400" b="1">
                <a:solidFill>
                  <a:srgbClr val="3EA7E6"/>
                </a:solidFill>
                <a:latin typeface="微软雅黑"/>
              </a:rPr>
              <a:t>场景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1371600"/>
            <a:ext cx="329184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JDE系统发起合同检测请求，传入合同基本信息和租户信息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根据租户类型和分析需求，调用启信宝、信用查询、舆情监控等外部API</a:t>
            </a:r>
          </a:p>
        </p:txBody>
      </p:sp>
      <p:sp>
        <p:nvSpPr>
          <p:cNvPr id="16" name="Hexagon 15"/>
          <p:cNvSpPr/>
          <p:nvPr/>
        </p:nvSpPr>
        <p:spPr>
          <a:xfrm>
            <a:off x="4846320" y="2697480"/>
            <a:ext cx="640080" cy="640080"/>
          </a:xfrm>
          <a:prstGeom prst="hexagon">
            <a:avLst/>
          </a:prstGeom>
          <a:solidFill>
            <a:srgbClr val="216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效果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2697480"/>
            <a:ext cx="32918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400" b="1">
                <a:solidFill>
                  <a:srgbClr val="3EA7E6"/>
                </a:solidFill>
                <a:latin typeface="微软雅黑"/>
              </a:rPr>
              <a:t>效果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7840" y="3063240"/>
            <a:ext cx="329184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通过AI大模型执行6大功能模块的智能分析，帮助企业快速决策，提高检测时间效率，识别潜在风险。</a:t>
            </a:r>
          </a:p>
        </p:txBody>
      </p:sp>
      <p:sp>
        <p:nvSpPr>
          <p:cNvPr id="19" name="Hexagon 18"/>
          <p:cNvSpPr/>
          <p:nvPr/>
        </p:nvSpPr>
        <p:spPr>
          <a:xfrm>
            <a:off x="4846320" y="4389120"/>
            <a:ext cx="640080" cy="640080"/>
          </a:xfrm>
          <a:prstGeom prst="hexagon">
            <a:avLst/>
          </a:prstGeom>
          <a:solidFill>
            <a:srgbClr val="216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亮点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4389120"/>
            <a:ext cx="32918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400" b="1">
                <a:solidFill>
                  <a:srgbClr val="3EA7E6"/>
                </a:solidFill>
                <a:latin typeface="微软雅黑"/>
              </a:rPr>
              <a:t>亮点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77840" y="4754880"/>
            <a:ext cx="329184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AI：DIFY平台通过通义大模型执行6大功能模块的智能分析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多系统集成：启信宝、信用查询、舆情监控等外部API，汇总多维度数据，作为AI上下文输入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005840"/>
            <a:ext cx="2926080" cy="4846320"/>
          </a:xfrm>
          <a:prstGeom prst="rect">
            <a:avLst/>
          </a:prstGeom>
          <a:solidFill>
            <a:srgbClr val="141F4A"/>
          </a:solidFill>
          <a:ln w="9525">
            <a:solidFill>
              <a:srgbClr val="E288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B34D"/>
                </a:solidFill>
                <a:latin typeface="微软雅黑"/>
              </a:rPr>
              <a:t>[ 合同分析报告示例 ]</a:t>
            </a:r>
          </a:p>
          <a:p>
            <a:pPr algn="ctr"/>
            <a:r>
              <a:rPr sz="900" b="0">
                <a:solidFill>
                  <a:srgbClr val="FFB34D"/>
                </a:solidFill>
                <a:latin typeface="微软雅黑"/>
              </a:rPr>
              <a:t/>
            </a:r>
          </a:p>
          <a:p>
            <a:pPr algn="ctr"/>
            <a:r>
              <a:rPr sz="900" b="0">
                <a:solidFill>
                  <a:srgbClr val="FFB34D"/>
                </a:solidFill>
                <a:latin typeface="微软雅黑"/>
              </a:rPr>
              <a:t>— 多维度数据汇总表</a:t>
            </a:r>
          </a:p>
          <a:p>
            <a:pPr algn="ctr"/>
            <a:r>
              <a:rPr sz="900" b="0">
                <a:solidFill>
                  <a:srgbClr val="FFB34D"/>
                </a:solidFill>
                <a:latin typeface="微软雅黑"/>
              </a:rPr>
              <a:t>— 风险评分明细</a:t>
            </a:r>
          </a:p>
          <a:p>
            <a:pPr algn="ctr"/>
            <a:r>
              <a:rPr sz="900" b="0">
                <a:solidFill>
                  <a:srgbClr val="FFB34D"/>
                </a:solidFill>
                <a:latin typeface="微软雅黑"/>
              </a:rPr>
              <a:t>— 合规检查项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3657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3000" b="1">
                <a:solidFill>
                  <a:srgbClr val="1F2A44"/>
                </a:solidFill>
                <a:latin typeface="微软雅黑"/>
              </a:rPr>
              <a:t>AI Product X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05840"/>
            <a:ext cx="3657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800" b="1">
                <a:solidFill>
                  <a:srgbClr val="B8A96E"/>
                </a:solidFill>
                <a:latin typeface="微软雅黑"/>
              </a:rPr>
              <a:t>为软件全流程赋能</a:t>
            </a:r>
          </a:p>
          <a:p>
            <a:pPr algn="l"/>
            <a:r>
              <a:rPr sz="1800" b="1">
                <a:solidFill>
                  <a:srgbClr val="B8A96E"/>
                </a:solidFill>
                <a:latin typeface="微软雅黑"/>
              </a:rPr>
              <a:t>实现降本增效与加速创新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194560"/>
            <a:ext cx="3657600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100" b="0">
                <a:solidFill>
                  <a:srgbClr val="1F2A44"/>
                </a:solidFill>
                <a:latin typeface="微软雅黑"/>
              </a:rPr>
              <a:t>AI PRODUCT X智能辅助平台，利用AI技术重塑软件开发生命周期(SDLC)的每一个环节，通过需求智能化、开发智能化、测试智能化、运维智能化保障交付付质量，加速业务价值实现。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206240" y="365760"/>
            <a:ext cx="75895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2000" b="1">
                <a:solidFill>
                  <a:srgbClr val="3EA7E6"/>
                </a:solidFill>
                <a:latin typeface="微软雅黑"/>
              </a:rPr>
              <a:t>解决方案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0" y="868680"/>
            <a:ext cx="758952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1F2A44"/>
                </a:solidFill>
                <a:latin typeface="微软雅黑"/>
              </a:rPr>
              <a:t>AI4SE(AI for Software Engineering)：是以大模型等AI技术为驱动，以提高软件研发运营智能化水平为导向，以提质增效为目标的新一代智能化软件工程。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0" y="1554480"/>
            <a:ext cx="1417320" cy="32004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智能化水平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554480"/>
            <a:ext cx="1417320" cy="32004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应用成熟度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1554480"/>
            <a:ext cx="1417320" cy="32004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应用成效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920240"/>
            <a:ext cx="12344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应用能力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920240"/>
            <a:ext cx="1234440" cy="320040"/>
          </a:xfrm>
          <a:prstGeom prst="rect">
            <a:avLst/>
          </a:prstGeom>
          <a:solidFill>
            <a:srgbClr val="3EA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智能项目管理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1920240"/>
            <a:ext cx="1234440" cy="320040"/>
          </a:xfrm>
          <a:prstGeom prst="rect">
            <a:avLst/>
          </a:prstGeom>
          <a:solidFill>
            <a:srgbClr val="2EA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智能需求设计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920240"/>
            <a:ext cx="1234440" cy="320040"/>
          </a:xfrm>
          <a:prstGeom prst="rect">
            <a:avLst/>
          </a:prstGeom>
          <a:solidFill>
            <a:srgbClr val="2EA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智能开发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0" y="1920240"/>
            <a:ext cx="1234440" cy="320040"/>
          </a:xfrm>
          <a:prstGeom prst="rect">
            <a:avLst/>
          </a:prstGeom>
          <a:solidFill>
            <a:srgbClr val="2EA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智能测试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0" y="1920240"/>
            <a:ext cx="1234440" cy="320040"/>
          </a:xfrm>
          <a:prstGeom prst="rect">
            <a:avLst/>
          </a:prstGeom>
          <a:solidFill>
            <a:srgbClr val="3EA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部署和运维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2267712"/>
            <a:ext cx="1234440" cy="1554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平台</a:t>
            </a:r>
          </a:p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工具</a:t>
            </a:r>
          </a:p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能力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267712"/>
            <a:ext cx="1234440" cy="274320"/>
          </a:xfrm>
          <a:prstGeom prst="rect">
            <a:avLst/>
          </a:prstGeom>
          <a:solidFill>
            <a:srgbClr val="6A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知识库能力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2267712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需求分析能力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2267712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代码生成能力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26880" y="2267712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测试分析能力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07040" y="2267712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配置生成能力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578608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流程调度能力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2578608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需求生成能力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2578608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代码补全能力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0" y="2578608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测试用例生成能力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0" y="2578608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代码检测能力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2889504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质量管理能力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2889504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架构设计能力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2889504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单测能力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2889504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测试脚本生成能力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2889504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智能监控能力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3200400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效能分析能力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200400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UI/接口设计能力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3200400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代码注释能力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26880" y="3200400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智能测试能力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07040" y="3200400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SQL脚本生成能力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3511296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过程检查能力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66560" y="3511296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评审检查能力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3511296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编码辅助能力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26880" y="3511296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缺陷分析能力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607040" y="3511296"/>
            <a:ext cx="1234440" cy="27432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</a:rPr>
              <a:t>故障分析/纠正能力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5394960"/>
            <a:ext cx="384048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3EA7E6"/>
                </a:solidFill>
                <a:latin typeface="微软雅黑"/>
              </a:rPr>
              <a:t>•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Agent首页功能完成：</a:t>
            </a:r>
            <a:r>
              <a:rPr sz="900" b="0" i="0">
                <a:solidFill>
                  <a:srgbClr val="1F2A44"/>
                </a:solidFill>
                <a:latin typeface="微软雅黑"/>
              </a:rPr>
              <a:t>实现Agent模块首页，提供关键数据概览与核心功能入口，提升操作便捷性。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5394960"/>
            <a:ext cx="384048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3EA7E6"/>
                </a:solidFill>
                <a:latin typeface="微软雅黑"/>
              </a:rPr>
              <a:t>•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技术方案Agent对话历史快速操作与导航：</a:t>
            </a:r>
            <a:r>
              <a:rPr sz="900" b="0" i="0">
                <a:solidFill>
                  <a:srgbClr val="1F2A44"/>
                </a:solidFill>
                <a:latin typeface="微软雅黑"/>
              </a:rPr>
              <a:t>为技术方案Agent增加对话历史的快速操作（如删除、分享）及导航，优化用户交互效率。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6172200"/>
            <a:ext cx="384048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3EA7E6"/>
                </a:solidFill>
                <a:latin typeface="微软雅黑"/>
              </a:rPr>
              <a:t>•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Subtask Agent对话历史快速操作与导航：</a:t>
            </a:r>
            <a:r>
              <a:rPr sz="900" b="0" i="0">
                <a:solidFill>
                  <a:srgbClr val="1F2A44"/>
                </a:solidFill>
                <a:latin typeface="微软雅黑"/>
              </a:rPr>
              <a:t>为Subtask Agent同步实现对话历史的快速操作与导航功能，保持体验一致性。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6172200"/>
            <a:ext cx="384048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3EA7E6"/>
                </a:solidFill>
                <a:latin typeface="微软雅黑"/>
              </a:rPr>
              <a:t>•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历史记录跳转功能：</a:t>
            </a:r>
            <a:r>
              <a:rPr sz="900" b="0" i="0">
                <a:solidFill>
                  <a:srgbClr val="1F2A44"/>
                </a:solidFill>
                <a:latin typeface="微软雅黑"/>
              </a:rPr>
              <a:t>支持从历史记录列表直接跳转到对应对话详情，减少操作步骤，提升导航效率。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2800" b="1">
                <a:solidFill>
                  <a:srgbClr val="1F2A44"/>
                </a:solidFill>
                <a:latin typeface="微软雅黑"/>
              </a:rPr>
              <a:t>我们的AI赋能开发蓝图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/>
              </a:rPr>
              <a:t>从协同到自主——研发效能成熟度四级跃迁模型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9509760" cy="2743200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100" b="0">
                <a:solidFill>
                  <a:srgbClr val="202020"/>
                </a:solidFill>
                <a:latin typeface="微软雅黑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457200" cy="2560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AI</a:t>
            </a:r>
          </a:p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×</a:t>
            </a:r>
          </a:p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效能</a:t>
            </a:r>
          </a:p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371600"/>
            <a:ext cx="12801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1F2A44"/>
                </a:solidFill>
                <a:latin typeface="微软雅黑"/>
              </a:rPr>
              <a:t>四阶级实践演进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1325880"/>
            <a:ext cx="411480" cy="41148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L0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1371600"/>
            <a:ext cx="1828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1F2A44"/>
                </a:solidFill>
                <a:latin typeface="微软雅黑"/>
              </a:rPr>
              <a:t>人工开发</a:t>
            </a:r>
          </a:p>
        </p:txBody>
      </p:sp>
      <p:sp>
        <p:nvSpPr>
          <p:cNvPr id="9" name="Oval 8"/>
          <p:cNvSpPr/>
          <p:nvPr/>
        </p:nvSpPr>
        <p:spPr>
          <a:xfrm>
            <a:off x="2743200" y="1325880"/>
            <a:ext cx="411480" cy="411480"/>
          </a:xfrm>
          <a:prstGeom prst="ellipse">
            <a:avLst/>
          </a:prstGeom>
          <a:solidFill>
            <a:srgbClr val="0B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L1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371600"/>
            <a:ext cx="1828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1F2A44"/>
                </a:solidFill>
                <a:latin typeface="微软雅黑"/>
              </a:rPr>
              <a:t>AI辅助（Copilot）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0" y="1325880"/>
            <a:ext cx="411480" cy="411480"/>
          </a:xfrm>
          <a:prstGeom prst="ellipse">
            <a:avLst/>
          </a:prstGeom>
          <a:solidFill>
            <a:srgbClr val="E5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L2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371600"/>
            <a:ext cx="1828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1F2A44"/>
                </a:solidFill>
                <a:latin typeface="微软雅黑"/>
              </a:rPr>
              <a:t>AI协同（Agent）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0" y="1325880"/>
            <a:ext cx="411480" cy="411480"/>
          </a:xfrm>
          <a:prstGeom prst="ellipse">
            <a:avLst/>
          </a:prstGeom>
          <a:solidFill>
            <a:srgbClr val="E28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L3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371600"/>
            <a:ext cx="18288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1F2A44"/>
                </a:solidFill>
                <a:latin typeface="微软雅黑"/>
              </a:rPr>
              <a:t>AI自主（Agentic）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1828800"/>
            <a:ext cx="1371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1F2A44"/>
                </a:solidFill>
                <a:latin typeface="微软雅黑"/>
              </a:rPr>
              <a:t>组织级 效能提升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1874519"/>
            <a:ext cx="640080" cy="320040"/>
          </a:xfrm>
          <a:prstGeom prst="rect">
            <a:avLst/>
          </a:prstGeom>
          <a:solidFill>
            <a:srgbClr val="CFE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1F2A44"/>
                </a:solidFill>
                <a:latin typeface="微软雅黑"/>
              </a:rPr>
              <a:t>精益提效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1874519"/>
            <a:ext cx="5120640" cy="320040"/>
          </a:xfrm>
          <a:prstGeom prst="rect">
            <a:avLst/>
          </a:prstGeom>
          <a:solidFill>
            <a:srgbClr val="0B2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AI First/AI Ready研发组织转型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874519"/>
            <a:ext cx="1554480" cy="320040"/>
          </a:xfrm>
          <a:prstGeom prst="rect">
            <a:avLst/>
          </a:prstGeom>
          <a:solidFill>
            <a:srgbClr val="CFE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1F2A44"/>
                </a:solidFill>
                <a:latin typeface="微软雅黑"/>
              </a:rPr>
              <a:t>AI Native研发组织转型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286000"/>
            <a:ext cx="1371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1F2A44"/>
                </a:solidFill>
                <a:latin typeface="微软雅黑"/>
              </a:rPr>
              <a:t>团队级 研发模式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2331720"/>
            <a:ext cx="640080" cy="320040"/>
          </a:xfrm>
          <a:prstGeom prst="rect">
            <a:avLst/>
          </a:prstGeom>
          <a:solidFill>
            <a:srgbClr val="CFE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1F2A44"/>
                </a:solidFill>
                <a:latin typeface="微软雅黑"/>
              </a:rPr>
              <a:t>敏捷开发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2331720"/>
            <a:ext cx="2468880" cy="320040"/>
          </a:xfrm>
          <a:prstGeom prst="rect">
            <a:avLst/>
          </a:prstGeom>
          <a:solidFill>
            <a:srgbClr val="0B2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AI增强型 敏捷开发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331720"/>
            <a:ext cx="2560320" cy="320040"/>
          </a:xfrm>
          <a:prstGeom prst="rect">
            <a:avLst/>
          </a:prstGeom>
          <a:solidFill>
            <a:srgbClr val="0B2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AI驱动型 敏捷开发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2331720"/>
            <a:ext cx="1554480" cy="320040"/>
          </a:xfrm>
          <a:prstGeom prst="rect">
            <a:avLst/>
          </a:prstGeom>
          <a:solidFill>
            <a:srgbClr val="CFE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1F2A44"/>
                </a:solidFill>
                <a:latin typeface="微软雅黑"/>
              </a:rPr>
              <a:t>AI Native开发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2743200"/>
            <a:ext cx="1371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1F2A44"/>
                </a:solidFill>
                <a:latin typeface="微软雅黑"/>
              </a:rPr>
              <a:t>个人级 开发方法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2788920"/>
            <a:ext cx="640080" cy="320040"/>
          </a:xfrm>
          <a:prstGeom prst="rect">
            <a:avLst/>
          </a:prstGeom>
          <a:solidFill>
            <a:srgbClr val="CFE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1F2A44"/>
                </a:solidFill>
                <a:latin typeface="微软雅黑"/>
              </a:rPr>
              <a:t>标准开发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788920"/>
            <a:ext cx="2468880" cy="320040"/>
          </a:xfrm>
          <a:prstGeom prst="rect">
            <a:avLst/>
          </a:prstGeom>
          <a:solidFill>
            <a:srgbClr val="0B2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AI辅助编码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77840" y="2788920"/>
            <a:ext cx="2560320" cy="320040"/>
          </a:xfrm>
          <a:prstGeom prst="rect">
            <a:avLst/>
          </a:prstGeom>
          <a:solidFill>
            <a:srgbClr val="0B2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AI辅助/协同开发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2788920"/>
            <a:ext cx="1554480" cy="320040"/>
          </a:xfrm>
          <a:prstGeom prst="rect">
            <a:avLst/>
          </a:prstGeom>
          <a:solidFill>
            <a:srgbClr val="CFE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1F2A44"/>
                </a:solidFill>
                <a:latin typeface="微软雅黑"/>
              </a:rPr>
              <a:t>AI自主开发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12680" y="1325880"/>
            <a:ext cx="4572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900" b="0">
                <a:solidFill>
                  <a:srgbClr val="1F2A44"/>
                </a:solidFill>
                <a:latin typeface="微软雅黑"/>
              </a:rPr>
              <a:t>报告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1325880"/>
            <a:ext cx="1463040" cy="365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0">
                <a:solidFill>
                  <a:srgbClr val="1F2A44"/>
                </a:solidFill>
                <a:latin typeface="微软雅黑"/>
              </a:rPr>
              <a:t>效能洞察报告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12680" y="1783080"/>
            <a:ext cx="4572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900" b="0">
                <a:solidFill>
                  <a:srgbClr val="1F2A44"/>
                </a:solidFill>
                <a:latin typeface="微软雅黑"/>
              </a:rPr>
              <a:t>模型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1783080"/>
            <a:ext cx="1463040" cy="365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0">
                <a:solidFill>
                  <a:srgbClr val="1F2A44"/>
                </a:solidFill>
                <a:latin typeface="微软雅黑"/>
              </a:rPr>
              <a:t>研发效能 模型</a:t>
            </a:r>
          </a:p>
          <a:p>
            <a:pPr algn="ctr"/>
            <a:r>
              <a:rPr sz="800" b="0">
                <a:solidFill>
                  <a:srgbClr val="1F2A44"/>
                </a:solidFill>
                <a:latin typeface="微软雅黑"/>
              </a:rPr>
              <a:t>AI研发成熟度 模型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2680" y="2286000"/>
            <a:ext cx="4572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900" b="0">
                <a:solidFill>
                  <a:srgbClr val="1F2A44"/>
                </a:solidFill>
                <a:latin typeface="微软雅黑"/>
              </a:rPr>
              <a:t>指标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515600" y="2286000"/>
            <a:ext cx="731520" cy="1280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0">
                <a:solidFill>
                  <a:srgbClr val="1F2A44"/>
                </a:solidFill>
                <a:latin typeface="微软雅黑"/>
              </a:rPr>
              <a:t>需求交付</a:t>
            </a:r>
          </a:p>
          <a:p>
            <a:pPr algn="ctr"/>
            <a:r>
              <a:rPr sz="800" b="0">
                <a:solidFill>
                  <a:srgbClr val="1F2A44"/>
                </a:solidFill>
                <a:latin typeface="微软雅黑"/>
              </a:rPr>
              <a:t>开发效率</a:t>
            </a:r>
          </a:p>
          <a:p>
            <a:pPr algn="ctr"/>
            <a:r>
              <a:rPr sz="800" b="0">
                <a:solidFill>
                  <a:srgbClr val="1F2A44"/>
                </a:solidFill>
                <a:latin typeface="微软雅黑"/>
              </a:rPr>
              <a:t>工程效率</a:t>
            </a:r>
          </a:p>
          <a:p>
            <a:pPr algn="ctr"/>
            <a:r>
              <a:rPr sz="800" b="0">
                <a:solidFill>
                  <a:srgbClr val="1F2A44"/>
                </a:solidFill>
                <a:latin typeface="微软雅黑"/>
              </a:rPr>
              <a:t>……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47120" y="2286000"/>
            <a:ext cx="731520" cy="1280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0">
                <a:solidFill>
                  <a:srgbClr val="1F2A44"/>
                </a:solidFill>
                <a:latin typeface="微软雅黑"/>
              </a:rPr>
              <a:t>组织级</a:t>
            </a:r>
          </a:p>
          <a:p>
            <a:pPr algn="ctr"/>
            <a:r>
              <a:rPr sz="800" b="0">
                <a:solidFill>
                  <a:srgbClr val="1F2A44"/>
                </a:solidFill>
                <a:latin typeface="微软雅黑"/>
              </a:rPr>
              <a:t>业务线级</a:t>
            </a:r>
          </a:p>
          <a:p>
            <a:pPr algn="ctr"/>
            <a:r>
              <a:rPr sz="800" b="0">
                <a:solidFill>
                  <a:srgbClr val="1F2A44"/>
                </a:solidFill>
                <a:latin typeface="微软雅黑"/>
              </a:rPr>
              <a:t>团队级</a:t>
            </a:r>
          </a:p>
          <a:p>
            <a:pPr algn="ctr"/>
            <a:r>
              <a:rPr sz="800" b="0">
                <a:solidFill>
                  <a:srgbClr val="1F2A44"/>
                </a:solidFill>
                <a:latin typeface="微软雅黑"/>
              </a:rPr>
              <a:t>个人级</a:t>
            </a:r>
          </a:p>
          <a:p>
            <a:pPr algn="ctr"/>
            <a:r>
              <a:rPr sz="800" b="0">
                <a:solidFill>
                  <a:srgbClr val="1F2A44"/>
                </a:solidFill>
                <a:latin typeface="微软雅黑"/>
              </a:rPr>
              <a:t>……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114800"/>
            <a:ext cx="11430000" cy="26060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100" b="0">
                <a:solidFill>
                  <a:srgbClr val="202020"/>
                </a:solidFill>
                <a:latin typeface="微软雅黑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06240"/>
            <a:ext cx="457200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AI</a:t>
            </a:r>
          </a:p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×</a:t>
            </a:r>
          </a:p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效能</a:t>
            </a:r>
          </a:p>
          <a:p>
            <a:pPr algn="ctr"/>
            <a:r>
              <a:rPr sz="1000" b="1">
                <a:solidFill>
                  <a:srgbClr val="1F2A44"/>
                </a:solidFill>
                <a:latin typeface="微软雅黑"/>
              </a:rPr>
              <a:t>平台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160520"/>
            <a:ext cx="1371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16BD0"/>
                </a:solidFill>
                <a:latin typeface="微软雅黑"/>
              </a:rPr>
              <a:t>ProductX</a:t>
            </a:r>
          </a:p>
          <a:p>
            <a:pPr algn="l"/>
            <a:r>
              <a:rPr sz="1000" b="1">
                <a:solidFill>
                  <a:srgbClr val="216BD0"/>
                </a:solidFill>
                <a:latin typeface="微软雅黑"/>
              </a:rPr>
              <a:t>智能效率平台</a:t>
            </a:r>
          </a:p>
        </p:txBody>
      </p:sp>
      <p:sp>
        <p:nvSpPr>
          <p:cNvPr id="39" name="Chevron 38"/>
          <p:cNvSpPr/>
          <p:nvPr/>
        </p:nvSpPr>
        <p:spPr>
          <a:xfrm>
            <a:off x="2377440" y="4206240"/>
            <a:ext cx="1280160" cy="365760"/>
          </a:xfrm>
          <a:prstGeom prst="chevron">
            <a:avLst/>
          </a:prstGeom>
          <a:solidFill>
            <a:srgbClr val="E28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需求阶段</a:t>
            </a:r>
          </a:p>
        </p:txBody>
      </p:sp>
      <p:sp>
        <p:nvSpPr>
          <p:cNvPr id="40" name="Chevron 39"/>
          <p:cNvSpPr/>
          <p:nvPr/>
        </p:nvSpPr>
        <p:spPr>
          <a:xfrm>
            <a:off x="3566160" y="4206240"/>
            <a:ext cx="2377440" cy="365760"/>
          </a:xfrm>
          <a:prstGeom prst="chevron">
            <a:avLst/>
          </a:prstGeom>
          <a:solidFill>
            <a:srgbClr val="E28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开发阶段</a:t>
            </a:r>
          </a:p>
        </p:txBody>
      </p:sp>
      <p:sp>
        <p:nvSpPr>
          <p:cNvPr id="41" name="Chevron 40"/>
          <p:cNvSpPr/>
          <p:nvPr/>
        </p:nvSpPr>
        <p:spPr>
          <a:xfrm>
            <a:off x="5852160" y="4206240"/>
            <a:ext cx="1280160" cy="365760"/>
          </a:xfrm>
          <a:prstGeom prst="chevron">
            <a:avLst/>
          </a:prstGeom>
          <a:solidFill>
            <a:srgbClr val="E28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测试阶段</a:t>
            </a:r>
          </a:p>
        </p:txBody>
      </p:sp>
      <p:sp>
        <p:nvSpPr>
          <p:cNvPr id="42" name="Chevron 41"/>
          <p:cNvSpPr/>
          <p:nvPr/>
        </p:nvSpPr>
        <p:spPr>
          <a:xfrm>
            <a:off x="7040880" y="4206240"/>
            <a:ext cx="1554480" cy="365760"/>
          </a:xfrm>
          <a:prstGeom prst="chevron">
            <a:avLst/>
          </a:prstGeom>
          <a:solidFill>
            <a:srgbClr val="E28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集成&amp;发布阶段</a:t>
            </a:r>
          </a:p>
        </p:txBody>
      </p:sp>
      <p:sp>
        <p:nvSpPr>
          <p:cNvPr id="43" name="Chevron 42"/>
          <p:cNvSpPr/>
          <p:nvPr/>
        </p:nvSpPr>
        <p:spPr>
          <a:xfrm>
            <a:off x="8503920" y="4206240"/>
            <a:ext cx="1280160" cy="365760"/>
          </a:xfrm>
          <a:prstGeom prst="chevron">
            <a:avLst/>
          </a:prstGeom>
          <a:solidFill>
            <a:srgbClr val="E28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运维阶段</a:t>
            </a:r>
          </a:p>
        </p:txBody>
      </p:sp>
      <p:sp>
        <p:nvSpPr>
          <p:cNvPr id="44" name="Chevron 43"/>
          <p:cNvSpPr/>
          <p:nvPr/>
        </p:nvSpPr>
        <p:spPr>
          <a:xfrm>
            <a:off x="9692640" y="4206240"/>
            <a:ext cx="1737360" cy="365760"/>
          </a:xfrm>
          <a:prstGeom prst="chevron">
            <a:avLst/>
          </a:prstGeom>
          <a:solidFill>
            <a:srgbClr val="E28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度量与改进阶段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4709160"/>
            <a:ext cx="1371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1F2A44"/>
                </a:solidFill>
                <a:latin typeface="微软雅黑"/>
              </a:rPr>
              <a:t>AI能力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77440" y="4709160"/>
            <a:ext cx="6766560" cy="320040"/>
          </a:xfrm>
          <a:prstGeom prst="rect">
            <a:avLst/>
          </a:prstGeom>
          <a:solidFill>
            <a:srgbClr val="0B2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Native交付流（Flow）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4709160"/>
            <a:ext cx="1371600" cy="320040"/>
          </a:xfrm>
          <a:prstGeom prst="rect">
            <a:avLst/>
          </a:prstGeom>
          <a:solidFill>
            <a:srgbClr val="0B2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</a:rPr>
              <a:t>On Call/运维 Agent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98480" y="4709160"/>
            <a:ext cx="1097280" cy="320040"/>
          </a:xfrm>
          <a:prstGeom prst="rect">
            <a:avLst/>
          </a:prstGeom>
          <a:solidFill>
            <a:srgbClr val="0B2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</a:rPr>
              <a:t>度量Agent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5074920"/>
            <a:ext cx="36576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1F2A44"/>
                </a:solidFill>
                <a:latin typeface="微软雅黑"/>
              </a:rPr>
              <a:t>需求&amp;技术设计Agent   Code Agent   CR Agent   UT Agent   ……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5074920"/>
            <a:ext cx="13716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1F2A44"/>
                </a:solidFill>
                <a:latin typeface="微软雅黑"/>
              </a:rPr>
              <a:t>测试Agent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589520" y="5074920"/>
            <a:ext cx="155448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1F2A44"/>
                </a:solidFill>
                <a:latin typeface="微软雅黑"/>
              </a:rPr>
              <a:t>研发流程Agent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5486400"/>
            <a:ext cx="1371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1F2A44"/>
                </a:solidFill>
                <a:latin typeface="微软雅黑"/>
              </a:rPr>
              <a:t>研发</a:t>
            </a:r>
          </a:p>
          <a:p>
            <a:pPr algn="l"/>
            <a:r>
              <a:rPr sz="1000" b="1">
                <a:solidFill>
                  <a:srgbClr val="1F2A44"/>
                </a:solidFill>
                <a:latin typeface="微软雅黑"/>
              </a:rPr>
              <a:t>工具链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377440" y="5486400"/>
            <a:ext cx="1280160" cy="64008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协作平台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ProductX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0" y="5486400"/>
            <a:ext cx="5486400" cy="32004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多端交付平台：ProductX-Web/Lingma-Desktop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0" y="5806440"/>
            <a:ext cx="5486400" cy="32004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质量平台：ProductX-Test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35440" y="5486400"/>
            <a:ext cx="1371600" cy="64008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</a:rPr>
              <a:t>运维平台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微软雅黑"/>
              </a:rPr>
              <a:t>ProductX-Ops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698480" y="5486400"/>
            <a:ext cx="1097280" cy="64008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</a:rPr>
              <a:t>度量平台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6263640"/>
            <a:ext cx="1371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1F2A44"/>
                </a:solidFill>
                <a:latin typeface="微软雅黑"/>
              </a:rPr>
              <a:t>AI底座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377440" y="6263640"/>
            <a:ext cx="9418320" cy="365760"/>
          </a:xfrm>
          <a:prstGeom prst="rect">
            <a:avLst/>
          </a:prstGeom>
          <a:solidFill>
            <a:srgbClr val="0B2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Qwen模型（研发数据、Agent记忆与自学系统）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300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2600" b="1">
                <a:solidFill>
                  <a:srgbClr val="1F2A44"/>
                </a:solidFill>
                <a:latin typeface="微软雅黑"/>
              </a:rPr>
              <a:t>AI 技术能力矩阵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77240"/>
            <a:ext cx="5303520" cy="365760"/>
          </a:xfrm>
          <a:prstGeom prst="rect">
            <a:avLst/>
          </a:prstGeom>
          <a:solidFill>
            <a:srgbClr val="216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🧠  大语言模型层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777240"/>
            <a:ext cx="6035040" cy="365760"/>
          </a:xfrm>
          <a:prstGeom prst="rect">
            <a:avLst/>
          </a:prstGeom>
          <a:solidFill>
            <a:srgbClr val="6A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⚙  Agent 开发与编排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OpenAI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3120" y="118872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deepseek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8872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Ollama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通义千问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69164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文心一言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69164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Gemini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9456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Azure OpenAI Service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19456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aws Bedrock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19456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智谱·AI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9748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Hugging Face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269748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OpenLLM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2697480"/>
            <a:ext cx="1691639" cy="457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2A44"/>
                </a:solidFill>
                <a:latin typeface="微软雅黑"/>
              </a:rPr>
              <a:t>01.AI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1188720"/>
            <a:ext cx="1965960" cy="274320"/>
          </a:xfrm>
          <a:prstGeom prst="rect">
            <a:avLst/>
          </a:prstGeom>
          <a:solidFill>
            <a:srgbClr val="E86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框架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1188720"/>
            <a:ext cx="1965960" cy="274320"/>
          </a:xfrm>
          <a:prstGeom prst="rect">
            <a:avLst/>
          </a:prstGeom>
          <a:solidFill>
            <a:srgbClr val="E86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平台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80" y="1188720"/>
            <a:ext cx="1965960" cy="274320"/>
          </a:xfrm>
          <a:prstGeom prst="rect">
            <a:avLst/>
          </a:prstGeom>
          <a:solidFill>
            <a:srgbClr val="E86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协议/观测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720" y="150876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6A3DA8"/>
                </a:solidFill>
                <a:latin typeface="微软雅黑"/>
              </a:rPr>
              <a:t>▸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LangChain / LangGraph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链式·记忆·工具调用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201168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6A3DA8"/>
                </a:solidFill>
                <a:latin typeface="微软雅黑"/>
              </a:rPr>
              <a:t>▸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AutoGen (微软)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多Agent对话协作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251460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6A3DA8"/>
                </a:solidFill>
                <a:latin typeface="微软雅黑"/>
              </a:rPr>
              <a:t>▸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CrewAI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角色Agent·任务分派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301752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6A3DA8"/>
                </a:solidFill>
                <a:latin typeface="微软雅黑"/>
              </a:rPr>
              <a:t>▸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Semantic Kernel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企业级·插件架构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150876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6A3DA8"/>
                </a:solidFill>
                <a:latin typeface="微软雅黑"/>
              </a:rPr>
              <a:t>▸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智擎（凯捷）/Dify / Coze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可视化编排·企业Bot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201168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6A3DA8"/>
                </a:solidFill>
                <a:latin typeface="微软雅黑"/>
              </a:rPr>
              <a:t>▸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钉钉 AI / 飞书 AI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企微集成·办公自动化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251460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6A3DA8"/>
                </a:solidFill>
                <a:latin typeface="微软雅黑"/>
              </a:rPr>
              <a:t>▸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阿里云百炼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DashScope·ModelScope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301752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6A3DA8"/>
                </a:solidFill>
                <a:latin typeface="微软雅黑"/>
              </a:rPr>
              <a:t>▸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百度智能体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文心·知识库集成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150876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6A3DA8"/>
                </a:solidFill>
                <a:latin typeface="微软雅黑"/>
              </a:rPr>
              <a:t>▸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MCP (Model Context)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Anthropic·工具互操作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0" y="201168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6A3DA8"/>
                </a:solidFill>
                <a:latin typeface="微软雅黑"/>
              </a:rPr>
              <a:t>▸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Function Calling / A2A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OpenAI·Google标准接口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84080" y="251460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6A3DA8"/>
                </a:solidFill>
                <a:latin typeface="微软雅黑"/>
              </a:rPr>
              <a:t>▸ </a:t>
            </a:r>
            <a:r>
              <a:rPr sz="1000" b="1" i="0">
                <a:solidFill>
                  <a:srgbClr val="1F2A44"/>
                </a:solidFill>
                <a:latin typeface="微软雅黑"/>
              </a:rPr>
              <a:t>LangSmith / Helicone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调用追踪·成本分析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11880"/>
            <a:ext cx="6217920" cy="320040"/>
          </a:xfrm>
          <a:prstGeom prst="rect">
            <a:avLst/>
          </a:prstGeom>
          <a:solidFill>
            <a:srgbClr val="2C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💻  AI 开发工具 &amp; 编码助手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611880"/>
            <a:ext cx="5120640" cy="320040"/>
          </a:xfrm>
          <a:prstGeom prst="rect">
            <a:avLst/>
          </a:prstGeom>
          <a:solidFill>
            <a:srgbClr val="2C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📊  MLOps · 评测 · 观测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977639"/>
            <a:ext cx="1197863" cy="777240"/>
          </a:xfrm>
          <a:prstGeom prst="rect">
            <a:avLst/>
          </a:prstGeom>
          <a:solidFill>
            <a:srgbClr val="EC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1F2A44"/>
                </a:solidFill>
                <a:latin typeface="微软雅黑"/>
              </a:rPr>
              <a:t>GitHub Copilot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代码补全·单元测试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09343" y="3977639"/>
            <a:ext cx="1197863" cy="777240"/>
          </a:xfrm>
          <a:prstGeom prst="rect">
            <a:avLst/>
          </a:prstGeom>
          <a:solidFill>
            <a:srgbClr val="EC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1F2A44"/>
                </a:solidFill>
                <a:latin typeface="微软雅黑"/>
              </a:rPr>
              <a:t>Cursor / windsurf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AI IDE·整文件重构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52927" y="3977639"/>
            <a:ext cx="1197863" cy="777240"/>
          </a:xfrm>
          <a:prstGeom prst="rect">
            <a:avLst/>
          </a:prstGeom>
          <a:solidFill>
            <a:srgbClr val="EC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1F2A44"/>
                </a:solidFill>
                <a:latin typeface="微软雅黑"/>
              </a:rPr>
              <a:t>Claude (CLI)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全栈·架构设计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96512" y="3977639"/>
            <a:ext cx="1197863" cy="777240"/>
          </a:xfrm>
          <a:prstGeom prst="rect">
            <a:avLst/>
          </a:prstGeom>
          <a:solidFill>
            <a:srgbClr val="EC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1F2A44"/>
                </a:solidFill>
                <a:latin typeface="微软雅黑"/>
              </a:rPr>
              <a:t>Codex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来自OpenAI·goal命令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0096" y="3977639"/>
            <a:ext cx="1197863" cy="777240"/>
          </a:xfrm>
          <a:prstGeom prst="rect">
            <a:avLst/>
          </a:prstGeom>
          <a:solidFill>
            <a:srgbClr val="EC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1F2A44"/>
                </a:solidFill>
                <a:latin typeface="微软雅黑"/>
              </a:rPr>
              <a:t>Lingma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国内合规·阿里系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3977639"/>
            <a:ext cx="978407" cy="777240"/>
          </a:xfrm>
          <a:prstGeom prst="rect">
            <a:avLst/>
          </a:prstGeom>
          <a:solidFill>
            <a:srgbClr val="EC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1F2A44"/>
                </a:solidFill>
                <a:latin typeface="微软雅黑"/>
              </a:rPr>
              <a:t>vLLM / Ollama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高吞吐推理·本地部署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99248" y="3977639"/>
            <a:ext cx="978407" cy="777240"/>
          </a:xfrm>
          <a:prstGeom prst="rect">
            <a:avLst/>
          </a:prstGeom>
          <a:solidFill>
            <a:srgbClr val="EC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1F2A44"/>
                </a:solidFill>
                <a:latin typeface="微软雅黑"/>
              </a:rPr>
              <a:t>Axolotl / TRL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分布式训练·RLHF/DPO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23376" y="3977639"/>
            <a:ext cx="978407" cy="777240"/>
          </a:xfrm>
          <a:prstGeom prst="rect">
            <a:avLst/>
          </a:prstGeom>
          <a:solidFill>
            <a:srgbClr val="EC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1F2A44"/>
                </a:solidFill>
                <a:latin typeface="微软雅黑"/>
              </a:rPr>
              <a:t>LM Arena / LMSYS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开源模型评测基准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47504" y="3977639"/>
            <a:ext cx="978407" cy="777240"/>
          </a:xfrm>
          <a:prstGeom prst="rect">
            <a:avLst/>
          </a:prstGeom>
          <a:solidFill>
            <a:srgbClr val="EC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1F2A44"/>
                </a:solidFill>
                <a:latin typeface="微软雅黑"/>
              </a:rPr>
              <a:t>OpenCompass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国产评测·中文能力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771632" y="3977639"/>
            <a:ext cx="978407" cy="777240"/>
          </a:xfrm>
          <a:prstGeom prst="rect">
            <a:avLst/>
          </a:prstGeom>
          <a:solidFill>
            <a:srgbClr val="EC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1" i="0">
                <a:solidFill>
                  <a:srgbClr val="1F2A44"/>
                </a:solidFill>
                <a:latin typeface="微软雅黑"/>
              </a:rPr>
              <a:t>FlagEval</a:t>
            </a:r>
          </a:p>
          <a:p>
            <a:pPr algn="l"/>
            <a:r>
              <a:rPr sz="800" b="0" i="0">
                <a:solidFill>
                  <a:srgbClr val="555555"/>
                </a:solidFill>
                <a:latin typeface="微软雅黑"/>
              </a:rPr>
              <a:t>多维度·国产大模型评测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892040"/>
            <a:ext cx="11430000" cy="320040"/>
          </a:xfrm>
          <a:prstGeom prst="rect">
            <a:avLst/>
          </a:prstGeom>
          <a:solidFill>
            <a:srgbClr val="6A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🛠  AI 工程化实践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257800"/>
            <a:ext cx="1859280" cy="292608"/>
          </a:xfrm>
          <a:prstGeom prst="rect">
            <a:avLst/>
          </a:prstGeom>
          <a:solidFill>
            <a:srgbClr val="F2A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SDD · 规格驱动开发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550408"/>
            <a:ext cx="1859280" cy="685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形式化规格 → AI 精准生成代码</a:t>
            </a:r>
          </a:p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降低返工，0规格偏差交付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6263640"/>
            <a:ext cx="1859280" cy="411480"/>
          </a:xfrm>
          <a:prstGeom prst="rect">
            <a:avLst/>
          </a:prstGeom>
          <a:solidFill>
            <a:srgbClr val="F2A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FFFFFF"/>
                </a:solidFill>
                <a:latin typeface="微软雅黑"/>
              </a:rPr>
              <a:t>FSD → Code · 双向追溯 · AI Review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70760" y="5257800"/>
            <a:ext cx="1859280" cy="292608"/>
          </a:xfrm>
          <a:prstGeom prst="rect">
            <a:avLst/>
          </a:prstGeom>
          <a:solidFill>
            <a:srgbClr val="E2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TDD · 测试驱动 AI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70760" y="5550408"/>
            <a:ext cx="1859280" cy="685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AI 自动生成测试用例</a:t>
            </a:r>
          </a:p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覆盖边界条件，回归自动化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70760" y="6263640"/>
            <a:ext cx="1859280" cy="411480"/>
          </a:xfrm>
          <a:prstGeom prst="rect">
            <a:avLst/>
          </a:prstGeom>
          <a:solidFill>
            <a:srgbClr val="E2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FFFFFF"/>
                </a:solidFill>
                <a:latin typeface="微软雅黑"/>
              </a:rPr>
              <a:t>用例生成 · Mock 数据 · 变异测试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75760" y="5257800"/>
            <a:ext cx="1859280" cy="292608"/>
          </a:xfrm>
          <a:prstGeom prst="rect">
            <a:avLst/>
          </a:prstGeom>
          <a:solidFill>
            <a:srgbClr val="4F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MLOps · 模型运维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75760" y="5550408"/>
            <a:ext cx="1859280" cy="685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训练→部署→监控→迭代</a:t>
            </a:r>
          </a:p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全生命周期规模化管理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75760" y="6263640"/>
            <a:ext cx="1859280" cy="411480"/>
          </a:xfrm>
          <a:prstGeom prst="rect">
            <a:avLst/>
          </a:prstGeom>
          <a:solidFill>
            <a:srgbClr val="4F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FFFFFF"/>
                </a:solidFill>
                <a:latin typeface="微软雅黑"/>
              </a:rPr>
              <a:t>CI/CD for ML · A/B Testing · 漂移检测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5257800"/>
            <a:ext cx="1859280" cy="292608"/>
          </a:xfrm>
          <a:prstGeom prst="rect">
            <a:avLst/>
          </a:prstGeom>
          <a:solidFill>
            <a:srgbClr val="E09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Harness · 评测驱动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80760" y="5550408"/>
            <a:ext cx="1859280" cy="685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MMLU / HumanEval / MMLU-Pro</a:t>
            </a:r>
          </a:p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国产: OpenCompass / FlagEval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6263640"/>
            <a:ext cx="1859280" cy="411480"/>
          </a:xfrm>
          <a:prstGeom prst="rect">
            <a:avLst/>
          </a:prstGeom>
          <a:solidFill>
            <a:srgbClr val="E09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FFFFFF"/>
                </a:solidFill>
                <a:latin typeface="微软雅黑"/>
              </a:rPr>
              <a:t>能力评测 · 红队对抗 · 安全对齐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85760" y="5257800"/>
            <a:ext cx="1859280" cy="292608"/>
          </a:xfrm>
          <a:prstGeom prst="rect">
            <a:avLst/>
          </a:prstGeom>
          <a:solidFill>
            <a:srgbClr val="3A8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RAG · 检索增强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85760" y="5550408"/>
            <a:ext cx="1859280" cy="685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向量数据库 + 大模型</a:t>
            </a:r>
          </a:p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企业知识库问答事实增强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85760" y="6263640"/>
            <a:ext cx="1859280" cy="411480"/>
          </a:xfrm>
          <a:prstGeom prst="rect">
            <a:avLst/>
          </a:prstGeom>
          <a:solidFill>
            <a:srgbClr val="3A8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FFFFFF"/>
                </a:solidFill>
                <a:latin typeface="微软雅黑"/>
              </a:rPr>
              <a:t>Embedding · 向量检索 · 知识库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90760" y="5257800"/>
            <a:ext cx="1859280" cy="292608"/>
          </a:xfrm>
          <a:prstGeom prst="rect">
            <a:avLst/>
          </a:prstGeom>
          <a:solidFill>
            <a:srgbClr val="8E5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Agent · 自主编排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90760" y="5550408"/>
            <a:ext cx="1859280" cy="685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多步推理·工具调用</a:t>
            </a:r>
          </a:p>
          <a:p>
            <a:pPr algn="l"/>
            <a:r>
              <a:rPr sz="800" b="0">
                <a:solidFill>
                  <a:srgbClr val="1F2A44"/>
                </a:solidFill>
                <a:latin typeface="微软雅黑"/>
              </a:rPr>
              <a:t>ReAct / Plan-and-Execute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90760" y="6263640"/>
            <a:ext cx="1859280" cy="411480"/>
          </a:xfrm>
          <a:prstGeom prst="rect">
            <a:avLst/>
          </a:prstGeom>
          <a:solidFill>
            <a:srgbClr val="8E5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FFFFFF"/>
                </a:solidFill>
                <a:latin typeface="微软雅黑"/>
              </a:rPr>
              <a:t>ReAct · Tool Use · 记忆管理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01200" y="6675120"/>
            <a:ext cx="228600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r"/>
            <a:r>
              <a:rPr sz="800" b="0">
                <a:solidFill>
                  <a:srgbClr val="555555"/>
                </a:solidFill>
                <a:latin typeface="微软雅黑"/>
              </a:rPr>
              <a:t>Company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