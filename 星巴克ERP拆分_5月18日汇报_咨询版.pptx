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各位领导、各位同事,今天这场沟通,我想先把结论放在最前面。星巴克中国这次的 ERP 项目,本质不是换一套软件,而是在博裕入主之后,要在业务高速行驶的状态下,给中国区换上一台能够独立行军的引擎。汉得这类供应商比的是谁更会配软件,而凯捷想跟大家讲清楚的是,我们比的是在万店规模的餐饮零售里,真正做过这台引擎拆分的人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今天的沟通只回答一个问题,就是这件事为什么应该交给凯捷,我会用一条故事线、五幕来讲。核心主张是,星巴克要的不是换软件,而是博裕入主后让中国区能独立行军的技术底座,竞争维度因此要从谁会配 SAP 或者 Oracle,切换到谁真正做过万店餐饮零售的 ERP 分拆。五幕分别是读懂处境、点破真难点、我们做过、怎么控风险、下一步,整场大约三十五分钟,重点会落在第三幕的麦当劳案例上。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第一幕,我先用星巴克自己的事实,证明我们做过功课。这件事真正的难点不是选型,而是高速换引擎,二零二六年四月一日就要交割,业务一天都不能停。眼前有三个结构性约束加一道数据缺口,EBS 和北美共用同一个 Instance,拆的是一对连体；美方只给端口技术文档不给代码,不能直接平移,必须重建；十一个入向加二十二个出向接口只能靠 RFI 文档反推,文档质量就是最大的单点风险；再加上现有系统只覆盖到二零一三年,审计保留期还要和财务核实口径。同时我们也读懂了边界,本次切割范围内是 ERP、Hyperion、Anaplan 和主数据 HUB,而租赁系统、BOH、Rainbow 算法明确不碰。所以我们今天讲的是方法,不是卖货。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读懂处境之后,第二幕要点破真正的难点,这是一个分拆项目,不是一个实施项目。Oracle EBS 在星巴克中国是三位一体的存在,它既是财务核心,承载总账、应付、应收、固资这些法定账套和核算逻辑;又是集成枢纽,十一个入向加二十二个出向接口全靠它串联;还是主数据中心,通过 Oracle HUB 分发物料、供应商、门店和科目表。所以拆 ERP 等于拆整张蜘蛛网,真正的能力门槛是解耦。一句话,会配软件的供应商很多,做过这种规模分拆的,没几家。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那么凯捷凭什么说自己做过,这一幕是全场可信度的支点。我的讲法不是讲历史,而是讲星巴克现在的每一个风险,等于当年我们已经解过的题。EBS 与北美共用一个 Instance,对应的是麦当劳中国从 Global 分拆时共用 Instance 的拆分实操;美方只给文档不给代码,对应的是总部只给接口文档、凯捷完成本地重建;前端门店切换期不能停,对应的是 POS 和 BOH 无感过渡的过渡层设计;万店海量交易,对应伊利等大型企业的本地架构落地,以及凯捷中国区一千多人的财务服务团队;财务报表和预算割裂,对应我们财务中台、合并报表、全面预算、票税、银企直连的全链路能力。这一页,会由我们团队里全程参与过麦当劳分拆的顾问来主讲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讲完我们做过,第四幕要落到具体打法,凯捷有五条,每一条都可落地、可追问。第一是分阶段解耦,不一次性切换,并行、过渡、脱钩,正好对上星巴克两年内继续用 Global 的节奏;第二是系统解耦路线图,区分物理拆分和逻辑迁移,这是汉得给不出的硬通货;第三是过渡层设计,让前端门店业务无感,业务连续性优先;第四是财务侧做减法,Hyperion 加 Anaplan 走统一平台,呼应星巴克消除割裂、避免厂商锁定的诉求;第五是跨文化协调,用凯捷 Global 网络推动美方数据移交谈判。选型上我们不替任何厂商站台,Oracle 和 SAP 双技术栈我们都有,我们帮星巴克把选型决策做对。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接下来这张图,是今天唯一一张硬通货,也是第四幕里系统解耦路线图的展开。整个拆分分三个阶段,阶段一是解耦,在交割前到二零二六年四月一日,建中国区独立 Instance 并与 Global 并行;阶段二是过渡,大约二十四个月,双轨运行,接口逐批从指向北美切到指向本地;阶段三是脱钩,到二零二八年完全脱离 Global。而每一个系统,只走两条路径之一,要么是路径 A 物理拆分,必须真拆、重建独立实例,这是项目的关键路径;要么是路径 B 逻辑迁移,只换归属和连接、业务逻辑不动。这里有一个收敛判断,三十三个接口不是三十三个项目,分类之后真正高风险的物理拆分项,可能不到三分之一。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那么一个系统到底走物理拆分还是逻辑迁移,我们有一套四问标准,任意一问回答是,就归为物理拆分,四问全是否,才归逻辑迁移。第一问连体性,是否与北美共用同一个 Instance 或共享数据库;第二问账套源头,是否承载法定财务账套或者是主数据的源头;第三问支持中断,切割后美方是否不再提供运维和升级支持;第四问接口可解,是否无法仅靠接口重指向解决归属问题。这套标准的价值在于,它让分类可解释、可追问,拜访现场无论被问到哪个系统,我们都能当场给出归类逻辑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把四问标准套到星巴克现有架构上,我们做了一版初步分类清单,要说明的是这是基于架构图的初判,精确版要等拿到 RFI 文档。路径 A 物理拆分,包括 EBS 财务核心、Oracle HUB 主数据、Hyperion、Anaplan 和 Oracle 制造模块;路径 B 逻辑迁移,是大部分周边系统,比如 S2P、3PL WMS、NGBOH、NGT&amp;E、SUN、SIMS、Blackline 这些,本体不重建、可分批、用过渡层兜底;范围外明确不动的,是租赁系统、BOH、Rainbow 算法,以及交割后还要继续用两年的 Oracle Global。主动讲清楚不碰什么,本身就是一种专业和分寸。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刚才反复提到的过渡层,这一页专门讲清楚它怎么让前端门店业务无感。结构上看是三段,左边是前端门店侧,POS、NGBOH、3PL WMS、天猫电商、S2P 都按原协议收发,完全不感知后端在切换;中间是过渡层,承担三个职能,接口缓冲负责格式和路由转换,主数据双写保证新旧实例数据一致,路由开关让接口逐批从指向北美切到指向本地、可灰度可回滚;右边是后端,旧的共用 Instance 逐步退出,新的中国区独立 Instance 接管。它的价值就是,后端引擎可以分批换,前端门店一天都不用停,这是麦当劳分拆已经验证过的打法。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最后一幕,我想给这场会一个具体的、低成本的下文,而不是停在口号上。我们的承诺动作是,星巴克提供 RFI 文档之后,凯捷在两周内交付一份接口可拆解性评估和风险分级清单,把三十三个接口按物理拆和逻辑迁分类,标出真正高风险的关键路径项。后续配合上,我们会准备 Oracle 和 SAP 餐饮零售的案例材料包和 Global 分拆复盘,协调技术、数据、财务三个维度的专家,商务节奏完全按星巴克来、我们不催。这个承诺为什么有效,因为它低成本、可验证,而且直接打在星巴克最大的单点风险上,一次就能建立专业信任。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我用一句话收尾。汉得强在配软件,凯捷强在懂分拆;万店规模的餐饮零售 ERP 切换,我在麦当劳验证过一条铁律,稳永远比快值钱。我们要交付给星巴克的,不是一套 SAP 或者 Oracle,而是博裕入主之后,星巴克中国能够独立行军的技术底座。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是给我们自己团队的现场分工和节奏安排,整场控制在三十五分钟。开场两分钟由负责人定调抛出核心主张;接下来十分钟,资深顾问讲第一、二幕;十二到二十分钟是第三幕,由具备麦当劳分拆背景的顾问主讲,这是本场主角;二十到二十八分钟,资深顾问和麦当劳背景顾问一起讲第四幕和解耦路线图;二十八到三十一分钟,负责人讲下一步承诺;最后留四分钟问答。要特别提醒的是,采购部门本轮不参与,首轮聚焦背景与案例、建立信任,第三幕务必由麦当劳背景顾问主讲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0" y="-857250"/>
            <a:ext cx="12858750" cy="7715250"/>
            <a:chOff x="0" y="-857250"/>
            <a:chExt cx="12858750" cy="7715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E6B4F">
                    <a:alpha val="28000"/>
                  </a:srgbClr>
                </a:gs>
                <a:gs pos="100000">
                  <a:srgbClr val="1E6B4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8286750" y="-857250"/>
              <a:ext cx="4572000" cy="4572000"/>
            </a:xfrm>
            <a:prstGeom prst="ellipse">
              <a:avLst/>
            </a:prstGeom>
            <a:noFill/>
            <a:ln w="9525">
              <a:solidFill>
                <a:srgbClr val="FFFFFF">
                  <a:alpha val="6000"/>
                </a:srgbClr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9048750" y="-95250"/>
              <a:ext cx="3048000" cy="3048000"/>
            </a:xfrm>
            <a:prstGeom prst="ellipse">
              <a:avLst/>
            </a:prstGeom>
            <a:noFill/>
            <a:ln w="9525">
              <a:solidFill>
                <a:srgbClr val="FFFFFF">
                  <a:alpha val="8000"/>
                </a:srgbClr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0" y="6781800"/>
              <a:ext cx="12192000" cy="7620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1066800" y="1866900"/>
            <a:ext cx="6839878" cy="1964531"/>
            <a:chOff x="1066800" y="1866900"/>
            <a:chExt cx="6839878" cy="1964531"/>
          </a:xfrm>
        </p:grpSpPr>
        <p:sp>
          <p:nvSpPr>
            <p:cNvPr id="8" name="Rectangle 8"/>
            <p:cNvSpPr/>
            <p:nvPr/>
          </p:nvSpPr>
          <p:spPr>
            <a:xfrm>
              <a:off x="1066800" y="1866900"/>
              <a:ext cx="114300" cy="186690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392555" y="1987868"/>
              <a:ext cx="4746719" cy="8839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星巴克中国 ERP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92555" y="2692718"/>
              <a:ext cx="4780074" cy="8839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本地化拆分项目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25892" y="3480911"/>
              <a:ext cx="648078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5" dirty="0">
                  <a:solidFill>
                    <a:srgbClr val="C9D6E3"/>
                  </a:solidFill>
                  <a:latin typeface="Arial"/>
                  <a:ea typeface="Microsoft YaHei"/>
                  <a:cs typeface="Arial"/>
                </a:rPr>
                <a:t>不是换一套软件,是在高速行驶中换一台</a:t>
              </a:r>
              <a:r>
                <a:rPr lang="zh-CN" sz="17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能独立行军的引擎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31608" y="4111228"/>
            <a:ext cx="7527488" cy="1134666"/>
            <a:chOff x="1431608" y="4111228"/>
            <a:chExt cx="7527488" cy="1134666"/>
          </a:xfrm>
        </p:grpSpPr>
        <p:grpSp>
          <p:nvGrpSpPr>
            <p:cNvPr id="16" name="Group 16"/>
            <p:cNvGrpSpPr/>
            <p:nvPr/>
          </p:nvGrpSpPr>
          <p:grpSpPr>
            <a:xfrm>
              <a:off x="1463278" y="4111228"/>
              <a:ext cx="216693" cy="216694"/>
              <a:chOff x="1463278" y="4111228"/>
              <a:chExt cx="216693" cy="21669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463278" y="4111228"/>
                <a:ext cx="61912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61912">
                    <a:moveTo>
                      <a:pt x="61912" y="30956"/>
                    </a:moveTo>
                    <a:cubicBezTo>
                      <a:pt x="61912" y="48053"/>
                      <a:pt x="48053" y="61912"/>
                      <a:pt x="30956" y="61912"/>
                    </a:cubicBezTo>
                    <a:cubicBezTo>
                      <a:pt x="13860" y="61912"/>
                      <a:pt x="0" y="48053"/>
                      <a:pt x="0" y="30956"/>
                    </a:cubicBezTo>
                    <a:cubicBezTo>
                      <a:pt x="0" y="13860"/>
                      <a:pt x="13860" y="0"/>
                      <a:pt x="30956" y="0"/>
                    </a:cubicBezTo>
                    <a:cubicBezTo>
                      <a:pt x="48053" y="0"/>
                      <a:pt x="61912" y="13860"/>
                      <a:pt x="61912" y="30956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618059" y="4266009"/>
                <a:ext cx="61912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61912">
                    <a:moveTo>
                      <a:pt x="61912" y="30956"/>
                    </a:moveTo>
                    <a:cubicBezTo>
                      <a:pt x="61912" y="48053"/>
                      <a:pt x="48053" y="61912"/>
                      <a:pt x="30956" y="61912"/>
                    </a:cubicBezTo>
                    <a:cubicBezTo>
                      <a:pt x="13859" y="61912"/>
                      <a:pt x="0" y="48053"/>
                      <a:pt x="0" y="30956"/>
                    </a:cubicBezTo>
                    <a:cubicBezTo>
                      <a:pt x="0" y="13859"/>
                      <a:pt x="13859" y="0"/>
                      <a:pt x="30956" y="0"/>
                    </a:cubicBezTo>
                    <a:cubicBezTo>
                      <a:pt x="48053" y="0"/>
                      <a:pt x="61912" y="13859"/>
                      <a:pt x="61912" y="30956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478756" y="4111228"/>
                <a:ext cx="185738" cy="216694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216694">
                    <a:moveTo>
                      <a:pt x="108347" y="54173"/>
                    </a:moveTo>
                    <a:cubicBezTo>
                      <a:pt x="108347" y="41351"/>
                      <a:pt x="118742" y="30956"/>
                      <a:pt x="131564" y="30956"/>
                    </a:cubicBezTo>
                    <a:cubicBezTo>
                      <a:pt x="144386" y="30956"/>
                      <a:pt x="154781" y="41351"/>
                      <a:pt x="154781" y="54173"/>
                    </a:cubicBezTo>
                    <a:lnTo>
                      <a:pt x="154781" y="123825"/>
                    </a:lnTo>
                    <a:lnTo>
                      <a:pt x="185738" y="123825"/>
                    </a:lnTo>
                    <a:lnTo>
                      <a:pt x="185738" y="54173"/>
                    </a:lnTo>
                    <a:cubicBezTo>
                      <a:pt x="185738" y="24254"/>
                      <a:pt x="161483" y="0"/>
                      <a:pt x="131564" y="0"/>
                    </a:cubicBezTo>
                    <a:cubicBezTo>
                      <a:pt x="101645" y="0"/>
                      <a:pt x="77391" y="24254"/>
                      <a:pt x="77391" y="54173"/>
                    </a:cubicBezTo>
                    <a:lnTo>
                      <a:pt x="77391" y="162520"/>
                    </a:lnTo>
                    <a:cubicBezTo>
                      <a:pt x="77391" y="175342"/>
                      <a:pt x="66996" y="185738"/>
                      <a:pt x="54173" y="185738"/>
                    </a:cubicBezTo>
                    <a:cubicBezTo>
                      <a:pt x="41351" y="185738"/>
                      <a:pt x="30956" y="175342"/>
                      <a:pt x="30956" y="162520"/>
                    </a:cubicBezTo>
                    <a:lnTo>
                      <a:pt x="30956" y="92869"/>
                    </a:lnTo>
                    <a:lnTo>
                      <a:pt x="0" y="92869"/>
                    </a:lnTo>
                    <a:lnTo>
                      <a:pt x="0" y="162520"/>
                    </a:lnTo>
                    <a:cubicBezTo>
                      <a:pt x="0" y="192440"/>
                      <a:pt x="24254" y="216694"/>
                      <a:pt x="54173" y="216694"/>
                    </a:cubicBezTo>
                    <a:cubicBezTo>
                      <a:pt x="84093" y="216694"/>
                      <a:pt x="108347" y="192440"/>
                      <a:pt x="108347" y="162520"/>
                    </a:cubicBezTo>
                    <a:lnTo>
                      <a:pt x="108347" y="54173"/>
                    </a:ln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792605" y="4150042"/>
              <a:ext cx="287054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5月18日 · 上海 · 首轮拜访汇报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447800" y="4552950"/>
              <a:ext cx="3048000" cy="28575"/>
            </a:xfrm>
            <a:prstGeom prst="rect">
              <a:avLst/>
            </a:prstGeom>
            <a:gradFill>
              <a:gsLst>
                <a:gs pos="0">
                  <a:srgbClr val="C8862E"/>
                </a:gs>
                <a:gs pos="100000">
                  <a:srgbClr val="C8862E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431608" y="4986814"/>
              <a:ext cx="752748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9FB0C2"/>
                  </a:solidFill>
                  <a:latin typeface="Arial"/>
                  <a:ea typeface="Microsoft YaHei"/>
                  <a:cs typeface="Arial"/>
                </a:rPr>
                <a:t>汉得们比的是「配软件」 —— 凯捷比的是「在万店餐饮零售里,真正做过这台引擎拆分的人」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435418" y="6085999"/>
            <a:ext cx="422552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8095"/>
                </a:solidFill>
                <a:latin typeface="Arial"/>
                <a:ea typeface="Microsoft YaHei"/>
                <a:cs typeface="Arial"/>
              </a:rPr>
              <a:t>凯捷 Capgemini · 星巴克中国 ERP 本地化拆分项目 · 内部汇报材料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2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81025" y="347662"/>
            <a:ext cx="4974015" cy="609600"/>
            <a:chOff x="581025" y="347662"/>
            <a:chExt cx="4974015" cy="609600"/>
          </a:xfrm>
        </p:grpSpPr>
        <p:sp>
          <p:nvSpPr>
            <p:cNvPr id="5" name="TextBox 5"/>
            <p:cNvSpPr txBox="1"/>
            <p:nvPr/>
          </p:nvSpPr>
          <p:spPr>
            <a:xfrm>
              <a:off x="581025" y="347662"/>
              <a:ext cx="497401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今天怎么讲 —— 一条故事线,五幕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265" y="743902"/>
              <a:ext cx="356911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不谈商务,只回答一个问题:为什么这件事该交给凯捷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9600" y="1028700"/>
            <a:ext cx="10972800" cy="876300"/>
            <a:chOff x="609600" y="1028700"/>
            <a:chExt cx="10972800" cy="876300"/>
          </a:xfrm>
        </p:grpSpPr>
        <p:sp>
          <p:nvSpPr>
            <p:cNvPr id="8" name="Rectangle 8"/>
            <p:cNvSpPr/>
            <p:nvPr/>
          </p:nvSpPr>
          <p:spPr>
            <a:xfrm>
              <a:off x="609600" y="1028700"/>
              <a:ext cx="10972800" cy="87630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028700"/>
              <a:ext cx="57150" cy="87630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2965" y="1277302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核心主张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92605" y="1283018"/>
              <a:ext cx="750792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星巴克要的不是「换软件」,是博裕入主后,给中国区换上一台能独立行军的引擎。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95462" y="1593056"/>
              <a:ext cx="64611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9D6E3"/>
                  </a:solidFill>
                  <a:latin typeface="Arial"/>
                  <a:ea typeface="Microsoft YaHei"/>
                  <a:cs typeface="Arial"/>
                </a:rPr>
                <a:t>竞争维度从「谁会配 SAP / Oracle」,切换到「谁真正做过万店餐饮零售的 ERP 分拆」。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905000" y="2724150"/>
            <a:ext cx="8315325" cy="1"/>
            <a:chOff x="1905000" y="2724150"/>
            <a:chExt cx="8315325" cy="1"/>
          </a:xfrm>
        </p:grpSpPr>
        <p:sp>
          <p:nvSpPr>
            <p:cNvPr id="14" name="Line 14"/>
            <p:cNvSpPr/>
            <p:nvPr/>
          </p:nvSpPr>
          <p:spPr>
            <a:xfrm>
              <a:off x="1905000" y="2724150"/>
              <a:ext cx="1543050" cy="1"/>
            </a:xfrm>
            <a:prstGeom prst="line">
              <a:avLst/>
            </a:prstGeom>
            <a:noFill/>
            <a:ln w="23812">
              <a:solidFill>
                <a:srgbClr val="C8862E"/>
              </a:solidFill>
              <a:tailEnd type="triangle" w="lg" len="lg"/>
            </a:ln>
          </p:spPr>
        </p:sp>
        <p:sp>
          <p:nvSpPr>
            <p:cNvPr id="15" name="Line 15"/>
            <p:cNvSpPr/>
            <p:nvPr/>
          </p:nvSpPr>
          <p:spPr>
            <a:xfrm>
              <a:off x="4162425" y="2724150"/>
              <a:ext cx="1543050" cy="1"/>
            </a:xfrm>
            <a:prstGeom prst="line">
              <a:avLst/>
            </a:prstGeom>
            <a:noFill/>
            <a:ln w="23812">
              <a:solidFill>
                <a:srgbClr val="C8862E"/>
              </a:solidFill>
              <a:tailEnd type="triangle" w="lg" len="lg"/>
            </a:ln>
          </p:spPr>
        </p:sp>
        <p:sp>
          <p:nvSpPr>
            <p:cNvPr id="16" name="Line 16"/>
            <p:cNvSpPr/>
            <p:nvPr/>
          </p:nvSpPr>
          <p:spPr>
            <a:xfrm>
              <a:off x="6419850" y="2724150"/>
              <a:ext cx="1543050" cy="1"/>
            </a:xfrm>
            <a:prstGeom prst="line">
              <a:avLst/>
            </a:prstGeom>
            <a:noFill/>
            <a:ln w="23812">
              <a:solidFill>
                <a:srgbClr val="C8862E"/>
              </a:solidFill>
              <a:tailEnd type="triangle" w="lg" len="lg"/>
            </a:ln>
          </p:spPr>
        </p:sp>
        <p:sp>
          <p:nvSpPr>
            <p:cNvPr id="17" name="Line 17"/>
            <p:cNvSpPr/>
            <p:nvPr/>
          </p:nvSpPr>
          <p:spPr>
            <a:xfrm>
              <a:off x="8677275" y="2724150"/>
              <a:ext cx="1543050" cy="1"/>
            </a:xfrm>
            <a:prstGeom prst="line">
              <a:avLst/>
            </a:prstGeom>
            <a:noFill/>
            <a:ln w="23812">
              <a:solidFill>
                <a:srgbClr val="C8862E"/>
              </a:solidFill>
              <a:tailEnd type="triangle" w="lg" len="lg"/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609600" y="2400300"/>
            <a:ext cx="1943100" cy="3505200"/>
            <a:chOff x="609600" y="2400300"/>
            <a:chExt cx="1943100" cy="3505200"/>
          </a:xfrm>
        </p:grpSpPr>
        <p:sp>
          <p:nvSpPr>
            <p:cNvPr id="19" name="Ellipse 19"/>
            <p:cNvSpPr/>
            <p:nvPr/>
          </p:nvSpPr>
          <p:spPr>
            <a:xfrm>
              <a:off x="1257300" y="2400300"/>
              <a:ext cx="647700" cy="647700"/>
            </a:xfrm>
            <a:prstGeom prst="ellipse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516885" y="2615565"/>
              <a:ext cx="12853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3219450"/>
              <a:ext cx="1943100" cy="2686050"/>
            </a:xfrm>
            <a:prstGeom prst="roundRect">
              <a:avLst>
                <a:gd name="adj" fmla="val 4902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09600" y="3219450"/>
              <a:ext cx="1943100" cy="57150"/>
            </a:xfrm>
            <a:prstGeom prst="roundRect">
              <a:avLst>
                <a:gd name="adj" fmla="val 50000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838200" y="3583781"/>
              <a:ext cx="323850" cy="242888"/>
            </a:xfrm>
            <a:custGeom>
              <a:avLst/>
              <a:gdLst/>
              <a:ahLst/>
              <a:cxnLst/>
              <a:rect l="l" t="t" r="r" b="b"/>
              <a:pathLst>
                <a:path w="323850" h="242888">
                  <a:moveTo>
                    <a:pt x="0" y="121444"/>
                  </a:moveTo>
                  <a:lnTo>
                    <a:pt x="62330" y="46648"/>
                  </a:lnTo>
                  <a:cubicBezTo>
                    <a:pt x="86961" y="17090"/>
                    <a:pt x="123449" y="0"/>
                    <a:pt x="161925" y="0"/>
                  </a:cubicBezTo>
                  <a:cubicBezTo>
                    <a:pt x="200401" y="0"/>
                    <a:pt x="236888" y="17090"/>
                    <a:pt x="261521" y="46648"/>
                  </a:cubicBezTo>
                  <a:lnTo>
                    <a:pt x="323850" y="121444"/>
                  </a:lnTo>
                  <a:lnTo>
                    <a:pt x="261521" y="196239"/>
                  </a:lnTo>
                  <a:cubicBezTo>
                    <a:pt x="236888" y="225798"/>
                    <a:pt x="200401" y="242888"/>
                    <a:pt x="161925" y="242888"/>
                  </a:cubicBezTo>
                  <a:cubicBezTo>
                    <a:pt x="123449" y="242888"/>
                    <a:pt x="86961" y="225798"/>
                    <a:pt x="62330" y="196239"/>
                  </a:cubicBezTo>
                  <a:lnTo>
                    <a:pt x="0" y="121444"/>
                  </a:lnTo>
                  <a:close/>
                  <a:moveTo>
                    <a:pt x="161925" y="182166"/>
                  </a:moveTo>
                  <a:cubicBezTo>
                    <a:pt x="195461" y="182166"/>
                    <a:pt x="222647" y="154979"/>
                    <a:pt x="222647" y="121444"/>
                  </a:cubicBezTo>
                  <a:cubicBezTo>
                    <a:pt x="222647" y="87908"/>
                    <a:pt x="195461" y="60722"/>
                    <a:pt x="161925" y="60722"/>
                  </a:cubicBezTo>
                  <a:cubicBezTo>
                    <a:pt x="128389" y="60722"/>
                    <a:pt x="101203" y="87908"/>
                    <a:pt x="101203" y="121444"/>
                  </a:cubicBezTo>
                  <a:cubicBezTo>
                    <a:pt x="101203" y="154979"/>
                    <a:pt x="128389" y="182166"/>
                    <a:pt x="161925" y="182166"/>
                  </a:cubicBezTo>
                  <a:close/>
                </a:path>
              </a:pathLst>
            </a:custGeom>
            <a:solidFill>
              <a:srgbClr val="1E6B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24865" y="4096702"/>
              <a:ext cx="5097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第一幕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16292" y="4366736"/>
              <a:ext cx="1101947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读懂处境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4865" y="4801552"/>
              <a:ext cx="11001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带着对你架构的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4865" y="5030152"/>
              <a:ext cx="103112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判断来,不是来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24865" y="525875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听需求的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2867025" y="2400300"/>
            <a:ext cx="1943100" cy="3505200"/>
            <a:chOff x="2867025" y="2400300"/>
            <a:chExt cx="1943100" cy="3505200"/>
          </a:xfrm>
        </p:grpSpPr>
        <p:sp>
          <p:nvSpPr>
            <p:cNvPr id="30" name="Ellipse 30"/>
            <p:cNvSpPr/>
            <p:nvPr/>
          </p:nvSpPr>
          <p:spPr>
            <a:xfrm>
              <a:off x="3514725" y="2400300"/>
              <a:ext cx="647700" cy="647700"/>
            </a:xfrm>
            <a:prstGeom prst="ellipse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739806" y="2615565"/>
              <a:ext cx="19753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867025" y="3219450"/>
              <a:ext cx="1943100" cy="2686050"/>
            </a:xfrm>
            <a:prstGeom prst="roundRect">
              <a:avLst>
                <a:gd name="adj" fmla="val 4902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2867025" y="3219450"/>
              <a:ext cx="1943100" cy="57150"/>
            </a:xfrm>
            <a:prstGeom prst="roundRect">
              <a:avLst>
                <a:gd name="adj" fmla="val 50000"/>
              </a:avLst>
            </a:prstGeom>
            <a:solidFill>
              <a:srgbClr val="1A3A5C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3095625" y="3543300"/>
              <a:ext cx="323850" cy="323850"/>
              <a:chOff x="3095625" y="3543300"/>
              <a:chExt cx="323850" cy="32385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3237309" y="3684984"/>
                <a:ext cx="40481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40481" h="40481">
                    <a:moveTo>
                      <a:pt x="40481" y="20241"/>
                    </a:moveTo>
                    <a:cubicBezTo>
                      <a:pt x="40481" y="31419"/>
                      <a:pt x="31419" y="40481"/>
                      <a:pt x="20241" y="40481"/>
                    </a:cubicBezTo>
                    <a:cubicBezTo>
                      <a:pt x="9062" y="40481"/>
                      <a:pt x="0" y="31419"/>
                      <a:pt x="0" y="20241"/>
                    </a:cubicBezTo>
                    <a:cubicBezTo>
                      <a:pt x="0" y="9062"/>
                      <a:pt x="9062" y="0"/>
                      <a:pt x="20241" y="0"/>
                    </a:cubicBezTo>
                    <a:cubicBezTo>
                      <a:pt x="31419" y="0"/>
                      <a:pt x="40481" y="9062"/>
                      <a:pt x="40481" y="20241"/>
                    </a:cubicBezTo>
                    <a:close/>
                  </a:path>
                </a:pathLst>
              </a:custGeom>
              <a:solidFill>
                <a:srgbClr val="1E6B4F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3095625" y="3543300"/>
                <a:ext cx="323850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323850" h="323850">
                    <a:moveTo>
                      <a:pt x="182166" y="31908"/>
                    </a:moveTo>
                    <a:lnTo>
                      <a:pt x="182166" y="0"/>
                    </a:lnTo>
                    <a:lnTo>
                      <a:pt x="141684" y="0"/>
                    </a:lnTo>
                    <a:lnTo>
                      <a:pt x="141684" y="31908"/>
                    </a:lnTo>
                    <a:cubicBezTo>
                      <a:pt x="85231" y="40625"/>
                      <a:pt x="40625" y="85231"/>
                      <a:pt x="31908" y="141684"/>
                    </a:cubicBezTo>
                    <a:lnTo>
                      <a:pt x="0" y="141684"/>
                    </a:lnTo>
                    <a:lnTo>
                      <a:pt x="0" y="182166"/>
                    </a:lnTo>
                    <a:lnTo>
                      <a:pt x="31908" y="182166"/>
                    </a:lnTo>
                    <a:cubicBezTo>
                      <a:pt x="40625" y="238619"/>
                      <a:pt x="85231" y="283225"/>
                      <a:pt x="141684" y="291943"/>
                    </a:cubicBezTo>
                    <a:lnTo>
                      <a:pt x="141684" y="323850"/>
                    </a:lnTo>
                    <a:lnTo>
                      <a:pt x="182166" y="323850"/>
                    </a:lnTo>
                    <a:lnTo>
                      <a:pt x="182166" y="291943"/>
                    </a:lnTo>
                    <a:cubicBezTo>
                      <a:pt x="238619" y="283225"/>
                      <a:pt x="283225" y="238619"/>
                      <a:pt x="291943" y="182166"/>
                    </a:cubicBezTo>
                    <a:lnTo>
                      <a:pt x="323850" y="182166"/>
                    </a:lnTo>
                    <a:lnTo>
                      <a:pt x="323850" y="141684"/>
                    </a:lnTo>
                    <a:lnTo>
                      <a:pt x="291943" y="141684"/>
                    </a:lnTo>
                    <a:cubicBezTo>
                      <a:pt x="283225" y="85231"/>
                      <a:pt x="238619" y="40625"/>
                      <a:pt x="182166" y="31908"/>
                    </a:cubicBezTo>
                    <a:close/>
                    <a:moveTo>
                      <a:pt x="141684" y="73099"/>
                    </a:moveTo>
                    <a:lnTo>
                      <a:pt x="141684" y="101203"/>
                    </a:lnTo>
                    <a:lnTo>
                      <a:pt x="182166" y="101203"/>
                    </a:lnTo>
                    <a:lnTo>
                      <a:pt x="182166" y="73099"/>
                    </a:lnTo>
                    <a:cubicBezTo>
                      <a:pt x="216218" y="80826"/>
                      <a:pt x="243023" y="107632"/>
                      <a:pt x="250751" y="141684"/>
                    </a:cubicBezTo>
                    <a:lnTo>
                      <a:pt x="222647" y="141684"/>
                    </a:lnTo>
                    <a:lnTo>
                      <a:pt x="222647" y="182166"/>
                    </a:lnTo>
                    <a:lnTo>
                      <a:pt x="250751" y="182166"/>
                    </a:lnTo>
                    <a:cubicBezTo>
                      <a:pt x="243023" y="216218"/>
                      <a:pt x="216218" y="243023"/>
                      <a:pt x="182166" y="250751"/>
                    </a:cubicBezTo>
                    <a:lnTo>
                      <a:pt x="182166" y="222647"/>
                    </a:lnTo>
                    <a:lnTo>
                      <a:pt x="141684" y="222647"/>
                    </a:lnTo>
                    <a:lnTo>
                      <a:pt x="141684" y="250751"/>
                    </a:lnTo>
                    <a:cubicBezTo>
                      <a:pt x="107632" y="243023"/>
                      <a:pt x="80826" y="216218"/>
                      <a:pt x="73099" y="182166"/>
                    </a:cubicBezTo>
                    <a:lnTo>
                      <a:pt x="101203" y="182166"/>
                    </a:lnTo>
                    <a:lnTo>
                      <a:pt x="101203" y="141684"/>
                    </a:lnTo>
                    <a:lnTo>
                      <a:pt x="73099" y="141684"/>
                    </a:lnTo>
                    <a:cubicBezTo>
                      <a:pt x="80826" y="107632"/>
                      <a:pt x="107632" y="80826"/>
                      <a:pt x="141684" y="73099"/>
                    </a:cubicBezTo>
                    <a:close/>
                  </a:path>
                </a:pathLst>
              </a:custGeom>
              <a:solidFill>
                <a:srgbClr val="1E6B4F"/>
              </a:solidFill>
              <a:ln>
                <a:noFill/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3082290" y="4096702"/>
              <a:ext cx="5097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第二幕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073718" y="4366736"/>
              <a:ext cx="1366480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点破真难点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082290" y="4801552"/>
              <a:ext cx="11001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这是「分拆」项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082290" y="50301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目,不是「实施」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082290" y="525875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项目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124450" y="2400300"/>
            <a:ext cx="1943100" cy="3505200"/>
            <a:chOff x="5124450" y="2400300"/>
            <a:chExt cx="1943100" cy="3505200"/>
          </a:xfrm>
        </p:grpSpPr>
        <p:sp>
          <p:nvSpPr>
            <p:cNvPr id="43" name="Ellipse 43"/>
            <p:cNvSpPr/>
            <p:nvPr/>
          </p:nvSpPr>
          <p:spPr>
            <a:xfrm>
              <a:off x="5772150" y="2400300"/>
              <a:ext cx="647700" cy="647700"/>
            </a:xfrm>
            <a:prstGeom prst="ellipse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97231" y="2615565"/>
              <a:ext cx="19753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124450" y="3219450"/>
              <a:ext cx="1943100" cy="2686050"/>
            </a:xfrm>
            <a:prstGeom prst="roundRect">
              <a:avLst>
                <a:gd name="adj" fmla="val 4902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124450" y="3219450"/>
              <a:ext cx="1943100" cy="57150"/>
            </a:xfrm>
            <a:prstGeom prst="roundRect">
              <a:avLst>
                <a:gd name="adj" fmla="val 50000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5353050" y="3543300"/>
              <a:ext cx="323850" cy="323850"/>
            </a:xfrm>
            <a:custGeom>
              <a:avLst/>
              <a:gdLst/>
              <a:ahLst/>
              <a:cxnLst/>
              <a:rect l="l" t="t" r="r" b="b"/>
              <a:pathLst>
                <a:path w="323850" h="323850">
                  <a:moveTo>
                    <a:pt x="80962" y="0"/>
                  </a:moveTo>
                  <a:lnTo>
                    <a:pt x="242888" y="0"/>
                  </a:lnTo>
                  <a:lnTo>
                    <a:pt x="242888" y="40481"/>
                  </a:lnTo>
                  <a:lnTo>
                    <a:pt x="323850" y="40481"/>
                  </a:lnTo>
                  <a:lnTo>
                    <a:pt x="323850" y="80962"/>
                  </a:lnTo>
                  <a:cubicBezTo>
                    <a:pt x="323850" y="130682"/>
                    <a:pt x="287996" y="172027"/>
                    <a:pt x="240734" y="180554"/>
                  </a:cubicBezTo>
                  <a:cubicBezTo>
                    <a:pt x="233854" y="209768"/>
                    <a:pt x="211150" y="232876"/>
                    <a:pt x="182166" y="240337"/>
                  </a:cubicBezTo>
                  <a:lnTo>
                    <a:pt x="182166" y="283369"/>
                  </a:lnTo>
                  <a:lnTo>
                    <a:pt x="242888" y="283369"/>
                  </a:lnTo>
                  <a:lnTo>
                    <a:pt x="242888" y="323850"/>
                  </a:lnTo>
                  <a:lnTo>
                    <a:pt x="80962" y="323850"/>
                  </a:lnTo>
                  <a:lnTo>
                    <a:pt x="80962" y="283369"/>
                  </a:lnTo>
                  <a:lnTo>
                    <a:pt x="141684" y="283369"/>
                  </a:lnTo>
                  <a:lnTo>
                    <a:pt x="141684" y="240337"/>
                  </a:lnTo>
                  <a:cubicBezTo>
                    <a:pt x="112699" y="232876"/>
                    <a:pt x="89995" y="209768"/>
                    <a:pt x="83116" y="180554"/>
                  </a:cubicBezTo>
                  <a:cubicBezTo>
                    <a:pt x="35853" y="172027"/>
                    <a:pt x="0" y="130682"/>
                    <a:pt x="0" y="80962"/>
                  </a:cubicBezTo>
                  <a:lnTo>
                    <a:pt x="0" y="40481"/>
                  </a:lnTo>
                  <a:lnTo>
                    <a:pt x="80962" y="40481"/>
                  </a:lnTo>
                  <a:lnTo>
                    <a:pt x="80962" y="0"/>
                  </a:lnTo>
                  <a:close/>
                  <a:moveTo>
                    <a:pt x="242888" y="138229"/>
                  </a:moveTo>
                  <a:lnTo>
                    <a:pt x="242888" y="80962"/>
                  </a:lnTo>
                  <a:lnTo>
                    <a:pt x="283369" y="80962"/>
                  </a:lnTo>
                  <a:cubicBezTo>
                    <a:pt x="283369" y="107401"/>
                    <a:pt x="266472" y="129893"/>
                    <a:pt x="242888" y="138229"/>
                  </a:cubicBezTo>
                  <a:close/>
                  <a:moveTo>
                    <a:pt x="80962" y="80962"/>
                  </a:moveTo>
                  <a:lnTo>
                    <a:pt x="40481" y="80962"/>
                  </a:lnTo>
                  <a:cubicBezTo>
                    <a:pt x="40481" y="107401"/>
                    <a:pt x="57378" y="129893"/>
                    <a:pt x="80962" y="138229"/>
                  </a:cubicBezTo>
                  <a:lnTo>
                    <a:pt x="80962" y="80962"/>
                  </a:lnTo>
                  <a:close/>
                </a:path>
              </a:pathLst>
            </a:custGeom>
            <a:solidFill>
              <a:srgbClr val="1E6B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339715" y="4096702"/>
              <a:ext cx="5097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第三幕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331142" y="4366736"/>
              <a:ext cx="1101947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我们做过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339715" y="4801552"/>
              <a:ext cx="9697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麦当劳 / 伊利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339715" y="5030152"/>
              <a:ext cx="85477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—— 同一道题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339715" y="5258752"/>
              <a:ext cx="4867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的答卷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7381875" y="2400300"/>
            <a:ext cx="1943100" cy="3505200"/>
            <a:chOff x="7381875" y="2400300"/>
            <a:chExt cx="1943100" cy="3505200"/>
          </a:xfrm>
        </p:grpSpPr>
        <p:sp>
          <p:nvSpPr>
            <p:cNvPr id="54" name="Ellipse 54"/>
            <p:cNvSpPr/>
            <p:nvPr/>
          </p:nvSpPr>
          <p:spPr>
            <a:xfrm>
              <a:off x="8029575" y="2400300"/>
              <a:ext cx="647700" cy="647700"/>
            </a:xfrm>
            <a:prstGeom prst="ellipse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254656" y="2615565"/>
              <a:ext cx="19753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7381875" y="3219450"/>
              <a:ext cx="1943100" cy="2686050"/>
            </a:xfrm>
            <a:prstGeom prst="roundRect">
              <a:avLst>
                <a:gd name="adj" fmla="val 4902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7381875" y="3219450"/>
              <a:ext cx="1943100" cy="57150"/>
            </a:xfrm>
            <a:prstGeom prst="roundRect">
              <a:avLst>
                <a:gd name="adj" fmla="val 50000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7630716" y="3543300"/>
              <a:ext cx="283369" cy="323850"/>
            </a:xfrm>
            <a:custGeom>
              <a:avLst/>
              <a:gdLst/>
              <a:ahLst/>
              <a:cxnLst/>
              <a:rect l="l" t="t" r="r" b="b"/>
              <a:pathLst>
                <a:path w="283369" h="323850">
                  <a:moveTo>
                    <a:pt x="141684" y="323850"/>
                  </a:moveTo>
                  <a:lnTo>
                    <a:pt x="67808" y="271081"/>
                  </a:lnTo>
                  <a:cubicBezTo>
                    <a:pt x="25255" y="240685"/>
                    <a:pt x="0" y="191611"/>
                    <a:pt x="0" y="139317"/>
                  </a:cubicBezTo>
                  <a:lnTo>
                    <a:pt x="0" y="60722"/>
                  </a:lnTo>
                  <a:lnTo>
                    <a:pt x="141684" y="0"/>
                  </a:lnTo>
                  <a:lnTo>
                    <a:pt x="283369" y="60722"/>
                  </a:lnTo>
                  <a:lnTo>
                    <a:pt x="283369" y="139317"/>
                  </a:lnTo>
                  <a:cubicBezTo>
                    <a:pt x="283369" y="191611"/>
                    <a:pt x="258115" y="240685"/>
                    <a:pt x="215561" y="271081"/>
                  </a:cubicBezTo>
                  <a:lnTo>
                    <a:pt x="141684" y="323850"/>
                  </a:lnTo>
                  <a:close/>
                  <a:moveTo>
                    <a:pt x="226839" y="115515"/>
                  </a:moveTo>
                  <a:lnTo>
                    <a:pt x="198214" y="86891"/>
                  </a:lnTo>
                  <a:lnTo>
                    <a:pt x="121444" y="163661"/>
                  </a:lnTo>
                  <a:lnTo>
                    <a:pt x="85155" y="127372"/>
                  </a:lnTo>
                  <a:lnTo>
                    <a:pt x="56530" y="155997"/>
                  </a:lnTo>
                  <a:lnTo>
                    <a:pt x="121444" y="220910"/>
                  </a:lnTo>
                  <a:lnTo>
                    <a:pt x="226839" y="115515"/>
                  </a:lnTo>
                  <a:close/>
                </a:path>
              </a:pathLst>
            </a:custGeom>
            <a:solidFill>
              <a:srgbClr val="1E6B4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597140" y="4096702"/>
              <a:ext cx="5097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第四幕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588568" y="4366736"/>
              <a:ext cx="1366480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怎么控风险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597140" y="4801552"/>
              <a:ext cx="9237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分阶段解耦 +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597140" y="5030152"/>
              <a:ext cx="9237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解耦路线图 +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597140" y="5258752"/>
              <a:ext cx="4867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过渡层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639300" y="2400300"/>
            <a:ext cx="1943100" cy="3505200"/>
            <a:chOff x="9639300" y="2400300"/>
            <a:chExt cx="1943100" cy="3505200"/>
          </a:xfrm>
        </p:grpSpPr>
        <p:sp>
          <p:nvSpPr>
            <p:cNvPr id="65" name="Ellipse 65"/>
            <p:cNvSpPr/>
            <p:nvPr/>
          </p:nvSpPr>
          <p:spPr>
            <a:xfrm>
              <a:off x="10287000" y="2400300"/>
              <a:ext cx="647700" cy="647700"/>
            </a:xfrm>
            <a:prstGeom prst="ellipse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10512081" y="2615565"/>
              <a:ext cx="19753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9639300" y="3219450"/>
              <a:ext cx="1943100" cy="2686050"/>
            </a:xfrm>
            <a:prstGeom prst="roundRect">
              <a:avLst>
                <a:gd name="adj" fmla="val 4902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639300" y="3219450"/>
              <a:ext cx="1943100" cy="57150"/>
            </a:xfrm>
            <a:prstGeom prst="roundRect">
              <a:avLst>
                <a:gd name="adj" fmla="val 50000"/>
              </a:avLst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69" name="Freeform 69"/>
            <p:cNvSpPr/>
            <p:nvPr/>
          </p:nvSpPr>
          <p:spPr>
            <a:xfrm>
              <a:off x="9888141" y="3563541"/>
              <a:ext cx="283369" cy="303609"/>
            </a:xfrm>
            <a:custGeom>
              <a:avLst/>
              <a:gdLst/>
              <a:ahLst/>
              <a:cxnLst/>
              <a:rect l="l" t="t" r="r" b="b"/>
              <a:pathLst>
                <a:path w="283369" h="303609">
                  <a:moveTo>
                    <a:pt x="0" y="0"/>
                  </a:moveTo>
                  <a:lnTo>
                    <a:pt x="0" y="303609"/>
                  </a:lnTo>
                  <a:lnTo>
                    <a:pt x="40481" y="303609"/>
                  </a:lnTo>
                  <a:lnTo>
                    <a:pt x="40481" y="182166"/>
                  </a:lnTo>
                  <a:lnTo>
                    <a:pt x="121444" y="182166"/>
                  </a:lnTo>
                  <a:lnTo>
                    <a:pt x="161925" y="222647"/>
                  </a:lnTo>
                  <a:lnTo>
                    <a:pt x="283369" y="222647"/>
                  </a:lnTo>
                  <a:lnTo>
                    <a:pt x="283369" y="40481"/>
                  </a:lnTo>
                  <a:lnTo>
                    <a:pt x="161925" y="40481"/>
                  </a:lnTo>
                  <a:lnTo>
                    <a:pt x="12144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862E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854565" y="4096702"/>
              <a:ext cx="5097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第五幕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845992" y="4366736"/>
              <a:ext cx="837414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下一步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854565" y="4801552"/>
              <a:ext cx="9697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一个 2 周可交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854565" y="5030152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付的具体承诺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97218" y="6324600"/>
            <a:ext cx="10995660" cy="302419"/>
            <a:chOff x="597218" y="6324600"/>
            <a:chExt cx="10995660" cy="302419"/>
          </a:xfrm>
        </p:grpSpPr>
        <p:sp>
          <p:nvSpPr>
            <p:cNvPr id="75" name="Line 75"/>
            <p:cNvSpPr/>
            <p:nvPr/>
          </p:nvSpPr>
          <p:spPr>
            <a:xfrm>
              <a:off x="609600" y="63246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E0E4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597218" y="6428899"/>
              <a:ext cx="46456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汇报节奏 · 开场 2′ → 一二幕 10′ → 三幕 8′ → 四幕 8′ → 五幕 3′ → Q&amp;A 4′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0300740" y="6445091"/>
              <a:ext cx="129213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CONFIDENTIAL · 02 / 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8" grpId="0"/>
      <p:bldP spid="29" grpId="0"/>
      <p:bldP spid="42" grpId="0"/>
      <p:bldP spid="53" grpId="0"/>
      <p:bldP spid="64" grpId="0"/>
      <p:bldP spid="7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81025" y="309562"/>
            <a:ext cx="6216170" cy="590550"/>
            <a:chOff x="581025" y="309562"/>
            <a:chExt cx="6216170" cy="590550"/>
          </a:xfrm>
        </p:grpSpPr>
        <p:sp>
          <p:nvSpPr>
            <p:cNvPr id="5" name="TextBox 5"/>
            <p:cNvSpPr txBox="1"/>
            <p:nvPr/>
          </p:nvSpPr>
          <p:spPr>
            <a:xfrm>
              <a:off x="581025" y="309562"/>
              <a:ext cx="621617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第一幕 · 读懂处境 —— 这件事到底难在哪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265" y="686752"/>
              <a:ext cx="271800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用星巴克自己的事实证明:我们做过功课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952500"/>
            <a:ext cx="10972800" cy="476250"/>
            <a:chOff x="609600" y="952500"/>
            <a:chExt cx="10972800" cy="476250"/>
          </a:xfrm>
        </p:grpSpPr>
        <p:sp>
          <p:nvSpPr>
            <p:cNvPr id="8" name="Rectangle 8"/>
            <p:cNvSpPr/>
            <p:nvPr/>
          </p:nvSpPr>
          <p:spPr>
            <a:xfrm>
              <a:off x="609600" y="952500"/>
              <a:ext cx="10972800" cy="47625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952500"/>
              <a:ext cx="57150" cy="47625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0108" y="1110139"/>
              <a:ext cx="614252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 xml:space="preserve">难点不是选型,是「高速换引擎」 —— </a:t>
              </a:r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2026/4/1 交割,业务一天不能停</a:t>
              </a:r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595312" y="1650206"/>
            <a:ext cx="6681788" cy="3855244"/>
            <a:chOff x="595312" y="1650206"/>
            <a:chExt cx="6681788" cy="3855244"/>
          </a:xfrm>
        </p:grpSpPr>
        <p:sp>
          <p:nvSpPr>
            <p:cNvPr id="12" name="TextBox 12"/>
            <p:cNvSpPr txBox="1"/>
            <p:nvPr/>
          </p:nvSpPr>
          <p:spPr>
            <a:xfrm>
              <a:off x="595312" y="1650206"/>
              <a:ext cx="246975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三个结构性约束 + 一道数据缺口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09600" y="1943100"/>
              <a:ext cx="457200" cy="457200"/>
            </a:xfrm>
            <a:prstGeom prst="roundRect">
              <a:avLst>
                <a:gd name="adj" fmla="val 12500"/>
              </a:avLst>
            </a:prstGeom>
            <a:solidFill>
              <a:srgbClr val="F1F3F5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695325" y="2028825"/>
              <a:ext cx="285750" cy="285750"/>
              <a:chOff x="695325" y="2028825"/>
              <a:chExt cx="285750" cy="28575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84622" y="2028825"/>
                <a:ext cx="196453" cy="196453"/>
              </a:xfrm>
              <a:custGeom>
                <a:avLst/>
                <a:gdLst/>
                <a:ahLst/>
                <a:cxnLst/>
                <a:rect l="l" t="t" r="r" b="b"/>
                <a:pathLst>
                  <a:path w="196453" h="196453">
                    <a:moveTo>
                      <a:pt x="36616" y="27424"/>
                    </a:moveTo>
                    <a:cubicBezTo>
                      <a:pt x="54175" y="9865"/>
                      <a:pt x="77990" y="0"/>
                      <a:pt x="102824" y="0"/>
                    </a:cubicBezTo>
                    <a:cubicBezTo>
                      <a:pt x="154534" y="0"/>
                      <a:pt x="196453" y="41920"/>
                      <a:pt x="196453" y="93630"/>
                    </a:cubicBezTo>
                    <a:cubicBezTo>
                      <a:pt x="196453" y="118463"/>
                      <a:pt x="186589" y="142278"/>
                      <a:pt x="169030" y="159837"/>
                    </a:cubicBezTo>
                    <a:lnTo>
                      <a:pt x="132413" y="196453"/>
                    </a:lnTo>
                    <a:lnTo>
                      <a:pt x="107156" y="171196"/>
                    </a:lnTo>
                    <a:lnTo>
                      <a:pt x="143773" y="134580"/>
                    </a:lnTo>
                    <a:cubicBezTo>
                      <a:pt x="154634" y="123719"/>
                      <a:pt x="160734" y="108989"/>
                      <a:pt x="160734" y="93630"/>
                    </a:cubicBezTo>
                    <a:cubicBezTo>
                      <a:pt x="160734" y="61647"/>
                      <a:pt x="134806" y="35719"/>
                      <a:pt x="102824" y="35719"/>
                    </a:cubicBezTo>
                    <a:cubicBezTo>
                      <a:pt x="87464" y="35719"/>
                      <a:pt x="72734" y="41820"/>
                      <a:pt x="61873" y="52681"/>
                    </a:cubicBezTo>
                    <a:lnTo>
                      <a:pt x="25257" y="89297"/>
                    </a:lnTo>
                    <a:lnTo>
                      <a:pt x="0" y="64040"/>
                    </a:lnTo>
                    <a:lnTo>
                      <a:pt x="36616" y="27424"/>
                    </a:ln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695325" y="2118122"/>
                <a:ext cx="196453" cy="196453"/>
              </a:xfrm>
              <a:custGeom>
                <a:avLst/>
                <a:gdLst/>
                <a:ahLst/>
                <a:cxnLst/>
                <a:rect l="l" t="t" r="r" b="b"/>
                <a:pathLst>
                  <a:path w="196453" h="196453">
                    <a:moveTo>
                      <a:pt x="134580" y="143773"/>
                    </a:moveTo>
                    <a:lnTo>
                      <a:pt x="171196" y="107156"/>
                    </a:lnTo>
                    <a:lnTo>
                      <a:pt x="196453" y="132413"/>
                    </a:lnTo>
                    <a:lnTo>
                      <a:pt x="159837" y="169030"/>
                    </a:lnTo>
                    <a:cubicBezTo>
                      <a:pt x="142278" y="186589"/>
                      <a:pt x="118463" y="196453"/>
                      <a:pt x="93630" y="196453"/>
                    </a:cubicBezTo>
                    <a:cubicBezTo>
                      <a:pt x="41920" y="196453"/>
                      <a:pt x="0" y="154534"/>
                      <a:pt x="0" y="102824"/>
                    </a:cubicBezTo>
                    <a:cubicBezTo>
                      <a:pt x="0" y="77991"/>
                      <a:pt x="9865" y="54175"/>
                      <a:pt x="27424" y="36616"/>
                    </a:cubicBezTo>
                    <a:lnTo>
                      <a:pt x="64040" y="0"/>
                    </a:lnTo>
                    <a:lnTo>
                      <a:pt x="89297" y="25257"/>
                    </a:lnTo>
                    <a:lnTo>
                      <a:pt x="52681" y="61873"/>
                    </a:lnTo>
                    <a:cubicBezTo>
                      <a:pt x="41820" y="72734"/>
                      <a:pt x="35719" y="87464"/>
                      <a:pt x="35719" y="102824"/>
                    </a:cubicBezTo>
                    <a:cubicBezTo>
                      <a:pt x="35719" y="134806"/>
                      <a:pt x="61647" y="160734"/>
                      <a:pt x="93630" y="160734"/>
                    </a:cubicBezTo>
                    <a:cubicBezTo>
                      <a:pt x="108989" y="160734"/>
                      <a:pt x="123719" y="154634"/>
                      <a:pt x="134580" y="143773"/>
                    </a:cubicBez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771993" y="2105493"/>
                <a:ext cx="132413" cy="132413"/>
              </a:xfrm>
              <a:custGeom>
                <a:avLst/>
                <a:gdLst/>
                <a:ahLst/>
                <a:cxnLst/>
                <a:rect l="l" t="t" r="r" b="b"/>
                <a:pathLst>
                  <a:path w="132413" h="132413">
                    <a:moveTo>
                      <a:pt x="25257" y="132413"/>
                    </a:moveTo>
                    <a:lnTo>
                      <a:pt x="132413" y="25257"/>
                    </a:lnTo>
                    <a:lnTo>
                      <a:pt x="107156" y="0"/>
                    </a:lnTo>
                    <a:lnTo>
                      <a:pt x="0" y="107156"/>
                    </a:lnTo>
                    <a:lnTo>
                      <a:pt x="25257" y="132413"/>
                    </a:ln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221105" y="2006918"/>
              <a:ext cx="17836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共用一个 Instance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24915" y="2267902"/>
              <a:ext cx="372246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EBS 与北美共用同一 Instance —— 拆的是一对「连体」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" y="2571750"/>
              <a:ext cx="457200" cy="457200"/>
            </a:xfrm>
            <a:prstGeom prst="roundRect">
              <a:avLst>
                <a:gd name="adj" fmla="val 12500"/>
              </a:avLst>
            </a:prstGeom>
            <a:solidFill>
              <a:srgbClr val="F1F3F5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695325" y="2672809"/>
              <a:ext cx="285750" cy="255082"/>
              <a:chOff x="695325" y="2672809"/>
              <a:chExt cx="285750" cy="255082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02661" y="2672809"/>
                <a:ext cx="71079" cy="255082"/>
              </a:xfrm>
              <a:custGeom>
                <a:avLst/>
                <a:gdLst/>
                <a:ahLst/>
                <a:cxnLst/>
                <a:rect l="l" t="t" r="r" b="b"/>
                <a:pathLst>
                  <a:path w="71079" h="255082">
                    <a:moveTo>
                      <a:pt x="35719" y="0"/>
                    </a:moveTo>
                    <a:lnTo>
                      <a:pt x="0" y="250032"/>
                    </a:lnTo>
                    <a:lnTo>
                      <a:pt x="35360" y="255082"/>
                    </a:lnTo>
                    <a:lnTo>
                      <a:pt x="71079" y="5051"/>
                    </a:lnTo>
                    <a:lnTo>
                      <a:pt x="35719" y="0"/>
                    </a:ln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93310" y="2737842"/>
                <a:ext cx="87765" cy="125016"/>
              </a:xfrm>
              <a:custGeom>
                <a:avLst/>
                <a:gdLst/>
                <a:ahLst/>
                <a:cxnLst/>
                <a:rect l="l" t="t" r="r" b="b"/>
                <a:pathLst>
                  <a:path w="87765" h="125016">
                    <a:moveTo>
                      <a:pt x="25257" y="125016"/>
                    </a:moveTo>
                    <a:lnTo>
                      <a:pt x="0" y="99759"/>
                    </a:lnTo>
                    <a:lnTo>
                      <a:pt x="37251" y="62508"/>
                    </a:lnTo>
                    <a:lnTo>
                      <a:pt x="0" y="25257"/>
                    </a:lnTo>
                    <a:lnTo>
                      <a:pt x="25257" y="0"/>
                    </a:lnTo>
                    <a:lnTo>
                      <a:pt x="87765" y="62508"/>
                    </a:lnTo>
                    <a:lnTo>
                      <a:pt x="25257" y="125016"/>
                    </a:ln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95325" y="2737842"/>
                <a:ext cx="87765" cy="125016"/>
              </a:xfrm>
              <a:custGeom>
                <a:avLst/>
                <a:gdLst/>
                <a:ahLst/>
                <a:cxnLst/>
                <a:rect l="l" t="t" r="r" b="b"/>
                <a:pathLst>
                  <a:path w="87765" h="125016">
                    <a:moveTo>
                      <a:pt x="50514" y="62508"/>
                    </a:moveTo>
                    <a:lnTo>
                      <a:pt x="87765" y="99759"/>
                    </a:lnTo>
                    <a:lnTo>
                      <a:pt x="62508" y="125016"/>
                    </a:lnTo>
                    <a:lnTo>
                      <a:pt x="0" y="62508"/>
                    </a:lnTo>
                    <a:lnTo>
                      <a:pt x="62508" y="0"/>
                    </a:lnTo>
                    <a:lnTo>
                      <a:pt x="87765" y="25257"/>
                    </a:lnTo>
                    <a:lnTo>
                      <a:pt x="50514" y="62508"/>
                    </a:ln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221105" y="2635568"/>
              <a:ext cx="127644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美方不给代码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24915" y="2896552"/>
              <a:ext cx="46732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仅提供 EBS 端口技术文档,不给克隆 —— 不能 lift-and-shift,要重建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9600" y="3200400"/>
              <a:ext cx="457200" cy="457200"/>
            </a:xfrm>
            <a:prstGeom prst="roundRect">
              <a:avLst>
                <a:gd name="adj" fmla="val 12500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695325" y="3286125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196453" y="107156"/>
                  </a:moveTo>
                  <a:cubicBezTo>
                    <a:pt x="226044" y="107156"/>
                    <a:pt x="250031" y="83168"/>
                    <a:pt x="250031" y="53578"/>
                  </a:cubicBezTo>
                  <a:cubicBezTo>
                    <a:pt x="250031" y="23988"/>
                    <a:pt x="226044" y="0"/>
                    <a:pt x="196453" y="0"/>
                  </a:cubicBezTo>
                  <a:cubicBezTo>
                    <a:pt x="166863" y="0"/>
                    <a:pt x="142875" y="23988"/>
                    <a:pt x="142875" y="53578"/>
                  </a:cubicBezTo>
                  <a:cubicBezTo>
                    <a:pt x="142875" y="57573"/>
                    <a:pt x="143312" y="61466"/>
                    <a:pt x="144142" y="65212"/>
                  </a:cubicBezTo>
                  <a:lnTo>
                    <a:pt x="86950" y="100957"/>
                  </a:lnTo>
                  <a:cubicBezTo>
                    <a:pt x="77795" y="93659"/>
                    <a:pt x="66196" y="89297"/>
                    <a:pt x="53578" y="89297"/>
                  </a:cubicBezTo>
                  <a:cubicBezTo>
                    <a:pt x="23988" y="89297"/>
                    <a:pt x="0" y="113285"/>
                    <a:pt x="0" y="142875"/>
                  </a:cubicBezTo>
                  <a:cubicBezTo>
                    <a:pt x="0" y="172465"/>
                    <a:pt x="23988" y="196453"/>
                    <a:pt x="53578" y="196453"/>
                  </a:cubicBezTo>
                  <a:cubicBezTo>
                    <a:pt x="66196" y="196453"/>
                    <a:pt x="77795" y="192092"/>
                    <a:pt x="86950" y="184793"/>
                  </a:cubicBezTo>
                  <a:lnTo>
                    <a:pt x="144142" y="220538"/>
                  </a:lnTo>
                  <a:cubicBezTo>
                    <a:pt x="143312" y="224283"/>
                    <a:pt x="142875" y="228177"/>
                    <a:pt x="142875" y="232172"/>
                  </a:cubicBezTo>
                  <a:cubicBezTo>
                    <a:pt x="142875" y="261763"/>
                    <a:pt x="166863" y="285750"/>
                    <a:pt x="196453" y="285750"/>
                  </a:cubicBezTo>
                  <a:cubicBezTo>
                    <a:pt x="226044" y="285750"/>
                    <a:pt x="250031" y="261763"/>
                    <a:pt x="250031" y="232172"/>
                  </a:cubicBezTo>
                  <a:cubicBezTo>
                    <a:pt x="250031" y="202581"/>
                    <a:pt x="226044" y="178594"/>
                    <a:pt x="196453" y="178594"/>
                  </a:cubicBezTo>
                  <a:cubicBezTo>
                    <a:pt x="183835" y="178594"/>
                    <a:pt x="172236" y="182955"/>
                    <a:pt x="163081" y="190254"/>
                  </a:cubicBezTo>
                  <a:lnTo>
                    <a:pt x="105890" y="154509"/>
                  </a:lnTo>
                  <a:cubicBezTo>
                    <a:pt x="106719" y="150763"/>
                    <a:pt x="107156" y="146870"/>
                    <a:pt x="107156" y="142875"/>
                  </a:cubicBezTo>
                  <a:cubicBezTo>
                    <a:pt x="107156" y="138880"/>
                    <a:pt x="106719" y="134987"/>
                    <a:pt x="105890" y="131241"/>
                  </a:cubicBezTo>
                  <a:lnTo>
                    <a:pt x="163081" y="95496"/>
                  </a:lnTo>
                  <a:cubicBezTo>
                    <a:pt x="172236" y="102794"/>
                    <a:pt x="183835" y="107156"/>
                    <a:pt x="196453" y="107156"/>
                  </a:cubicBezTo>
                  <a:close/>
                </a:path>
              </a:pathLst>
            </a:custGeom>
            <a:solidFill>
              <a:srgbClr val="1A3A5C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221105" y="3264218"/>
              <a:ext cx="14834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接口靠文档反推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24915" y="3525202"/>
              <a:ext cx="551668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 xml:space="preserve">11 Inbound + 22 Outbound 逻辑只能靠 RFI 文档还原 —— </a:t>
              </a:r>
              <a:r>
                <a:rPr lang="zh-CN" sz="1050" b="1" dirty="0">
                  <a:solidFill>
                    <a:srgbClr val="B0392E"/>
                  </a:solidFill>
                  <a:latin typeface="Arial"/>
                  <a:ea typeface="Microsoft YaHei"/>
                  <a:cs typeface="Arial"/>
                </a:rPr>
                <a:t>文档质量 = 最大单点风险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" y="3829050"/>
              <a:ext cx="457200" cy="457200"/>
            </a:xfrm>
            <a:prstGeom prst="roundRect">
              <a:avLst>
                <a:gd name="adj" fmla="val 12500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695325" y="3914775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160734" y="285750"/>
                  </a:moveTo>
                  <a:lnTo>
                    <a:pt x="125016" y="285750"/>
                  </a:lnTo>
                  <a:lnTo>
                    <a:pt x="0" y="160734"/>
                  </a:lnTo>
                  <a:lnTo>
                    <a:pt x="0" y="125016"/>
                  </a:lnTo>
                  <a:lnTo>
                    <a:pt x="125016" y="0"/>
                  </a:lnTo>
                  <a:lnTo>
                    <a:pt x="160734" y="0"/>
                  </a:lnTo>
                  <a:lnTo>
                    <a:pt x="285750" y="125016"/>
                  </a:lnTo>
                  <a:lnTo>
                    <a:pt x="285750" y="160734"/>
                  </a:lnTo>
                  <a:lnTo>
                    <a:pt x="160734" y="285750"/>
                  </a:lnTo>
                  <a:close/>
                  <a:moveTo>
                    <a:pt x="125016" y="53578"/>
                  </a:moveTo>
                  <a:lnTo>
                    <a:pt x="125016" y="160734"/>
                  </a:lnTo>
                  <a:lnTo>
                    <a:pt x="160734" y="160734"/>
                  </a:lnTo>
                  <a:lnTo>
                    <a:pt x="160734" y="53578"/>
                  </a:lnTo>
                  <a:lnTo>
                    <a:pt x="125016" y="53578"/>
                  </a:lnTo>
                  <a:close/>
                  <a:moveTo>
                    <a:pt x="125016" y="196453"/>
                  </a:moveTo>
                  <a:lnTo>
                    <a:pt x="125016" y="232172"/>
                  </a:lnTo>
                  <a:lnTo>
                    <a:pt x="160734" y="232172"/>
                  </a:lnTo>
                  <a:lnTo>
                    <a:pt x="160734" y="196453"/>
                  </a:lnTo>
                  <a:lnTo>
                    <a:pt x="125016" y="196453"/>
                  </a:lnTo>
                  <a:close/>
                </a:path>
              </a:pathLst>
            </a:custGeom>
            <a:solidFill>
              <a:srgbClr val="B0392E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221105" y="3892868"/>
              <a:ext cx="127644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数据合规缺口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224915" y="4153852"/>
              <a:ext cx="387581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现有系统仅覆盖至 2013 年,审计保留期需与财务核实口径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09600" y="4629150"/>
              <a:ext cx="6667500" cy="876300"/>
            </a:xfrm>
            <a:prstGeom prst="roundRect">
              <a:avLst>
                <a:gd name="adj" fmla="val 8696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09600" y="4629150"/>
              <a:ext cx="57150" cy="876300"/>
            </a:xfrm>
            <a:prstGeom prst="roundRect">
              <a:avLst>
                <a:gd name="adj" fmla="val 50000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61060" y="4842510"/>
              <a:ext cx="405138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这不是一次切换,是「解耦 — 过渡 — 重连」三步走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62965" y="5144452"/>
              <a:ext cx="53633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所以我们今天讲的是「方法」,不是「卖货」 —— 先把处境读对,方案才立得住。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7696200" y="1619250"/>
            <a:ext cx="3886200" cy="3886200"/>
            <a:chOff x="7696200" y="1619250"/>
            <a:chExt cx="3886200" cy="3886200"/>
          </a:xfrm>
        </p:grpSpPr>
        <p:sp>
          <p:nvSpPr>
            <p:cNvPr id="40" name="Rectangle 40"/>
            <p:cNvSpPr/>
            <p:nvPr/>
          </p:nvSpPr>
          <p:spPr>
            <a:xfrm>
              <a:off x="7696200" y="1619250"/>
              <a:ext cx="3886200" cy="3886200"/>
            </a:xfrm>
            <a:prstGeom prst="roundRect">
              <a:avLst>
                <a:gd name="adj" fmla="val 2451"/>
              </a:avLst>
            </a:prstGeom>
            <a:solidFill>
              <a:srgbClr val="FFFFFF"/>
            </a:solidFill>
            <a:ln w="19050">
              <a:solidFill>
                <a:srgbClr val="1E6B4F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696200" y="1619250"/>
              <a:ext cx="3886200" cy="438150"/>
            </a:xfrm>
            <a:prstGeom prst="roundRect">
              <a:avLst>
                <a:gd name="adj" fmla="val 21739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696200" y="1905000"/>
              <a:ext cx="3886200" cy="152400"/>
            </a:xfrm>
            <a:prstGeom prst="rect">
              <a:avLst/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7902178" y="1714500"/>
              <a:ext cx="216694" cy="247650"/>
            </a:xfrm>
            <a:custGeom>
              <a:avLst/>
              <a:gdLst/>
              <a:ahLst/>
              <a:cxnLst/>
              <a:rect l="l" t="t" r="r" b="b"/>
              <a:pathLst>
                <a:path w="216694" h="247650">
                  <a:moveTo>
                    <a:pt x="51853" y="207297"/>
                  </a:moveTo>
                  <a:lnTo>
                    <a:pt x="108347" y="247650"/>
                  </a:lnTo>
                  <a:lnTo>
                    <a:pt x="164840" y="207297"/>
                  </a:lnTo>
                  <a:cubicBezTo>
                    <a:pt x="197382" y="184053"/>
                    <a:pt x="216694" y="146526"/>
                    <a:pt x="216694" y="106537"/>
                  </a:cubicBezTo>
                  <a:lnTo>
                    <a:pt x="216694" y="46434"/>
                  </a:lnTo>
                  <a:lnTo>
                    <a:pt x="108347" y="0"/>
                  </a:lnTo>
                  <a:lnTo>
                    <a:pt x="0" y="46434"/>
                  </a:lnTo>
                  <a:lnTo>
                    <a:pt x="0" y="106537"/>
                  </a:lnTo>
                  <a:cubicBezTo>
                    <a:pt x="0" y="146526"/>
                    <a:pt x="19313" y="184053"/>
                    <a:pt x="51853" y="2072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231505" y="175926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我们也读懂了「边界」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910512" y="2336006"/>
              <a:ext cx="123622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6B4F"/>
                  </a:solidFill>
                  <a:latin typeface="Arial"/>
                  <a:ea typeface="Microsoft YaHei"/>
                  <a:cs typeface="Arial"/>
                </a:rPr>
                <a:t>本次切割范围内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911465" y="26298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· ERP(EBS 核心)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911465" y="2877502"/>
              <a:ext cx="14528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· Hyperion 报表合并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911465" y="3125152"/>
              <a:ext cx="136850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· Anaplan 全面预算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11465" y="3372802"/>
              <a:ext cx="9161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· 主数据 HUB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7924800" y="38862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9525">
              <a:solidFill>
                <a:srgbClr val="DDE0E4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910512" y="4088606"/>
              <a:ext cx="1426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B0392E"/>
                  </a:solidFill>
                  <a:latin typeface="Arial"/>
                  <a:ea typeface="Microsoft YaHei"/>
                  <a:cs typeface="Arial"/>
                </a:rPr>
                <a:t>明确不碰(范围外)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911465" y="4382452"/>
              <a:ext cx="15525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· 租赁系统(本次不动)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911465" y="4630102"/>
              <a:ext cx="19589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· BOH 微软系统(2028 另换)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911465" y="4877752"/>
              <a:ext cx="17058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· Rainbow 销售预测算法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696200" y="5200650"/>
              <a:ext cx="3886200" cy="304800"/>
            </a:xfrm>
            <a:prstGeom prst="rect">
              <a:avLst/>
            </a:prstGeom>
            <a:solidFill>
              <a:srgbClr val="1E6B4F">
                <a:alpha val="8000"/>
              </a:srgbClr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486748" y="5287328"/>
              <a:ext cx="23051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E6B4F"/>
                  </a:solidFill>
                  <a:latin typeface="Arial"/>
                  <a:ea typeface="Microsoft YaHei"/>
                  <a:cs typeface="Arial"/>
                </a:rPr>
                <a:t>主动讲清边界 = 懂分寸、不贪大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09600" y="5715000"/>
            <a:ext cx="10972800" cy="533400"/>
            <a:chOff x="609600" y="5715000"/>
            <a:chExt cx="10972800" cy="533400"/>
          </a:xfrm>
        </p:grpSpPr>
        <p:sp>
          <p:nvSpPr>
            <p:cNvPr id="58" name="Rectangle 58"/>
            <p:cNvSpPr/>
            <p:nvPr/>
          </p:nvSpPr>
          <p:spPr>
            <a:xfrm>
              <a:off x="609600" y="5715000"/>
              <a:ext cx="10972800" cy="53340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3537612" y="5902642"/>
              <a:ext cx="511677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「我们不是来听需求的,是带着对你架构的判断来的。」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99122" y="6521291"/>
            <a:ext cx="10993756" cy="167640"/>
            <a:chOff x="599122" y="6521291"/>
            <a:chExt cx="10993756" cy="167640"/>
          </a:xfrm>
        </p:grpSpPr>
        <p:sp>
          <p:nvSpPr>
            <p:cNvPr id="61" name="TextBox 61"/>
            <p:cNvSpPr txBox="1"/>
            <p:nvPr/>
          </p:nvSpPr>
          <p:spPr>
            <a:xfrm>
              <a:off x="599122" y="6521291"/>
              <a:ext cx="27139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星巴克中国 ERP 本地化拆分项目 · 凯捷 Capgemini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300740" y="6521291"/>
              <a:ext cx="129213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CONFIDENTIAL · 03 / 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39" grpId="0"/>
      <p:bldP spid="57" grpId="0"/>
      <p:bldP spid="6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81025" y="309562"/>
            <a:ext cx="9511332" cy="590550"/>
            <a:chOff x="581025" y="309562"/>
            <a:chExt cx="9511332" cy="590550"/>
          </a:xfrm>
        </p:grpSpPr>
        <p:sp>
          <p:nvSpPr>
            <p:cNvPr id="5" name="TextBox 5"/>
            <p:cNvSpPr txBox="1"/>
            <p:nvPr/>
          </p:nvSpPr>
          <p:spPr>
            <a:xfrm>
              <a:off x="581025" y="309562"/>
              <a:ext cx="951133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第二幕 · 点破真难点 —— 这是「分拆」项目,不是「实施」项目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265" y="686752"/>
              <a:ext cx="374546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把竞争维度从「谁会配软件」换到「谁懂 Carve-out」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952500"/>
            <a:ext cx="10972800" cy="476250"/>
            <a:chOff x="609600" y="952500"/>
            <a:chExt cx="10972800" cy="476250"/>
          </a:xfrm>
        </p:grpSpPr>
        <p:sp>
          <p:nvSpPr>
            <p:cNvPr id="8" name="Rectangle 8"/>
            <p:cNvSpPr/>
            <p:nvPr/>
          </p:nvSpPr>
          <p:spPr>
            <a:xfrm>
              <a:off x="609600" y="952500"/>
              <a:ext cx="10972800" cy="47625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952500"/>
              <a:ext cx="57150" cy="47625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0108" y="1110139"/>
              <a:ext cx="615230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 xml:space="preserve">Oracle EBS 在星巴克中国是「三位一体」 —— </a:t>
              </a:r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拆 ERP = 拆整张蜘蛛网</a:t>
              </a:r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095750" y="2571750"/>
            <a:ext cx="4000500" cy="1885950"/>
            <a:chOff x="4095750" y="2571750"/>
            <a:chExt cx="4000500" cy="1885950"/>
          </a:xfrm>
        </p:grpSpPr>
        <p:sp>
          <p:nvSpPr>
            <p:cNvPr id="12" name="Line 12"/>
            <p:cNvSpPr/>
            <p:nvPr/>
          </p:nvSpPr>
          <p:spPr>
            <a:xfrm>
              <a:off x="6096000" y="2571750"/>
              <a:ext cx="9525" cy="762000"/>
            </a:xfrm>
            <a:custGeom>
              <a:avLst/>
              <a:gdLst/>
              <a:ahLst/>
              <a:cxnLst/>
              <a:rect l="l" t="t" r="r" b="b"/>
              <a:pathLst>
                <a:path w="9525" h="762000">
                  <a:moveTo>
                    <a:pt x="0" y="76200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rgbClr val="C8862E"/>
              </a:solidFill>
              <a:custDash>
                <a:ds d="240000" sp="240000"/>
              </a:custDash>
            </a:ln>
          </p:spPr>
        </p:sp>
        <p:sp>
          <p:nvSpPr>
            <p:cNvPr id="13" name="Line 13"/>
            <p:cNvSpPr/>
            <p:nvPr/>
          </p:nvSpPr>
          <p:spPr>
            <a:xfrm>
              <a:off x="4095750" y="3333750"/>
              <a:ext cx="2000250" cy="1123950"/>
            </a:xfrm>
            <a:custGeom>
              <a:avLst/>
              <a:gdLst/>
              <a:ahLst/>
              <a:cxnLst/>
              <a:rect l="l" t="t" r="r" b="b"/>
              <a:pathLst>
                <a:path w="2000250" h="1123950">
                  <a:moveTo>
                    <a:pt x="2000250" y="0"/>
                  </a:moveTo>
                  <a:lnTo>
                    <a:pt x="0" y="1123950"/>
                  </a:lnTo>
                </a:path>
              </a:pathLst>
            </a:custGeom>
            <a:noFill/>
            <a:ln w="23812">
              <a:solidFill>
                <a:srgbClr val="C8862E"/>
              </a:solidFill>
              <a:custDash>
                <a:ds d="240000" sp="240000"/>
              </a:custDash>
            </a:ln>
          </p:spPr>
        </p:sp>
        <p:sp>
          <p:nvSpPr>
            <p:cNvPr id="14" name="Line 14"/>
            <p:cNvSpPr/>
            <p:nvPr/>
          </p:nvSpPr>
          <p:spPr>
            <a:xfrm>
              <a:off x="6096000" y="3333750"/>
              <a:ext cx="2000250" cy="1123950"/>
            </a:xfrm>
            <a:custGeom>
              <a:avLst/>
              <a:gdLst/>
              <a:ahLst/>
              <a:cxnLst/>
              <a:rect l="l" t="t" r="r" b="b"/>
              <a:pathLst>
                <a:path w="2000250" h="1123950">
                  <a:moveTo>
                    <a:pt x="0" y="0"/>
                  </a:moveTo>
                  <a:lnTo>
                    <a:pt x="2000250" y="1123950"/>
                  </a:lnTo>
                </a:path>
              </a:pathLst>
            </a:custGeom>
            <a:noFill/>
            <a:ln w="23812">
              <a:solidFill>
                <a:srgbClr val="C8862E"/>
              </a:solidFill>
              <a:custDash>
                <a:ds d="240000" sp="240000"/>
              </a:custDash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5276850" y="2514600"/>
            <a:ext cx="1638300" cy="1638300"/>
            <a:chOff x="5276850" y="2514600"/>
            <a:chExt cx="1638300" cy="1638300"/>
          </a:xfrm>
        </p:grpSpPr>
        <p:sp>
          <p:nvSpPr>
            <p:cNvPr id="16" name="Ellipse 16"/>
            <p:cNvSpPr/>
            <p:nvPr/>
          </p:nvSpPr>
          <p:spPr>
            <a:xfrm>
              <a:off x="5276850" y="2514600"/>
              <a:ext cx="1638300" cy="1638300"/>
            </a:xfrm>
            <a:prstGeom prst="ellipse">
              <a:avLst/>
            </a:prstGeom>
            <a:noFill/>
            <a:ln w="9525">
              <a:solidFill>
                <a:srgbClr val="1A3A5C">
                  <a:alpha val="20000"/>
                </a:srgbClr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5353050" y="2590800"/>
              <a:ext cx="1485900" cy="1485900"/>
            </a:xfrm>
            <a:prstGeom prst="ellipse">
              <a:avLst/>
            </a:prstGeom>
            <a:gradFill>
              <a:gsLst>
                <a:gs pos="0">
                  <a:srgbClr val="1A3A5C"/>
                </a:gs>
                <a:gs pos="100000">
                  <a:srgbClr val="16314D"/>
                </a:gs>
              </a:gsLst>
              <a:lin ang="2700000" scaled="1"/>
            </a:gra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5924550" y="2857500"/>
              <a:ext cx="342900" cy="457200"/>
              <a:chOff x="5924550" y="2857500"/>
              <a:chExt cx="342900" cy="4572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5924550" y="3040380"/>
                <a:ext cx="34290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131445">
                    <a:moveTo>
                      <a:pt x="318243" y="14578"/>
                    </a:moveTo>
                    <a:cubicBezTo>
                      <a:pt x="326281" y="10558"/>
                      <a:pt x="334679" y="5709"/>
                      <a:pt x="342900" y="0"/>
                    </a:cubicBezTo>
                    <a:lnTo>
                      <a:pt x="342900" y="45720"/>
                    </a:lnTo>
                    <a:cubicBezTo>
                      <a:pt x="342900" y="93064"/>
                      <a:pt x="266139" y="131445"/>
                      <a:pt x="171450" y="131445"/>
                    </a:cubicBezTo>
                    <a:cubicBezTo>
                      <a:pt x="76761" y="131445"/>
                      <a:pt x="0" y="93064"/>
                      <a:pt x="0" y="45720"/>
                    </a:cubicBezTo>
                    <a:lnTo>
                      <a:pt x="0" y="0"/>
                    </a:lnTo>
                    <a:cubicBezTo>
                      <a:pt x="8222" y="5709"/>
                      <a:pt x="16619" y="10558"/>
                      <a:pt x="24658" y="14578"/>
                    </a:cubicBezTo>
                    <a:cubicBezTo>
                      <a:pt x="65178" y="34838"/>
                      <a:pt x="117157" y="45720"/>
                      <a:pt x="171450" y="45720"/>
                    </a:cubicBezTo>
                    <a:cubicBezTo>
                      <a:pt x="225743" y="45720"/>
                      <a:pt x="277720" y="34838"/>
                      <a:pt x="318243" y="14578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5924550" y="3183255"/>
                <a:ext cx="34290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131445">
                    <a:moveTo>
                      <a:pt x="0" y="0"/>
                    </a:moveTo>
                    <a:lnTo>
                      <a:pt x="0" y="45720"/>
                    </a:lnTo>
                    <a:cubicBezTo>
                      <a:pt x="0" y="93066"/>
                      <a:pt x="76761" y="131445"/>
                      <a:pt x="171450" y="131445"/>
                    </a:cubicBezTo>
                    <a:cubicBezTo>
                      <a:pt x="266139" y="131445"/>
                      <a:pt x="342900" y="93066"/>
                      <a:pt x="342900" y="45720"/>
                    </a:cubicBezTo>
                    <a:lnTo>
                      <a:pt x="342900" y="0"/>
                    </a:lnTo>
                    <a:cubicBezTo>
                      <a:pt x="334679" y="5709"/>
                      <a:pt x="326281" y="10558"/>
                      <a:pt x="318243" y="14579"/>
                    </a:cubicBezTo>
                    <a:cubicBezTo>
                      <a:pt x="277720" y="34839"/>
                      <a:pt x="225743" y="45720"/>
                      <a:pt x="171450" y="45720"/>
                    </a:cubicBezTo>
                    <a:cubicBezTo>
                      <a:pt x="117157" y="45720"/>
                      <a:pt x="65178" y="34839"/>
                      <a:pt x="24658" y="14579"/>
                    </a:cubicBezTo>
                    <a:cubicBezTo>
                      <a:pt x="16619" y="10558"/>
                      <a:pt x="8222" y="5709"/>
                      <a:pt x="0" y="0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5924550" y="2857500"/>
                <a:ext cx="3429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171450">
                    <a:moveTo>
                      <a:pt x="171450" y="0"/>
                    </a:moveTo>
                    <a:cubicBezTo>
                      <a:pt x="266139" y="0"/>
                      <a:pt x="342900" y="38381"/>
                      <a:pt x="342900" y="85725"/>
                    </a:cubicBezTo>
                    <a:cubicBezTo>
                      <a:pt x="342900" y="133069"/>
                      <a:pt x="266139" y="171450"/>
                      <a:pt x="171450" y="171450"/>
                    </a:cubicBezTo>
                    <a:cubicBezTo>
                      <a:pt x="76761" y="171450"/>
                      <a:pt x="0" y="133069"/>
                      <a:pt x="0" y="85725"/>
                    </a:cubicBezTo>
                    <a:cubicBezTo>
                      <a:pt x="0" y="38381"/>
                      <a:pt x="76761" y="0"/>
                      <a:pt x="171450" y="0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5417163" y="3365182"/>
              <a:ext cx="135767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Oracle EBS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99783" y="3666649"/>
              <a:ext cx="119243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C9D6E3"/>
                  </a:solidFill>
                  <a:latin typeface="Arial"/>
                  <a:ea typeface="Microsoft YaHei"/>
                  <a:cs typeface="Arial"/>
                </a:rPr>
                <a:t>12.2.9 · 三位一体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667250" y="1581150"/>
            <a:ext cx="2857500" cy="1014412"/>
            <a:chOff x="4667250" y="1581150"/>
            <a:chExt cx="2857500" cy="1014412"/>
          </a:xfrm>
        </p:grpSpPr>
        <p:sp>
          <p:nvSpPr>
            <p:cNvPr id="25" name="Rectangle 25"/>
            <p:cNvSpPr/>
            <p:nvPr/>
          </p:nvSpPr>
          <p:spPr>
            <a:xfrm>
              <a:off x="4667250" y="1581150"/>
              <a:ext cx="2857500" cy="990600"/>
            </a:xfrm>
            <a:prstGeom prst="roundRect">
              <a:avLst>
                <a:gd name="adj" fmla="val 9615"/>
              </a:avLst>
            </a:prstGeom>
            <a:solidFill>
              <a:srgbClr val="FFFFFF"/>
            </a:solidFill>
            <a:ln w="14288">
              <a:solidFill>
                <a:srgbClr val="DDE0E4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667250" y="1581150"/>
              <a:ext cx="57150" cy="990600"/>
            </a:xfrm>
            <a:prstGeom prst="roundRect">
              <a:avLst>
                <a:gd name="adj" fmla="val 50000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4894659" y="1789509"/>
              <a:ext cx="250031" cy="250031"/>
            </a:xfrm>
            <a:custGeom>
              <a:avLst/>
              <a:gdLst/>
              <a:ahLst/>
              <a:cxnLst/>
              <a:rect l="l" t="t" r="r" b="b"/>
              <a:pathLst>
                <a:path w="250031" h="250031">
                  <a:moveTo>
                    <a:pt x="0" y="53578"/>
                  </a:moveTo>
                  <a:cubicBezTo>
                    <a:pt x="0" y="23988"/>
                    <a:pt x="23988" y="0"/>
                    <a:pt x="53578" y="0"/>
                  </a:cubicBezTo>
                  <a:lnTo>
                    <a:pt x="250031" y="0"/>
                  </a:lnTo>
                  <a:lnTo>
                    <a:pt x="250031" y="35719"/>
                  </a:lnTo>
                  <a:lnTo>
                    <a:pt x="53578" y="35719"/>
                  </a:lnTo>
                  <a:lnTo>
                    <a:pt x="53578" y="71438"/>
                  </a:lnTo>
                  <a:lnTo>
                    <a:pt x="250031" y="71438"/>
                  </a:lnTo>
                  <a:lnTo>
                    <a:pt x="250031" y="250031"/>
                  </a:lnTo>
                  <a:lnTo>
                    <a:pt x="53578" y="250031"/>
                  </a:lnTo>
                  <a:cubicBezTo>
                    <a:pt x="23988" y="250031"/>
                    <a:pt x="0" y="226044"/>
                    <a:pt x="0" y="196453"/>
                  </a:cubicBezTo>
                  <a:lnTo>
                    <a:pt x="0" y="53578"/>
                  </a:lnTo>
                  <a:close/>
                  <a:moveTo>
                    <a:pt x="196453" y="178594"/>
                  </a:moveTo>
                  <a:cubicBezTo>
                    <a:pt x="206317" y="178594"/>
                    <a:pt x="214312" y="170598"/>
                    <a:pt x="214312" y="160734"/>
                  </a:cubicBezTo>
                  <a:cubicBezTo>
                    <a:pt x="214312" y="150871"/>
                    <a:pt x="206317" y="142875"/>
                    <a:pt x="196453" y="142875"/>
                  </a:cubicBezTo>
                  <a:cubicBezTo>
                    <a:pt x="186589" y="142875"/>
                    <a:pt x="178594" y="150871"/>
                    <a:pt x="178594" y="160734"/>
                  </a:cubicBezTo>
                  <a:cubicBezTo>
                    <a:pt x="178594" y="170598"/>
                    <a:pt x="186589" y="178594"/>
                    <a:pt x="196453" y="178594"/>
                  </a:cubicBezTo>
                  <a:close/>
                </a:path>
              </a:pathLst>
            </a:custGeom>
            <a:solidFill>
              <a:srgbClr val="1A3A5C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277802" y="1827371"/>
              <a:ext cx="91030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财务核心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882515" y="2172652"/>
              <a:ext cx="192057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GL · AP · AR · FA · PA · CE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882515" y="2382202"/>
              <a:ext cx="1406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法定账套与核算逻辑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143000" y="4267200"/>
            <a:ext cx="3238500" cy="1033462"/>
            <a:chOff x="1143000" y="4267200"/>
            <a:chExt cx="3238500" cy="1033462"/>
          </a:xfrm>
        </p:grpSpPr>
        <p:sp>
          <p:nvSpPr>
            <p:cNvPr id="32" name="Rectangle 32"/>
            <p:cNvSpPr/>
            <p:nvPr/>
          </p:nvSpPr>
          <p:spPr>
            <a:xfrm>
              <a:off x="1143000" y="4267200"/>
              <a:ext cx="3238500" cy="1028700"/>
            </a:xfrm>
            <a:prstGeom prst="roundRect">
              <a:avLst>
                <a:gd name="adj" fmla="val 9259"/>
              </a:avLst>
            </a:prstGeom>
            <a:solidFill>
              <a:srgbClr val="FFFFFF"/>
            </a:solidFill>
            <a:ln w="14288">
              <a:solidFill>
                <a:srgbClr val="DDE0E4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143000" y="4267200"/>
              <a:ext cx="57150" cy="1028700"/>
            </a:xfrm>
            <a:prstGeom prst="roundRect">
              <a:avLst>
                <a:gd name="adj" fmla="val 50000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1371600" y="4476750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196453" y="107156"/>
                  </a:moveTo>
                  <a:cubicBezTo>
                    <a:pt x="226044" y="107156"/>
                    <a:pt x="250031" y="83168"/>
                    <a:pt x="250031" y="53578"/>
                  </a:cubicBezTo>
                  <a:cubicBezTo>
                    <a:pt x="250031" y="23988"/>
                    <a:pt x="226044" y="0"/>
                    <a:pt x="196453" y="0"/>
                  </a:cubicBezTo>
                  <a:cubicBezTo>
                    <a:pt x="166863" y="0"/>
                    <a:pt x="142875" y="23988"/>
                    <a:pt x="142875" y="53578"/>
                  </a:cubicBezTo>
                  <a:cubicBezTo>
                    <a:pt x="142875" y="57573"/>
                    <a:pt x="143312" y="61466"/>
                    <a:pt x="144142" y="65212"/>
                  </a:cubicBezTo>
                  <a:lnTo>
                    <a:pt x="86950" y="100957"/>
                  </a:lnTo>
                  <a:cubicBezTo>
                    <a:pt x="77795" y="93659"/>
                    <a:pt x="66196" y="89297"/>
                    <a:pt x="53578" y="89297"/>
                  </a:cubicBezTo>
                  <a:cubicBezTo>
                    <a:pt x="23988" y="89297"/>
                    <a:pt x="0" y="113285"/>
                    <a:pt x="0" y="142875"/>
                  </a:cubicBezTo>
                  <a:cubicBezTo>
                    <a:pt x="0" y="172465"/>
                    <a:pt x="23988" y="196453"/>
                    <a:pt x="53578" y="196453"/>
                  </a:cubicBezTo>
                  <a:cubicBezTo>
                    <a:pt x="66196" y="196453"/>
                    <a:pt x="77795" y="192092"/>
                    <a:pt x="86950" y="184793"/>
                  </a:cubicBezTo>
                  <a:lnTo>
                    <a:pt x="144142" y="220538"/>
                  </a:lnTo>
                  <a:cubicBezTo>
                    <a:pt x="143312" y="224283"/>
                    <a:pt x="142875" y="228177"/>
                    <a:pt x="142875" y="232172"/>
                  </a:cubicBezTo>
                  <a:cubicBezTo>
                    <a:pt x="142875" y="261763"/>
                    <a:pt x="166863" y="285750"/>
                    <a:pt x="196453" y="285750"/>
                  </a:cubicBezTo>
                  <a:cubicBezTo>
                    <a:pt x="226044" y="285750"/>
                    <a:pt x="250031" y="261763"/>
                    <a:pt x="250031" y="232172"/>
                  </a:cubicBezTo>
                  <a:cubicBezTo>
                    <a:pt x="250031" y="202581"/>
                    <a:pt x="226044" y="178594"/>
                    <a:pt x="196453" y="178594"/>
                  </a:cubicBezTo>
                  <a:cubicBezTo>
                    <a:pt x="183835" y="178594"/>
                    <a:pt x="172236" y="182955"/>
                    <a:pt x="163081" y="190254"/>
                  </a:cubicBezTo>
                  <a:lnTo>
                    <a:pt x="105890" y="154509"/>
                  </a:lnTo>
                  <a:cubicBezTo>
                    <a:pt x="106719" y="150763"/>
                    <a:pt x="107156" y="146870"/>
                    <a:pt x="107156" y="142875"/>
                  </a:cubicBezTo>
                  <a:cubicBezTo>
                    <a:pt x="107156" y="138880"/>
                    <a:pt x="106719" y="134987"/>
                    <a:pt x="105890" y="131241"/>
                  </a:cubicBezTo>
                  <a:lnTo>
                    <a:pt x="163081" y="95496"/>
                  </a:lnTo>
                  <a:cubicBezTo>
                    <a:pt x="172236" y="102794"/>
                    <a:pt x="183835" y="107156"/>
                    <a:pt x="196453" y="107156"/>
                  </a:cubicBezTo>
                  <a:close/>
                </a:path>
              </a:pathLst>
            </a:custGeom>
            <a:solidFill>
              <a:srgbClr val="1E6B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772602" y="4532471"/>
              <a:ext cx="91030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集成枢纽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377315" y="4877752"/>
              <a:ext cx="18132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11 Inbound + 22 Outbound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377315" y="5087302"/>
              <a:ext cx="15601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前后端系统全靠它串联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7810500" y="4267200"/>
            <a:ext cx="3238500" cy="1033462"/>
            <a:chOff x="7810500" y="4267200"/>
            <a:chExt cx="3238500" cy="1033462"/>
          </a:xfrm>
        </p:grpSpPr>
        <p:sp>
          <p:nvSpPr>
            <p:cNvPr id="39" name="Rectangle 39"/>
            <p:cNvSpPr/>
            <p:nvPr/>
          </p:nvSpPr>
          <p:spPr>
            <a:xfrm>
              <a:off x="7810500" y="4267200"/>
              <a:ext cx="3238500" cy="1028700"/>
            </a:xfrm>
            <a:prstGeom prst="roundRect">
              <a:avLst>
                <a:gd name="adj" fmla="val 9259"/>
              </a:avLst>
            </a:prstGeom>
            <a:solidFill>
              <a:srgbClr val="FFFFFF"/>
            </a:solidFill>
            <a:ln w="14288">
              <a:solidFill>
                <a:srgbClr val="DDE0E4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810500" y="4267200"/>
              <a:ext cx="57150" cy="1028700"/>
            </a:xfrm>
            <a:prstGeom prst="roundRect">
              <a:avLst>
                <a:gd name="adj" fmla="val 50000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8065889" y="4476750"/>
              <a:ext cx="232172" cy="285750"/>
            </a:xfrm>
            <a:custGeom>
              <a:avLst/>
              <a:gdLst/>
              <a:ahLst/>
              <a:cxnLst/>
              <a:rect l="l" t="t" r="r" b="b"/>
              <a:pathLst>
                <a:path w="232172" h="285750">
                  <a:moveTo>
                    <a:pt x="65005" y="84397"/>
                  </a:moveTo>
                  <a:cubicBezTo>
                    <a:pt x="79428" y="76995"/>
                    <a:pt x="89297" y="61974"/>
                    <a:pt x="89297" y="44648"/>
                  </a:cubicBezTo>
                  <a:cubicBezTo>
                    <a:pt x="89297" y="19990"/>
                    <a:pt x="69307" y="0"/>
                    <a:pt x="44648" y="0"/>
                  </a:cubicBezTo>
                  <a:cubicBezTo>
                    <a:pt x="19990" y="0"/>
                    <a:pt x="0" y="19990"/>
                    <a:pt x="0" y="44648"/>
                  </a:cubicBezTo>
                  <a:cubicBezTo>
                    <a:pt x="0" y="62957"/>
                    <a:pt x="11020" y="78692"/>
                    <a:pt x="26789" y="85582"/>
                  </a:cubicBezTo>
                  <a:lnTo>
                    <a:pt x="26789" y="200168"/>
                  </a:lnTo>
                  <a:cubicBezTo>
                    <a:pt x="11020" y="207058"/>
                    <a:pt x="0" y="222792"/>
                    <a:pt x="0" y="241102"/>
                  </a:cubicBezTo>
                  <a:cubicBezTo>
                    <a:pt x="0" y="265760"/>
                    <a:pt x="19990" y="285750"/>
                    <a:pt x="44648" y="285750"/>
                  </a:cubicBezTo>
                  <a:cubicBezTo>
                    <a:pt x="69307" y="285750"/>
                    <a:pt x="89297" y="265760"/>
                    <a:pt x="89297" y="241102"/>
                  </a:cubicBezTo>
                  <a:cubicBezTo>
                    <a:pt x="89297" y="222792"/>
                    <a:pt x="78277" y="207058"/>
                    <a:pt x="62508" y="200168"/>
                  </a:cubicBezTo>
                  <a:lnTo>
                    <a:pt x="62508" y="132413"/>
                  </a:lnTo>
                  <a:lnTo>
                    <a:pt x="99759" y="169664"/>
                  </a:lnTo>
                  <a:lnTo>
                    <a:pt x="146590" y="169664"/>
                  </a:lnTo>
                  <a:cubicBezTo>
                    <a:pt x="153480" y="185434"/>
                    <a:pt x="169214" y="196453"/>
                    <a:pt x="187523" y="196453"/>
                  </a:cubicBezTo>
                  <a:cubicBezTo>
                    <a:pt x="212182" y="196453"/>
                    <a:pt x="232172" y="176463"/>
                    <a:pt x="232172" y="151805"/>
                  </a:cubicBezTo>
                  <a:cubicBezTo>
                    <a:pt x="232172" y="127146"/>
                    <a:pt x="212182" y="107156"/>
                    <a:pt x="187523" y="107156"/>
                  </a:cubicBezTo>
                  <a:cubicBezTo>
                    <a:pt x="169214" y="107156"/>
                    <a:pt x="153480" y="118176"/>
                    <a:pt x="146590" y="133945"/>
                  </a:cubicBezTo>
                  <a:lnTo>
                    <a:pt x="114554" y="133945"/>
                  </a:lnTo>
                  <a:lnTo>
                    <a:pt x="65005" y="84397"/>
                  </a:lnTo>
                  <a:close/>
                </a:path>
              </a:pathLst>
            </a:custGeom>
            <a:solidFill>
              <a:srgbClr val="1A3A5C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440102" y="4532471"/>
              <a:ext cx="1128832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主数据中心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044815" y="4877752"/>
              <a:ext cx="11768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Oracle HUB 分发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044815" y="5087302"/>
              <a:ext cx="21889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Item / Supplier / Store / COA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09600" y="5543550"/>
            <a:ext cx="10972800" cy="742950"/>
            <a:chOff x="609600" y="5543550"/>
            <a:chExt cx="10972800" cy="742950"/>
          </a:xfrm>
        </p:grpSpPr>
        <p:sp>
          <p:nvSpPr>
            <p:cNvPr id="46" name="Rectangle 46"/>
            <p:cNvSpPr/>
            <p:nvPr/>
          </p:nvSpPr>
          <p:spPr>
            <a:xfrm>
              <a:off x="609600" y="5543550"/>
              <a:ext cx="10972800" cy="74295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61060" y="5737860"/>
              <a:ext cx="872337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9D6E3"/>
                  </a:solidFill>
                  <a:latin typeface="Arial"/>
                  <a:ea typeface="Microsoft YaHei"/>
                  <a:cs typeface="Arial"/>
                </a:rPr>
                <a:t>真正的能力门槛是</a:t>
              </a:r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「解耦」</a:t>
              </a:r>
              <a:r>
                <a:rPr lang="zh-CN" sz="1200" dirty="0">
                  <a:solidFill>
                    <a:srgbClr val="C9D6E3"/>
                  </a:solidFill>
                  <a:latin typeface="Arial"/>
                  <a:ea typeface="Microsoft YaHei"/>
                  <a:cs typeface="Arial"/>
                </a:rPr>
                <a:t xml:space="preserve"> —— 不是会不会配 SAP / Oracle,而是能不能把「连体」干净地拆开、还让业务不停。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60108" y="5996464"/>
              <a:ext cx="513557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「会配软件的供应商很多;做过这种规模分拆的,没几家。」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99122" y="6521291"/>
            <a:ext cx="10993756" cy="167640"/>
            <a:chOff x="599122" y="6521291"/>
            <a:chExt cx="10993756" cy="167640"/>
          </a:xfrm>
        </p:grpSpPr>
        <p:sp>
          <p:nvSpPr>
            <p:cNvPr id="50" name="TextBox 50"/>
            <p:cNvSpPr txBox="1"/>
            <p:nvPr/>
          </p:nvSpPr>
          <p:spPr>
            <a:xfrm>
              <a:off x="599122" y="6521291"/>
              <a:ext cx="27139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星巴克中国 ERP 本地化拆分项目 · 凯捷 Capgemini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300740" y="6521291"/>
              <a:ext cx="129213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CONFIDENTIAL · 04 / 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/>
      <p:bldP spid="24" grpId="0"/>
      <p:bldP spid="31" grpId="0"/>
      <p:bldP spid="38" grpId="0"/>
      <p:bldP spid="45" grpId="0"/>
      <p:bldP spid="4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81025" y="309562"/>
            <a:ext cx="7303056" cy="590550"/>
            <a:chOff x="581025" y="309562"/>
            <a:chExt cx="7303056" cy="590550"/>
          </a:xfrm>
        </p:grpSpPr>
        <p:sp>
          <p:nvSpPr>
            <p:cNvPr id="5" name="TextBox 5"/>
            <p:cNvSpPr txBox="1"/>
            <p:nvPr/>
          </p:nvSpPr>
          <p:spPr>
            <a:xfrm>
              <a:off x="581025" y="309562"/>
              <a:ext cx="730305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第三幕 · 我们做过 —— 麦当劳 / 伊利的同题答卷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265" y="686752"/>
              <a:ext cx="451223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不是讲历史,是讲「星巴克现在的风险 = 当年的题,我们这样解的」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952500"/>
            <a:ext cx="10972800" cy="476250"/>
            <a:chOff x="609600" y="952500"/>
            <a:chExt cx="10972800" cy="476250"/>
          </a:xfrm>
        </p:grpSpPr>
        <p:sp>
          <p:nvSpPr>
            <p:cNvPr id="8" name="Rectangle 8"/>
            <p:cNvSpPr/>
            <p:nvPr/>
          </p:nvSpPr>
          <p:spPr>
            <a:xfrm>
              <a:off x="609600" y="952500"/>
              <a:ext cx="10972800" cy="47625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952500"/>
              <a:ext cx="57150" cy="47625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0108" y="1110139"/>
              <a:ext cx="52137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 xml:space="preserve">同一道题,凯捷已经交过一次卷 —— </a:t>
              </a:r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麦当劳中国的 ERP 分拆</a:t>
              </a:r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09600" y="1581150"/>
            <a:ext cx="10972800" cy="457200"/>
            <a:chOff x="609600" y="1581150"/>
            <a:chExt cx="10972800" cy="457200"/>
          </a:xfrm>
        </p:grpSpPr>
        <p:sp>
          <p:nvSpPr>
            <p:cNvPr id="12" name="Rectangle 12"/>
            <p:cNvSpPr/>
            <p:nvPr/>
          </p:nvSpPr>
          <p:spPr>
            <a:xfrm>
              <a:off x="609600" y="1581150"/>
              <a:ext cx="4191000" cy="457200"/>
            </a:xfrm>
            <a:prstGeom prst="roundRect">
              <a:avLst>
                <a:gd name="adj" fmla="val 12500"/>
              </a:avLst>
            </a:prstGeom>
            <a:solidFill>
              <a:srgbClr val="B0392E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800100" y="16954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28588" y="228600"/>
                  </a:moveTo>
                  <a:lnTo>
                    <a:pt x="100012" y="228600"/>
                  </a:lnTo>
                  <a:lnTo>
                    <a:pt x="0" y="128588"/>
                  </a:lnTo>
                  <a:lnTo>
                    <a:pt x="0" y="100012"/>
                  </a:lnTo>
                  <a:lnTo>
                    <a:pt x="100012" y="0"/>
                  </a:lnTo>
                  <a:lnTo>
                    <a:pt x="128588" y="0"/>
                  </a:lnTo>
                  <a:lnTo>
                    <a:pt x="228600" y="100012"/>
                  </a:lnTo>
                  <a:lnTo>
                    <a:pt x="228600" y="128588"/>
                  </a:lnTo>
                  <a:lnTo>
                    <a:pt x="128588" y="228600"/>
                  </a:lnTo>
                  <a:close/>
                  <a:moveTo>
                    <a:pt x="100012" y="42862"/>
                  </a:moveTo>
                  <a:lnTo>
                    <a:pt x="100012" y="128588"/>
                  </a:lnTo>
                  <a:lnTo>
                    <a:pt x="128588" y="128588"/>
                  </a:lnTo>
                  <a:lnTo>
                    <a:pt x="128588" y="42862"/>
                  </a:lnTo>
                  <a:lnTo>
                    <a:pt x="100012" y="42862"/>
                  </a:lnTo>
                  <a:close/>
                  <a:moveTo>
                    <a:pt x="100012" y="157162"/>
                  </a:moveTo>
                  <a:lnTo>
                    <a:pt x="100012" y="185738"/>
                  </a:lnTo>
                  <a:lnTo>
                    <a:pt x="128588" y="185738"/>
                  </a:lnTo>
                  <a:lnTo>
                    <a:pt x="128588" y="157162"/>
                  </a:lnTo>
                  <a:lnTo>
                    <a:pt x="100012" y="15716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107758" y="1738789"/>
              <a:ext cx="159658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星巴克现在的风险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953000" y="1581150"/>
              <a:ext cx="6629400" cy="457200"/>
            </a:xfrm>
            <a:prstGeom prst="roundRect">
              <a:avLst>
                <a:gd name="adj" fmla="val 12500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5143500" y="16954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57150" y="0"/>
                  </a:moveTo>
                  <a:lnTo>
                    <a:pt x="171450" y="0"/>
                  </a:lnTo>
                  <a:lnTo>
                    <a:pt x="171450" y="28575"/>
                  </a:lnTo>
                  <a:lnTo>
                    <a:pt x="228600" y="28575"/>
                  </a:lnTo>
                  <a:lnTo>
                    <a:pt x="228600" y="57150"/>
                  </a:lnTo>
                  <a:cubicBezTo>
                    <a:pt x="228600" y="92246"/>
                    <a:pt x="203291" y="121431"/>
                    <a:pt x="169930" y="127450"/>
                  </a:cubicBezTo>
                  <a:cubicBezTo>
                    <a:pt x="165073" y="148071"/>
                    <a:pt x="149047" y="164383"/>
                    <a:pt x="128588" y="169650"/>
                  </a:cubicBezTo>
                  <a:lnTo>
                    <a:pt x="128588" y="200025"/>
                  </a:lnTo>
                  <a:lnTo>
                    <a:pt x="171450" y="200025"/>
                  </a:lnTo>
                  <a:lnTo>
                    <a:pt x="171450" y="228600"/>
                  </a:lnTo>
                  <a:lnTo>
                    <a:pt x="57150" y="228600"/>
                  </a:lnTo>
                  <a:lnTo>
                    <a:pt x="57150" y="200025"/>
                  </a:lnTo>
                  <a:lnTo>
                    <a:pt x="100012" y="200025"/>
                  </a:lnTo>
                  <a:lnTo>
                    <a:pt x="100012" y="169650"/>
                  </a:lnTo>
                  <a:cubicBezTo>
                    <a:pt x="79552" y="164383"/>
                    <a:pt x="63526" y="148071"/>
                    <a:pt x="58670" y="127450"/>
                  </a:cubicBezTo>
                  <a:cubicBezTo>
                    <a:pt x="25308" y="121431"/>
                    <a:pt x="0" y="92246"/>
                    <a:pt x="0" y="57150"/>
                  </a:cubicBezTo>
                  <a:lnTo>
                    <a:pt x="0" y="28575"/>
                  </a:lnTo>
                  <a:lnTo>
                    <a:pt x="57150" y="28575"/>
                  </a:lnTo>
                  <a:lnTo>
                    <a:pt x="57150" y="0"/>
                  </a:lnTo>
                  <a:close/>
                  <a:moveTo>
                    <a:pt x="171450" y="97573"/>
                  </a:moveTo>
                  <a:lnTo>
                    <a:pt x="171450" y="57150"/>
                  </a:lnTo>
                  <a:lnTo>
                    <a:pt x="200025" y="57150"/>
                  </a:lnTo>
                  <a:cubicBezTo>
                    <a:pt x="200025" y="75813"/>
                    <a:pt x="188098" y="91689"/>
                    <a:pt x="171450" y="97573"/>
                  </a:cubicBezTo>
                  <a:close/>
                  <a:moveTo>
                    <a:pt x="57150" y="57150"/>
                  </a:moveTo>
                  <a:lnTo>
                    <a:pt x="28575" y="57150"/>
                  </a:lnTo>
                  <a:cubicBezTo>
                    <a:pt x="28575" y="75813"/>
                    <a:pt x="40502" y="91689"/>
                    <a:pt x="57150" y="97573"/>
                  </a:cubicBezTo>
                  <a:lnTo>
                    <a:pt x="57150" y="5715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451158" y="1738789"/>
              <a:ext cx="179210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凯捷做过的同题答卷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9600" y="2114550"/>
            <a:ext cx="10972800" cy="666750"/>
            <a:chOff x="609600" y="2114550"/>
            <a:chExt cx="10972800" cy="666750"/>
          </a:xfrm>
        </p:grpSpPr>
        <p:sp>
          <p:nvSpPr>
            <p:cNvPr id="19" name="Rectangle 19"/>
            <p:cNvSpPr/>
            <p:nvPr/>
          </p:nvSpPr>
          <p:spPr>
            <a:xfrm>
              <a:off x="609600" y="2114550"/>
              <a:ext cx="4191000" cy="666750"/>
            </a:xfrm>
            <a:prstGeom prst="roundRect">
              <a:avLst>
                <a:gd name="adj" fmla="val 8571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2960" y="2375535"/>
              <a:ext cx="249638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EBS 与北美共用一个 Instance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953000" y="2114550"/>
              <a:ext cx="6629400" cy="666750"/>
            </a:xfrm>
            <a:prstGeom prst="roundRect">
              <a:avLst>
                <a:gd name="adj" fmla="val 8571"/>
              </a:avLst>
            </a:prstGeom>
            <a:solidFill>
              <a:srgbClr val="FFFFFF"/>
            </a:solidFill>
            <a:ln w="9525">
              <a:solidFill>
                <a:srgbClr val="DDE0E4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953000" y="2114550"/>
              <a:ext cx="47625" cy="666750"/>
            </a:xfrm>
            <a:prstGeom prst="roundRect">
              <a:avLst>
                <a:gd name="adj" fmla="val 50000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5150473" y="2387034"/>
              <a:ext cx="176551" cy="145764"/>
            </a:xfrm>
            <a:custGeom>
              <a:avLst/>
              <a:gdLst/>
              <a:ahLst/>
              <a:cxnLst/>
              <a:rect l="l" t="t" r="r" b="b"/>
              <a:pathLst>
                <a:path w="176551" h="145764">
                  <a:moveTo>
                    <a:pt x="176551" y="33676"/>
                  </a:moveTo>
                  <a:lnTo>
                    <a:pt x="64463" y="145764"/>
                  </a:lnTo>
                  <a:lnTo>
                    <a:pt x="0" y="81301"/>
                  </a:lnTo>
                  <a:lnTo>
                    <a:pt x="33676" y="47625"/>
                  </a:lnTo>
                  <a:lnTo>
                    <a:pt x="64463" y="78412"/>
                  </a:lnTo>
                  <a:lnTo>
                    <a:pt x="142875" y="0"/>
                  </a:lnTo>
                  <a:lnTo>
                    <a:pt x="176551" y="33676"/>
                  </a:lnTo>
                  <a:close/>
                </a:path>
              </a:pathLst>
            </a:custGeom>
            <a:solidFill>
              <a:srgbClr val="1E6B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434012" y="2383631"/>
              <a:ext cx="411158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 xml:space="preserve">麦当劳中国从 Global 分拆 —— </a:t>
              </a:r>
              <a:r>
                <a:rPr lang="zh-CN" sz="112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共用 Instance 的拆分实操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09600" y="2838450"/>
            <a:ext cx="10972800" cy="666750"/>
            <a:chOff x="609600" y="2838450"/>
            <a:chExt cx="10972800" cy="666750"/>
          </a:xfrm>
        </p:grpSpPr>
        <p:sp>
          <p:nvSpPr>
            <p:cNvPr id="26" name="Rectangle 26"/>
            <p:cNvSpPr/>
            <p:nvPr/>
          </p:nvSpPr>
          <p:spPr>
            <a:xfrm>
              <a:off x="609600" y="2838450"/>
              <a:ext cx="4191000" cy="666750"/>
            </a:xfrm>
            <a:prstGeom prst="roundRect">
              <a:avLst>
                <a:gd name="adj" fmla="val 8571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2960" y="3099435"/>
              <a:ext cx="205473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美方只给文档、不给代码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953000" y="2838450"/>
              <a:ext cx="6629400" cy="666750"/>
            </a:xfrm>
            <a:prstGeom prst="roundRect">
              <a:avLst>
                <a:gd name="adj" fmla="val 8571"/>
              </a:avLst>
            </a:prstGeom>
            <a:solidFill>
              <a:srgbClr val="FFFFFF"/>
            </a:solidFill>
            <a:ln w="9525">
              <a:solidFill>
                <a:srgbClr val="DDE0E4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953000" y="2838450"/>
              <a:ext cx="47625" cy="666750"/>
            </a:xfrm>
            <a:prstGeom prst="roundRect">
              <a:avLst>
                <a:gd name="adj" fmla="val 50000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5150473" y="3110934"/>
              <a:ext cx="176551" cy="145764"/>
            </a:xfrm>
            <a:custGeom>
              <a:avLst/>
              <a:gdLst/>
              <a:ahLst/>
              <a:cxnLst/>
              <a:rect l="l" t="t" r="r" b="b"/>
              <a:pathLst>
                <a:path w="176551" h="145764">
                  <a:moveTo>
                    <a:pt x="176551" y="33676"/>
                  </a:moveTo>
                  <a:lnTo>
                    <a:pt x="64463" y="145764"/>
                  </a:lnTo>
                  <a:lnTo>
                    <a:pt x="0" y="81301"/>
                  </a:lnTo>
                  <a:lnTo>
                    <a:pt x="33676" y="47625"/>
                  </a:lnTo>
                  <a:lnTo>
                    <a:pt x="64463" y="78412"/>
                  </a:lnTo>
                  <a:lnTo>
                    <a:pt x="142875" y="0"/>
                  </a:lnTo>
                  <a:lnTo>
                    <a:pt x="176551" y="33676"/>
                  </a:lnTo>
                  <a:close/>
                </a:path>
              </a:pathLst>
            </a:custGeom>
            <a:solidFill>
              <a:srgbClr val="1E6B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434012" y="3107531"/>
              <a:ext cx="340506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总部只给接口文档不给源码,凯捷</a:t>
              </a:r>
              <a:r>
                <a:rPr lang="zh-CN" sz="112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完成本地重建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09600" y="3562350"/>
            <a:ext cx="10972800" cy="666750"/>
            <a:chOff x="609600" y="3562350"/>
            <a:chExt cx="10972800" cy="666750"/>
          </a:xfrm>
        </p:grpSpPr>
        <p:sp>
          <p:nvSpPr>
            <p:cNvPr id="33" name="Rectangle 33"/>
            <p:cNvSpPr/>
            <p:nvPr/>
          </p:nvSpPr>
          <p:spPr>
            <a:xfrm>
              <a:off x="609600" y="3562350"/>
              <a:ext cx="4191000" cy="666750"/>
            </a:xfrm>
            <a:prstGeom prst="roundRect">
              <a:avLst>
                <a:gd name="adj" fmla="val 8571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22960" y="3823335"/>
              <a:ext cx="223875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前端门店业务切换期不能停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953000" y="3562350"/>
              <a:ext cx="6629400" cy="666750"/>
            </a:xfrm>
            <a:prstGeom prst="roundRect">
              <a:avLst>
                <a:gd name="adj" fmla="val 8571"/>
              </a:avLst>
            </a:prstGeom>
            <a:solidFill>
              <a:srgbClr val="FFFFFF"/>
            </a:solidFill>
            <a:ln w="9525">
              <a:solidFill>
                <a:srgbClr val="DDE0E4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953000" y="3562350"/>
              <a:ext cx="47625" cy="666750"/>
            </a:xfrm>
            <a:prstGeom prst="roundRect">
              <a:avLst>
                <a:gd name="adj" fmla="val 50000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5150473" y="3834834"/>
              <a:ext cx="176551" cy="145764"/>
            </a:xfrm>
            <a:custGeom>
              <a:avLst/>
              <a:gdLst/>
              <a:ahLst/>
              <a:cxnLst/>
              <a:rect l="l" t="t" r="r" b="b"/>
              <a:pathLst>
                <a:path w="176551" h="145764">
                  <a:moveTo>
                    <a:pt x="176551" y="33676"/>
                  </a:moveTo>
                  <a:lnTo>
                    <a:pt x="64463" y="145764"/>
                  </a:lnTo>
                  <a:lnTo>
                    <a:pt x="0" y="81301"/>
                  </a:lnTo>
                  <a:lnTo>
                    <a:pt x="33676" y="47625"/>
                  </a:lnTo>
                  <a:lnTo>
                    <a:pt x="64463" y="78412"/>
                  </a:lnTo>
                  <a:lnTo>
                    <a:pt x="142875" y="0"/>
                  </a:lnTo>
                  <a:lnTo>
                    <a:pt x="176551" y="33676"/>
                  </a:lnTo>
                  <a:close/>
                </a:path>
              </a:pathLst>
            </a:custGeom>
            <a:solidFill>
              <a:srgbClr val="1E6B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434012" y="3831431"/>
              <a:ext cx="39965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POS / BOH 在后端切换期间</a:t>
              </a:r>
              <a:r>
                <a:rPr lang="zh-CN" sz="112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「无感」过渡的过渡层设计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09600" y="4286250"/>
            <a:ext cx="10972800" cy="666750"/>
            <a:chOff x="609600" y="4286250"/>
            <a:chExt cx="10972800" cy="666750"/>
          </a:xfrm>
        </p:grpSpPr>
        <p:sp>
          <p:nvSpPr>
            <p:cNvPr id="40" name="Rectangle 40"/>
            <p:cNvSpPr/>
            <p:nvPr/>
          </p:nvSpPr>
          <p:spPr>
            <a:xfrm>
              <a:off x="609600" y="4286250"/>
              <a:ext cx="4191000" cy="666750"/>
            </a:xfrm>
            <a:prstGeom prst="roundRect">
              <a:avLst>
                <a:gd name="adj" fmla="val 8571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22960" y="4547235"/>
              <a:ext cx="168668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万店规模、海量交易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953000" y="4286250"/>
              <a:ext cx="6629400" cy="666750"/>
            </a:xfrm>
            <a:prstGeom prst="roundRect">
              <a:avLst>
                <a:gd name="adj" fmla="val 8571"/>
              </a:avLst>
            </a:prstGeom>
            <a:solidFill>
              <a:srgbClr val="FFFFFF"/>
            </a:solidFill>
            <a:ln w="9525">
              <a:solidFill>
                <a:srgbClr val="DDE0E4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4953000" y="4286250"/>
              <a:ext cx="47625" cy="666750"/>
            </a:xfrm>
            <a:prstGeom prst="roundRect">
              <a:avLst>
                <a:gd name="adj" fmla="val 50000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5150473" y="4558734"/>
              <a:ext cx="176551" cy="145764"/>
            </a:xfrm>
            <a:custGeom>
              <a:avLst/>
              <a:gdLst/>
              <a:ahLst/>
              <a:cxnLst/>
              <a:rect l="l" t="t" r="r" b="b"/>
              <a:pathLst>
                <a:path w="176551" h="145764">
                  <a:moveTo>
                    <a:pt x="176551" y="33676"/>
                  </a:moveTo>
                  <a:lnTo>
                    <a:pt x="64463" y="145764"/>
                  </a:lnTo>
                  <a:lnTo>
                    <a:pt x="0" y="81301"/>
                  </a:lnTo>
                  <a:lnTo>
                    <a:pt x="33676" y="47625"/>
                  </a:lnTo>
                  <a:lnTo>
                    <a:pt x="64463" y="78412"/>
                  </a:lnTo>
                  <a:lnTo>
                    <a:pt x="142875" y="0"/>
                  </a:lnTo>
                  <a:lnTo>
                    <a:pt x="176551" y="33676"/>
                  </a:lnTo>
                  <a:close/>
                </a:path>
              </a:pathLst>
            </a:custGeom>
            <a:solidFill>
              <a:srgbClr val="1E6B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434012" y="4555331"/>
              <a:ext cx="407872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伊利等大型企业本地架构落地;</a:t>
              </a:r>
              <a:r>
                <a:rPr lang="zh-CN" sz="112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中国区 1000+ 人财务团队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09600" y="5010150"/>
            <a:ext cx="10972800" cy="666750"/>
            <a:chOff x="609600" y="5010150"/>
            <a:chExt cx="10972800" cy="666750"/>
          </a:xfrm>
        </p:grpSpPr>
        <p:sp>
          <p:nvSpPr>
            <p:cNvPr id="47" name="Rectangle 47"/>
            <p:cNvSpPr/>
            <p:nvPr/>
          </p:nvSpPr>
          <p:spPr>
            <a:xfrm>
              <a:off x="609600" y="5010150"/>
              <a:ext cx="4191000" cy="666750"/>
            </a:xfrm>
            <a:prstGeom prst="roundRect">
              <a:avLst>
                <a:gd name="adj" fmla="val 8571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22960" y="5271135"/>
              <a:ext cx="171429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财务报表 / 预算割裂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953000" y="5010150"/>
              <a:ext cx="6629400" cy="666750"/>
            </a:xfrm>
            <a:prstGeom prst="roundRect">
              <a:avLst>
                <a:gd name="adj" fmla="val 8571"/>
              </a:avLst>
            </a:prstGeom>
            <a:solidFill>
              <a:srgbClr val="FFFFFF"/>
            </a:solidFill>
            <a:ln w="9525">
              <a:solidFill>
                <a:srgbClr val="DDE0E4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4953000" y="5010150"/>
              <a:ext cx="47625" cy="666750"/>
            </a:xfrm>
            <a:prstGeom prst="roundRect">
              <a:avLst>
                <a:gd name="adj" fmla="val 50000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5150473" y="5282634"/>
              <a:ext cx="176551" cy="145764"/>
            </a:xfrm>
            <a:custGeom>
              <a:avLst/>
              <a:gdLst/>
              <a:ahLst/>
              <a:cxnLst/>
              <a:rect l="l" t="t" r="r" b="b"/>
              <a:pathLst>
                <a:path w="176551" h="145764">
                  <a:moveTo>
                    <a:pt x="176551" y="33676"/>
                  </a:moveTo>
                  <a:lnTo>
                    <a:pt x="64463" y="145764"/>
                  </a:lnTo>
                  <a:lnTo>
                    <a:pt x="0" y="81301"/>
                  </a:lnTo>
                  <a:lnTo>
                    <a:pt x="33676" y="47625"/>
                  </a:lnTo>
                  <a:lnTo>
                    <a:pt x="64463" y="78412"/>
                  </a:lnTo>
                  <a:lnTo>
                    <a:pt x="142875" y="0"/>
                  </a:lnTo>
                  <a:lnTo>
                    <a:pt x="176551" y="33676"/>
                  </a:lnTo>
                  <a:close/>
                </a:path>
              </a:pathLst>
            </a:custGeom>
            <a:solidFill>
              <a:srgbClr val="1E6B4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434012" y="5279231"/>
              <a:ext cx="41362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财务中台、合并报表、全面预算、票税、</a:t>
              </a:r>
              <a:r>
                <a:rPr lang="zh-CN" sz="112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银企直连全链路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09600" y="5848350"/>
            <a:ext cx="10972800" cy="419100"/>
            <a:chOff x="609600" y="5848350"/>
            <a:chExt cx="10972800" cy="419100"/>
          </a:xfrm>
        </p:grpSpPr>
        <p:sp>
          <p:nvSpPr>
            <p:cNvPr id="54" name="Rectangle 54"/>
            <p:cNvSpPr/>
            <p:nvPr/>
          </p:nvSpPr>
          <p:spPr>
            <a:xfrm>
              <a:off x="609600" y="5848350"/>
              <a:ext cx="10972800" cy="419100"/>
            </a:xfrm>
            <a:prstGeom prst="roundRect">
              <a:avLst>
                <a:gd name="adj" fmla="val 13636"/>
              </a:avLst>
            </a:prstGeom>
            <a:solidFill>
              <a:srgbClr val="C8862E">
                <a:alpha val="12000"/>
              </a:srgbClr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819150" y="5957888"/>
              <a:ext cx="228600" cy="200024"/>
              <a:chOff x="819150" y="5957888"/>
              <a:chExt cx="228600" cy="200024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862012" y="5957888"/>
                <a:ext cx="71438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71438">
                    <a:moveTo>
                      <a:pt x="71438" y="35719"/>
                    </a:moveTo>
                    <a:cubicBezTo>
                      <a:pt x="71438" y="55446"/>
                      <a:pt x="55446" y="71438"/>
                      <a:pt x="35719" y="71438"/>
                    </a:cubicBezTo>
                    <a:cubicBezTo>
                      <a:pt x="15992" y="71438"/>
                      <a:pt x="0" y="55446"/>
                      <a:pt x="0" y="35719"/>
                    </a:cubicBezTo>
                    <a:cubicBezTo>
                      <a:pt x="0" y="15992"/>
                      <a:pt x="15992" y="0"/>
                      <a:pt x="35719" y="0"/>
                    </a:cubicBezTo>
                    <a:cubicBezTo>
                      <a:pt x="55446" y="0"/>
                      <a:pt x="71438" y="15992"/>
                      <a:pt x="71438" y="35719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19150" y="6057900"/>
                <a:ext cx="11430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00012">
                    <a:moveTo>
                      <a:pt x="42862" y="0"/>
                    </a:moveTo>
                    <a:cubicBezTo>
                      <a:pt x="19190" y="0"/>
                      <a:pt x="0" y="19190"/>
                      <a:pt x="0" y="42862"/>
                    </a:cubicBezTo>
                    <a:lnTo>
                      <a:pt x="0" y="100012"/>
                    </a:lnTo>
                    <a:lnTo>
                      <a:pt x="114300" y="100012"/>
                    </a:lnTo>
                    <a:lnTo>
                      <a:pt x="114300" y="0"/>
                    </a:lnTo>
                    <a:lnTo>
                      <a:pt x="42862" y="0"/>
                    </a:ln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962025" y="6057900"/>
                <a:ext cx="857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100012">
                    <a:moveTo>
                      <a:pt x="42862" y="0"/>
                    </a:moveTo>
                    <a:lnTo>
                      <a:pt x="0" y="0"/>
                    </a:lnTo>
                    <a:lnTo>
                      <a:pt x="0" y="100012"/>
                    </a:lnTo>
                    <a:lnTo>
                      <a:pt x="85725" y="100012"/>
                    </a:lnTo>
                    <a:lnTo>
                      <a:pt x="85725" y="42862"/>
                    </a:lnTo>
                    <a:cubicBezTo>
                      <a:pt x="85725" y="19190"/>
                      <a:pt x="66535" y="0"/>
                      <a:pt x="42862" y="0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962025" y="597217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28575" y="57150"/>
                    </a:move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  <a:cubicBezTo>
                      <a:pt x="0" y="44357"/>
                      <a:pt x="12793" y="57150"/>
                      <a:pt x="28575" y="57150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147762" y="5984081"/>
              <a:ext cx="480742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A6A22"/>
                  </a:solidFill>
                  <a:latin typeface="Arial"/>
                  <a:ea typeface="Microsoft YaHei"/>
                  <a:cs typeface="Arial"/>
                </a:rPr>
                <a:t>本页由具备麦当劳分拆背景的顾问主讲 —— 全场可信度的支点。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99122" y="6521291"/>
            <a:ext cx="10993756" cy="167640"/>
            <a:chOff x="599122" y="6521291"/>
            <a:chExt cx="10993756" cy="167640"/>
          </a:xfrm>
        </p:grpSpPr>
        <p:sp>
          <p:nvSpPr>
            <p:cNvPr id="62" name="TextBox 62"/>
            <p:cNvSpPr txBox="1"/>
            <p:nvPr/>
          </p:nvSpPr>
          <p:spPr>
            <a:xfrm>
              <a:off x="599122" y="6521291"/>
              <a:ext cx="27139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星巴克中国 ERP 本地化拆分项目 · 凯捷 Capgemini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300740" y="6521291"/>
              <a:ext cx="129213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CONFIDENTIAL · 05 / 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5" grpId="0"/>
      <p:bldP spid="32" grpId="0"/>
      <p:bldP spid="39" grpId="0"/>
      <p:bldP spid="46" grpId="0"/>
      <p:bldP spid="53" grpId="0"/>
      <p:bldP spid="6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81025" y="309562"/>
            <a:ext cx="5526084" cy="590550"/>
            <a:chOff x="581025" y="309562"/>
            <a:chExt cx="5526084" cy="590550"/>
          </a:xfrm>
        </p:grpSpPr>
        <p:sp>
          <p:nvSpPr>
            <p:cNvPr id="5" name="TextBox 5"/>
            <p:cNvSpPr txBox="1"/>
            <p:nvPr/>
          </p:nvSpPr>
          <p:spPr>
            <a:xfrm>
              <a:off x="581025" y="309562"/>
              <a:ext cx="552608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第四幕 · 怎么控风险 —— 凯捷的打法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265" y="686752"/>
              <a:ext cx="21045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给方法论,但落到具体、可追问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952500"/>
            <a:ext cx="10972800" cy="476250"/>
            <a:chOff x="609600" y="952500"/>
            <a:chExt cx="10972800" cy="476250"/>
          </a:xfrm>
        </p:grpSpPr>
        <p:sp>
          <p:nvSpPr>
            <p:cNvPr id="8" name="Rectangle 8"/>
            <p:cNvSpPr/>
            <p:nvPr/>
          </p:nvSpPr>
          <p:spPr>
            <a:xfrm>
              <a:off x="609600" y="952500"/>
              <a:ext cx="10972800" cy="47625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952500"/>
              <a:ext cx="57150" cy="47625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0108" y="1110139"/>
              <a:ext cx="477385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 xml:space="preserve">凯捷五大打法 —— </a:t>
              </a:r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每一条都可落地、可追问,不是口号</a:t>
              </a:r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04850" y="1562100"/>
            <a:ext cx="10877550" cy="723900"/>
            <a:chOff x="704850" y="1562100"/>
            <a:chExt cx="10877550" cy="723900"/>
          </a:xfrm>
        </p:grpSpPr>
        <p:sp>
          <p:nvSpPr>
            <p:cNvPr id="12" name="Line 12"/>
            <p:cNvSpPr/>
            <p:nvPr/>
          </p:nvSpPr>
          <p:spPr>
            <a:xfrm>
              <a:off x="952500" y="192405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419100" y="0"/>
                  </a:lnTo>
                </a:path>
              </a:pathLst>
            </a:custGeom>
            <a:noFill/>
            <a:ln w="19050">
              <a:solidFill>
                <a:srgbClr val="1A3A5C"/>
              </a:solidFill>
              <a:custDash>
                <a:ds d="200000" sp="150000"/>
              </a:custDash>
            </a:ln>
          </p:spPr>
        </p:sp>
        <p:sp>
          <p:nvSpPr>
            <p:cNvPr id="13" name="Ellipse 13"/>
            <p:cNvSpPr/>
            <p:nvPr/>
          </p:nvSpPr>
          <p:spPr>
            <a:xfrm>
              <a:off x="704850" y="1676400"/>
              <a:ext cx="495300" cy="495300"/>
            </a:xfrm>
            <a:prstGeom prst="ellipse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04301" y="1854518"/>
              <a:ext cx="963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371600" y="1562100"/>
              <a:ext cx="10210800" cy="723900"/>
            </a:xfrm>
            <a:prstGeom prst="roundRect">
              <a:avLst>
                <a:gd name="adj" fmla="val 10526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371600" y="1562100"/>
              <a:ext cx="57150" cy="723900"/>
            </a:xfrm>
            <a:prstGeom prst="roundRect">
              <a:avLst>
                <a:gd name="adj" fmla="val 50000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1666875" y="1771650"/>
              <a:ext cx="247650" cy="304800"/>
            </a:xfrm>
            <a:custGeom>
              <a:avLst/>
              <a:gdLst/>
              <a:ahLst/>
              <a:cxnLst/>
              <a:rect l="l" t="t" r="r" b="b"/>
              <a:pathLst>
                <a:path w="247650" h="304800">
                  <a:moveTo>
                    <a:pt x="66675" y="91287"/>
                  </a:moveTo>
                  <a:cubicBezTo>
                    <a:pt x="83495" y="83938"/>
                    <a:pt x="95250" y="67154"/>
                    <a:pt x="95250" y="47625"/>
                  </a:cubicBezTo>
                  <a:cubicBezTo>
                    <a:pt x="95250" y="21322"/>
                    <a:pt x="73928" y="0"/>
                    <a:pt x="47625" y="0"/>
                  </a:cubicBezTo>
                  <a:cubicBezTo>
                    <a:pt x="21322" y="0"/>
                    <a:pt x="0" y="21322"/>
                    <a:pt x="0" y="47625"/>
                  </a:cubicBezTo>
                  <a:cubicBezTo>
                    <a:pt x="0" y="67154"/>
                    <a:pt x="11755" y="83938"/>
                    <a:pt x="28575" y="91287"/>
                  </a:cubicBezTo>
                  <a:lnTo>
                    <a:pt x="28575" y="213512"/>
                  </a:lnTo>
                  <a:cubicBezTo>
                    <a:pt x="11755" y="220862"/>
                    <a:pt x="0" y="237645"/>
                    <a:pt x="0" y="257175"/>
                  </a:cubicBezTo>
                  <a:cubicBezTo>
                    <a:pt x="0" y="283477"/>
                    <a:pt x="21322" y="304800"/>
                    <a:pt x="47625" y="304800"/>
                  </a:cubicBezTo>
                  <a:cubicBezTo>
                    <a:pt x="73928" y="304800"/>
                    <a:pt x="95250" y="283477"/>
                    <a:pt x="95250" y="257175"/>
                  </a:cubicBezTo>
                  <a:cubicBezTo>
                    <a:pt x="95250" y="237645"/>
                    <a:pt x="83495" y="220862"/>
                    <a:pt x="66675" y="213512"/>
                  </a:cubicBezTo>
                  <a:lnTo>
                    <a:pt x="66675" y="171450"/>
                  </a:lnTo>
                  <a:lnTo>
                    <a:pt x="219075" y="171450"/>
                  </a:lnTo>
                  <a:lnTo>
                    <a:pt x="219075" y="91287"/>
                  </a:lnTo>
                  <a:cubicBezTo>
                    <a:pt x="235896" y="83938"/>
                    <a:pt x="247650" y="67154"/>
                    <a:pt x="247650" y="47625"/>
                  </a:cubicBezTo>
                  <a:cubicBezTo>
                    <a:pt x="247650" y="21322"/>
                    <a:pt x="226327" y="0"/>
                    <a:pt x="200025" y="0"/>
                  </a:cubicBezTo>
                  <a:cubicBezTo>
                    <a:pt x="173723" y="0"/>
                    <a:pt x="152400" y="21322"/>
                    <a:pt x="152400" y="47625"/>
                  </a:cubicBezTo>
                  <a:cubicBezTo>
                    <a:pt x="152400" y="67154"/>
                    <a:pt x="164154" y="83938"/>
                    <a:pt x="180975" y="91287"/>
                  </a:cubicBezTo>
                  <a:lnTo>
                    <a:pt x="180975" y="133350"/>
                  </a:lnTo>
                  <a:lnTo>
                    <a:pt x="66675" y="133350"/>
                  </a:lnTo>
                  <a:lnTo>
                    <a:pt x="66675" y="91287"/>
                  </a:lnTo>
                  <a:close/>
                </a:path>
              </a:pathLst>
            </a:custGeom>
            <a:solidFill>
              <a:srgbClr val="1A3A5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116455" y="1721168"/>
              <a:ext cx="10694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分阶段解耦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120265" y="2001202"/>
              <a:ext cx="53863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不一次性切换。并行 → 过渡 → 脱钩,正好对上「两年内继续用 Global」的节奏。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704850" y="2362200"/>
            <a:ext cx="10877550" cy="723900"/>
            <a:chOff x="704850" y="2362200"/>
            <a:chExt cx="10877550" cy="723900"/>
          </a:xfrm>
        </p:grpSpPr>
        <p:sp>
          <p:nvSpPr>
            <p:cNvPr id="21" name="Line 21"/>
            <p:cNvSpPr/>
            <p:nvPr/>
          </p:nvSpPr>
          <p:spPr>
            <a:xfrm>
              <a:off x="952500" y="272415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419100" y="0"/>
                  </a:lnTo>
                </a:path>
              </a:pathLst>
            </a:custGeom>
            <a:noFill/>
            <a:ln w="19050">
              <a:solidFill>
                <a:srgbClr val="1A3A5C"/>
              </a:solidFill>
              <a:custDash>
                <a:ds d="200000" sp="150000"/>
              </a:custDash>
            </a:ln>
          </p:spPr>
        </p:sp>
        <p:sp>
          <p:nvSpPr>
            <p:cNvPr id="22" name="Ellipse 22"/>
            <p:cNvSpPr/>
            <p:nvPr/>
          </p:nvSpPr>
          <p:spPr>
            <a:xfrm>
              <a:off x="704850" y="2476500"/>
              <a:ext cx="495300" cy="495300"/>
            </a:xfrm>
            <a:prstGeom prst="ellipse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78423" y="2654618"/>
              <a:ext cx="1481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371600" y="2362200"/>
              <a:ext cx="10210800" cy="723900"/>
            </a:xfrm>
            <a:prstGeom prst="roundRect">
              <a:avLst>
                <a:gd name="adj" fmla="val 10526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1371600" y="2362200"/>
              <a:ext cx="57150" cy="723900"/>
            </a:xfrm>
            <a:prstGeom prst="roundRect">
              <a:avLst>
                <a:gd name="adj" fmla="val 50000"/>
              </a:avLst>
            </a:prstGeom>
            <a:solidFill>
              <a:srgbClr val="1A3A5C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1657350" y="2590800"/>
              <a:ext cx="266700" cy="266700"/>
              <a:chOff x="1657350" y="2590800"/>
              <a:chExt cx="266700" cy="2667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1657350" y="25908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76200" y="38100"/>
                    </a:moveTo>
                    <a:cubicBezTo>
                      <a:pt x="76200" y="59142"/>
                      <a:pt x="59142" y="76200"/>
                      <a:pt x="38100" y="76200"/>
                    </a:cubicBezTo>
                    <a:cubicBezTo>
                      <a:pt x="17058" y="76200"/>
                      <a:pt x="0" y="59142"/>
                      <a:pt x="0" y="38100"/>
                    </a:cubicBezTo>
                    <a:cubicBezTo>
                      <a:pt x="0" y="17058"/>
                      <a:pt x="17058" y="0"/>
                      <a:pt x="38100" y="0"/>
                    </a:cubicBezTo>
                    <a:cubicBezTo>
                      <a:pt x="59142" y="0"/>
                      <a:pt x="76200" y="17058"/>
                      <a:pt x="76200" y="38100"/>
                    </a:cubicBez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1847850" y="27813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76200" y="38100"/>
                    </a:moveTo>
                    <a:cubicBezTo>
                      <a:pt x="76200" y="59143"/>
                      <a:pt x="59143" y="76200"/>
                      <a:pt x="38100" y="76200"/>
                    </a:cubicBezTo>
                    <a:cubicBezTo>
                      <a:pt x="17057" y="76200"/>
                      <a:pt x="0" y="59143"/>
                      <a:pt x="0" y="38100"/>
                    </a:cubicBezTo>
                    <a:cubicBezTo>
                      <a:pt x="0" y="17057"/>
                      <a:pt x="17057" y="0"/>
                      <a:pt x="38100" y="0"/>
                    </a:cubicBezTo>
                    <a:cubicBezTo>
                      <a:pt x="59143" y="0"/>
                      <a:pt x="76200" y="17057"/>
                      <a:pt x="76200" y="38100"/>
                    </a:cubicBez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676400" y="2590800"/>
                <a:ext cx="2286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66700">
                    <a:moveTo>
                      <a:pt x="133350" y="66675"/>
                    </a:moveTo>
                    <a:cubicBezTo>
                      <a:pt x="133350" y="50893"/>
                      <a:pt x="146143" y="38100"/>
                      <a:pt x="161925" y="38100"/>
                    </a:cubicBezTo>
                    <a:cubicBezTo>
                      <a:pt x="177706" y="38100"/>
                      <a:pt x="190500" y="50893"/>
                      <a:pt x="190500" y="66675"/>
                    </a:cubicBezTo>
                    <a:lnTo>
                      <a:pt x="190500" y="152400"/>
                    </a:lnTo>
                    <a:lnTo>
                      <a:pt x="228600" y="152400"/>
                    </a:lnTo>
                    <a:lnTo>
                      <a:pt x="228600" y="66675"/>
                    </a:lnTo>
                    <a:cubicBezTo>
                      <a:pt x="228600" y="29851"/>
                      <a:pt x="198749" y="0"/>
                      <a:pt x="161925" y="0"/>
                    </a:cubicBezTo>
                    <a:cubicBezTo>
                      <a:pt x="125101" y="0"/>
                      <a:pt x="95250" y="29851"/>
                      <a:pt x="95250" y="66675"/>
                    </a:cubicBezTo>
                    <a:lnTo>
                      <a:pt x="95250" y="200025"/>
                    </a:lnTo>
                    <a:cubicBezTo>
                      <a:pt x="95250" y="215806"/>
                      <a:pt x="82457" y="228600"/>
                      <a:pt x="66675" y="228600"/>
                    </a:cubicBezTo>
                    <a:cubicBezTo>
                      <a:pt x="50893" y="228600"/>
                      <a:pt x="38100" y="215806"/>
                      <a:pt x="38100" y="200025"/>
                    </a:cubicBezTo>
                    <a:lnTo>
                      <a:pt x="38100" y="114300"/>
                    </a:lnTo>
                    <a:lnTo>
                      <a:pt x="0" y="114300"/>
                    </a:lnTo>
                    <a:lnTo>
                      <a:pt x="0" y="200025"/>
                    </a:lnTo>
                    <a:cubicBezTo>
                      <a:pt x="0" y="236849"/>
                      <a:pt x="29851" y="266700"/>
                      <a:pt x="66675" y="266700"/>
                    </a:cubicBezTo>
                    <a:cubicBezTo>
                      <a:pt x="103499" y="266700"/>
                      <a:pt x="133350" y="236849"/>
                      <a:pt x="133350" y="200025"/>
                    </a:cubicBezTo>
                    <a:lnTo>
                      <a:pt x="133350" y="66675"/>
                    </a:ln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2116455" y="2521268"/>
              <a:ext cx="14834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系统解耦路线图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120265" y="2801302"/>
              <a:ext cx="49722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 xml:space="preserve">区分「物理拆分」与「逻辑迁移」 —— </a:t>
              </a:r>
              <a:r>
                <a:rPr lang="zh-CN" sz="1050" b="1" dirty="0">
                  <a:solidFill>
                    <a:srgbClr val="B0392E"/>
                  </a:solidFill>
                  <a:latin typeface="Arial"/>
                  <a:ea typeface="Microsoft YaHei"/>
                  <a:cs typeface="Arial"/>
                </a:rPr>
                <a:t>汉得给不出的硬通货</a:t>
              </a:r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,详见下一节。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704850" y="3162300"/>
            <a:ext cx="10877550" cy="723900"/>
            <a:chOff x="704850" y="3162300"/>
            <a:chExt cx="10877550" cy="723900"/>
          </a:xfrm>
        </p:grpSpPr>
        <p:sp>
          <p:nvSpPr>
            <p:cNvPr id="33" name="Line 33"/>
            <p:cNvSpPr/>
            <p:nvPr/>
          </p:nvSpPr>
          <p:spPr>
            <a:xfrm>
              <a:off x="952500" y="352425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419100" y="0"/>
                  </a:lnTo>
                </a:path>
              </a:pathLst>
            </a:custGeom>
            <a:noFill/>
            <a:ln w="19050">
              <a:solidFill>
                <a:srgbClr val="1A3A5C"/>
              </a:solidFill>
              <a:custDash>
                <a:ds d="200000" sp="150000"/>
              </a:custDash>
            </a:ln>
          </p:spPr>
        </p:sp>
        <p:sp>
          <p:nvSpPr>
            <p:cNvPr id="34" name="Ellipse 34"/>
            <p:cNvSpPr/>
            <p:nvPr/>
          </p:nvSpPr>
          <p:spPr>
            <a:xfrm>
              <a:off x="704850" y="3276600"/>
              <a:ext cx="495300" cy="495300"/>
            </a:xfrm>
            <a:prstGeom prst="ellipse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78423" y="3454718"/>
              <a:ext cx="1481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1371600" y="3162300"/>
              <a:ext cx="10210800" cy="723900"/>
            </a:xfrm>
            <a:prstGeom prst="roundRect">
              <a:avLst>
                <a:gd name="adj" fmla="val 10526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1371600" y="3162300"/>
              <a:ext cx="57150" cy="723900"/>
            </a:xfrm>
            <a:prstGeom prst="roundRect">
              <a:avLst>
                <a:gd name="adj" fmla="val 50000"/>
              </a:avLst>
            </a:prstGeom>
            <a:solidFill>
              <a:srgbClr val="1A3A5C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1657350" y="3371850"/>
              <a:ext cx="266700" cy="304800"/>
              <a:chOff x="1657350" y="3371850"/>
              <a:chExt cx="266700" cy="3048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1657350" y="3371850"/>
                <a:ext cx="2667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52400">
                    <a:moveTo>
                      <a:pt x="0" y="95250"/>
                    </a:moveTo>
                    <a:lnTo>
                      <a:pt x="0" y="57150"/>
                    </a:lnTo>
                    <a:lnTo>
                      <a:pt x="133350" y="0"/>
                    </a:lnTo>
                    <a:lnTo>
                      <a:pt x="266700" y="57150"/>
                    </a:lnTo>
                    <a:lnTo>
                      <a:pt x="266700" y="95250"/>
                    </a:lnTo>
                    <a:lnTo>
                      <a:pt x="133350" y="152400"/>
                    </a:lnTo>
                    <a:lnTo>
                      <a:pt x="0" y="95250"/>
                    </a:ln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657350" y="3581400"/>
                <a:ext cx="2667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95250">
                    <a:moveTo>
                      <a:pt x="133350" y="95250"/>
                    </a:moveTo>
                    <a:lnTo>
                      <a:pt x="0" y="38100"/>
                    </a:lnTo>
                    <a:lnTo>
                      <a:pt x="0" y="0"/>
                    </a:lnTo>
                    <a:lnTo>
                      <a:pt x="133350" y="57150"/>
                    </a:lnTo>
                    <a:lnTo>
                      <a:pt x="266700" y="0"/>
                    </a:lnTo>
                    <a:lnTo>
                      <a:pt x="266700" y="38100"/>
                    </a:lnTo>
                    <a:lnTo>
                      <a:pt x="133350" y="95250"/>
                    </a:ln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1657350" y="3505200"/>
                <a:ext cx="2667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95250">
                    <a:moveTo>
                      <a:pt x="0" y="38100"/>
                    </a:moveTo>
                    <a:lnTo>
                      <a:pt x="133350" y="95250"/>
                    </a:lnTo>
                    <a:lnTo>
                      <a:pt x="266700" y="38100"/>
                    </a:lnTo>
                    <a:lnTo>
                      <a:pt x="266700" y="0"/>
                    </a:lnTo>
                    <a:lnTo>
                      <a:pt x="133350" y="57150"/>
                    </a:lnTo>
                    <a:lnTo>
                      <a:pt x="0" y="0"/>
                    </a:lnTo>
                    <a:lnTo>
                      <a:pt x="0" y="38100"/>
                    </a:lnTo>
                    <a:close/>
                  </a:path>
                </a:pathLst>
              </a:custGeom>
              <a:solidFill>
                <a:srgbClr val="1A3A5C"/>
              </a:solidFill>
              <a:ln>
                <a:noFill/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2116455" y="3321368"/>
              <a:ext cx="10694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过渡层设计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120265" y="3601402"/>
              <a:ext cx="40291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接口与主数据缓冲层,前端门店业务无感,业务连续性优先。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704850" y="3962400"/>
            <a:ext cx="10877550" cy="723900"/>
            <a:chOff x="704850" y="3962400"/>
            <a:chExt cx="10877550" cy="723900"/>
          </a:xfrm>
        </p:grpSpPr>
        <p:sp>
          <p:nvSpPr>
            <p:cNvPr id="45" name="Line 45"/>
            <p:cNvSpPr/>
            <p:nvPr/>
          </p:nvSpPr>
          <p:spPr>
            <a:xfrm>
              <a:off x="952500" y="432435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419100" y="0"/>
                  </a:lnTo>
                </a:path>
              </a:pathLst>
            </a:custGeom>
            <a:noFill/>
            <a:ln w="19050">
              <a:solidFill>
                <a:srgbClr val="1A3A5C"/>
              </a:solidFill>
              <a:custDash>
                <a:ds d="200000" sp="150000"/>
              </a:custDash>
            </a:ln>
          </p:spPr>
        </p:sp>
        <p:sp>
          <p:nvSpPr>
            <p:cNvPr id="46" name="Ellipse 46"/>
            <p:cNvSpPr/>
            <p:nvPr/>
          </p:nvSpPr>
          <p:spPr>
            <a:xfrm>
              <a:off x="704850" y="4076700"/>
              <a:ext cx="495300" cy="495300"/>
            </a:xfrm>
            <a:prstGeom prst="ellipse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78423" y="4254818"/>
              <a:ext cx="1481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1371600" y="3962400"/>
              <a:ext cx="10210800" cy="723900"/>
            </a:xfrm>
            <a:prstGeom prst="roundRect">
              <a:avLst>
                <a:gd name="adj" fmla="val 10526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1371600" y="3962400"/>
              <a:ext cx="57150" cy="723900"/>
            </a:xfrm>
            <a:prstGeom prst="roundRect">
              <a:avLst>
                <a:gd name="adj" fmla="val 50000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57350" y="41910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0" y="57150"/>
                  </a:moveTo>
                  <a:cubicBezTo>
                    <a:pt x="0" y="25587"/>
                    <a:pt x="25587" y="0"/>
                    <a:pt x="57150" y="0"/>
                  </a:cubicBezTo>
                  <a:lnTo>
                    <a:pt x="266700" y="0"/>
                  </a:lnTo>
                  <a:lnTo>
                    <a:pt x="266700" y="38100"/>
                  </a:lnTo>
                  <a:lnTo>
                    <a:pt x="57150" y="38100"/>
                  </a:lnTo>
                  <a:lnTo>
                    <a:pt x="57150" y="76200"/>
                  </a:lnTo>
                  <a:lnTo>
                    <a:pt x="266700" y="76200"/>
                  </a:lnTo>
                  <a:lnTo>
                    <a:pt x="266700" y="266700"/>
                  </a:lnTo>
                  <a:lnTo>
                    <a:pt x="57150" y="266700"/>
                  </a:lnTo>
                  <a:cubicBezTo>
                    <a:pt x="25587" y="266700"/>
                    <a:pt x="0" y="241114"/>
                    <a:pt x="0" y="209550"/>
                  </a:cubicBezTo>
                  <a:lnTo>
                    <a:pt x="0" y="57150"/>
                  </a:lnTo>
                  <a:close/>
                  <a:moveTo>
                    <a:pt x="209550" y="190500"/>
                  </a:moveTo>
                  <a:cubicBezTo>
                    <a:pt x="220071" y="190500"/>
                    <a:pt x="228600" y="181971"/>
                    <a:pt x="228600" y="171450"/>
                  </a:cubicBezTo>
                  <a:cubicBezTo>
                    <a:pt x="228600" y="160929"/>
                    <a:pt x="220071" y="152400"/>
                    <a:pt x="209550" y="152400"/>
                  </a:cubicBezTo>
                  <a:cubicBezTo>
                    <a:pt x="199029" y="152400"/>
                    <a:pt x="190500" y="160929"/>
                    <a:pt x="190500" y="171450"/>
                  </a:cubicBezTo>
                  <a:cubicBezTo>
                    <a:pt x="190500" y="181971"/>
                    <a:pt x="199029" y="190500"/>
                    <a:pt x="209550" y="190500"/>
                  </a:cubicBezTo>
                  <a:close/>
                </a:path>
              </a:pathLst>
            </a:custGeom>
            <a:solidFill>
              <a:srgbClr val="1E6B4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2116455" y="4121468"/>
              <a:ext cx="127644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财务侧做减法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120265" y="4401502"/>
              <a:ext cx="55090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Hyperion + Anaplan 走统一平台、统一界面,呼应「消除割裂、避免厂商锁定」。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704850" y="4762500"/>
            <a:ext cx="10877550" cy="723900"/>
            <a:chOff x="704850" y="4762500"/>
            <a:chExt cx="10877550" cy="723900"/>
          </a:xfrm>
        </p:grpSpPr>
        <p:sp>
          <p:nvSpPr>
            <p:cNvPr id="54" name="Line 54"/>
            <p:cNvSpPr/>
            <p:nvPr/>
          </p:nvSpPr>
          <p:spPr>
            <a:xfrm>
              <a:off x="952500" y="512445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419100" y="0"/>
                  </a:lnTo>
                </a:path>
              </a:pathLst>
            </a:custGeom>
            <a:noFill/>
            <a:ln w="19050">
              <a:solidFill>
                <a:srgbClr val="1A3A5C"/>
              </a:solidFill>
              <a:custDash>
                <a:ds d="200000" sp="150000"/>
              </a:custDash>
            </a:ln>
          </p:spPr>
        </p:sp>
        <p:sp>
          <p:nvSpPr>
            <p:cNvPr id="55" name="Ellipse 55"/>
            <p:cNvSpPr/>
            <p:nvPr/>
          </p:nvSpPr>
          <p:spPr>
            <a:xfrm>
              <a:off x="704850" y="4876800"/>
              <a:ext cx="495300" cy="495300"/>
            </a:xfrm>
            <a:prstGeom prst="ellipse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78423" y="5054918"/>
              <a:ext cx="1481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1371600" y="4762500"/>
              <a:ext cx="10210800" cy="723900"/>
            </a:xfrm>
            <a:prstGeom prst="roundRect">
              <a:avLst>
                <a:gd name="adj" fmla="val 10526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1371600" y="4762500"/>
              <a:ext cx="57150" cy="723900"/>
            </a:xfrm>
            <a:prstGeom prst="roundRect">
              <a:avLst>
                <a:gd name="adj" fmla="val 50000"/>
              </a:avLst>
            </a:prstGeom>
            <a:solidFill>
              <a:srgbClr val="1E6B4F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1638300" y="4991100"/>
              <a:ext cx="304800" cy="266700"/>
              <a:chOff x="1638300" y="4991100"/>
              <a:chExt cx="304800" cy="2667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1695450" y="4991100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95250" y="47625"/>
                    </a:moveTo>
                    <a:cubicBezTo>
                      <a:pt x="95250" y="73928"/>
                      <a:pt x="73928" y="95250"/>
                      <a:pt x="47625" y="95250"/>
                    </a:cubicBezTo>
                    <a:cubicBezTo>
                      <a:pt x="21322" y="95250"/>
                      <a:pt x="0" y="73928"/>
                      <a:pt x="0" y="47625"/>
                    </a:cubicBezTo>
                    <a:cubicBezTo>
                      <a:pt x="0" y="21322"/>
                      <a:pt x="21322" y="0"/>
                      <a:pt x="47625" y="0"/>
                    </a:cubicBezTo>
                    <a:cubicBezTo>
                      <a:pt x="73928" y="0"/>
                      <a:pt x="95250" y="21322"/>
                      <a:pt x="95250" y="47625"/>
                    </a:cubicBezTo>
                    <a:close/>
                  </a:path>
                </a:pathLst>
              </a:custGeom>
              <a:solidFill>
                <a:srgbClr val="1E6B4F"/>
              </a:solidFill>
              <a:ln>
                <a:noFill/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1638300" y="5124450"/>
                <a:ext cx="1524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33350">
                    <a:moveTo>
                      <a:pt x="57150" y="0"/>
                    </a:moveTo>
                    <a:cubicBezTo>
                      <a:pt x="25587" y="0"/>
                      <a:pt x="0" y="25587"/>
                      <a:pt x="0" y="57150"/>
                    </a:cubicBezTo>
                    <a:lnTo>
                      <a:pt x="0" y="133350"/>
                    </a:lnTo>
                    <a:lnTo>
                      <a:pt x="152400" y="133350"/>
                    </a:lnTo>
                    <a:lnTo>
                      <a:pt x="152400" y="0"/>
                    </a:lnTo>
                    <a:lnTo>
                      <a:pt x="57150" y="0"/>
                    </a:lnTo>
                    <a:close/>
                  </a:path>
                </a:pathLst>
              </a:custGeom>
              <a:solidFill>
                <a:srgbClr val="1E6B4F"/>
              </a:solidFill>
              <a:ln>
                <a:noFill/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1828800" y="5124450"/>
                <a:ext cx="1143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33350">
                    <a:moveTo>
                      <a:pt x="57150" y="0"/>
                    </a:moveTo>
                    <a:lnTo>
                      <a:pt x="0" y="0"/>
                    </a:lnTo>
                    <a:lnTo>
                      <a:pt x="0" y="133350"/>
                    </a:lnTo>
                    <a:lnTo>
                      <a:pt x="114300" y="133350"/>
                    </a:lnTo>
                    <a:lnTo>
                      <a:pt x="114300" y="57150"/>
                    </a:lnTo>
                    <a:cubicBezTo>
                      <a:pt x="114300" y="25587"/>
                      <a:pt x="88714" y="0"/>
                      <a:pt x="57150" y="0"/>
                    </a:cubicBezTo>
                    <a:close/>
                  </a:path>
                </a:pathLst>
              </a:custGeom>
              <a:solidFill>
                <a:srgbClr val="1E6B4F"/>
              </a:solidFill>
              <a:ln>
                <a:noFill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1828800" y="50101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38100" y="76200"/>
                    </a:moveTo>
                    <a:cubicBezTo>
                      <a:pt x="59143" y="76200"/>
                      <a:pt x="76200" y="59142"/>
                      <a:pt x="76200" y="38100"/>
                    </a:cubicBezTo>
                    <a:cubicBezTo>
                      <a:pt x="76200" y="17058"/>
                      <a:pt x="59143" y="0"/>
                      <a:pt x="38100" y="0"/>
                    </a:cubicBezTo>
                    <a:cubicBezTo>
                      <a:pt x="17057" y="0"/>
                      <a:pt x="0" y="17058"/>
                      <a:pt x="0" y="38100"/>
                    </a:cubicBezTo>
                    <a:cubicBezTo>
                      <a:pt x="0" y="59142"/>
                      <a:pt x="17057" y="76200"/>
                      <a:pt x="38100" y="76200"/>
                    </a:cubicBezTo>
                    <a:close/>
                  </a:path>
                </a:pathLst>
              </a:custGeom>
              <a:solidFill>
                <a:srgbClr val="1E6B4F"/>
              </a:solidFill>
              <a:ln>
                <a:noFill/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2116455" y="4921568"/>
              <a:ext cx="10694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跨文化协调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2120265" y="5201602"/>
              <a:ext cx="49262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凯捷 Global 网络推动美方数据移交谈判,降低本地团队直接交涉的风险。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09600" y="5638800"/>
            <a:ext cx="10972800" cy="628650"/>
            <a:chOff x="609600" y="5638800"/>
            <a:chExt cx="10972800" cy="628650"/>
          </a:xfrm>
        </p:grpSpPr>
        <p:sp>
          <p:nvSpPr>
            <p:cNvPr id="67" name="Rectangle 67"/>
            <p:cNvSpPr/>
            <p:nvPr/>
          </p:nvSpPr>
          <p:spPr>
            <a:xfrm>
              <a:off x="609600" y="5638800"/>
              <a:ext cx="10972800" cy="62865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876300" y="5829300"/>
              <a:ext cx="266700" cy="266700"/>
              <a:chOff x="876300" y="5829300"/>
              <a:chExt cx="266700" cy="2667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942975" y="58959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66675" y="0"/>
                    </a:moveTo>
                    <a:cubicBezTo>
                      <a:pt x="29851" y="0"/>
                      <a:pt x="0" y="29851"/>
                      <a:pt x="0" y="66675"/>
                    </a:cubicBezTo>
                    <a:cubicBezTo>
                      <a:pt x="0" y="103498"/>
                      <a:pt x="29851" y="133350"/>
                      <a:pt x="66675" y="133350"/>
                    </a:cubicBezTo>
                    <a:cubicBezTo>
                      <a:pt x="103498" y="133350"/>
                      <a:pt x="133350" y="103498"/>
                      <a:pt x="133350" y="66675"/>
                    </a:cubicBezTo>
                    <a:cubicBezTo>
                      <a:pt x="133350" y="29851"/>
                      <a:pt x="103498" y="0"/>
                      <a:pt x="66675" y="0"/>
                    </a:cubicBezTo>
                    <a:close/>
                    <a:moveTo>
                      <a:pt x="33338" y="66675"/>
                    </a:moveTo>
                    <a:cubicBezTo>
                      <a:pt x="33338" y="48263"/>
                      <a:pt x="48263" y="33338"/>
                      <a:pt x="66675" y="33338"/>
                    </a:cubicBezTo>
                    <a:cubicBezTo>
                      <a:pt x="85087" y="33338"/>
                      <a:pt x="100012" y="48263"/>
                      <a:pt x="100012" y="66675"/>
                    </a:cubicBezTo>
                    <a:cubicBezTo>
                      <a:pt x="100012" y="85087"/>
                      <a:pt x="85087" y="100012"/>
                      <a:pt x="66675" y="100012"/>
                    </a:cubicBezTo>
                    <a:cubicBezTo>
                      <a:pt x="48263" y="100012"/>
                      <a:pt x="33338" y="85087"/>
                      <a:pt x="33338" y="66675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76300" y="582930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133350" y="0"/>
                    </a:moveTo>
                    <a:cubicBezTo>
                      <a:pt x="59703" y="0"/>
                      <a:pt x="0" y="59703"/>
                      <a:pt x="0" y="133350"/>
                    </a:cubicBezTo>
                    <a:cubicBezTo>
                      <a:pt x="0" y="206998"/>
                      <a:pt x="59703" y="266700"/>
                      <a:pt x="133350" y="266700"/>
                    </a:cubicBezTo>
                    <a:cubicBezTo>
                      <a:pt x="206998" y="266700"/>
                      <a:pt x="266700" y="206998"/>
                      <a:pt x="266700" y="133350"/>
                    </a:cubicBezTo>
                    <a:cubicBezTo>
                      <a:pt x="266700" y="59703"/>
                      <a:pt x="206998" y="0"/>
                      <a:pt x="133350" y="0"/>
                    </a:cubicBezTo>
                    <a:close/>
                    <a:moveTo>
                      <a:pt x="33338" y="133350"/>
                    </a:moveTo>
                    <a:cubicBezTo>
                      <a:pt x="33338" y="78115"/>
                      <a:pt x="78115" y="33338"/>
                      <a:pt x="133350" y="33338"/>
                    </a:cubicBezTo>
                    <a:cubicBezTo>
                      <a:pt x="188585" y="33338"/>
                      <a:pt x="233362" y="78115"/>
                      <a:pt x="233362" y="133350"/>
                    </a:cubicBezTo>
                    <a:cubicBezTo>
                      <a:pt x="233362" y="188585"/>
                      <a:pt x="188585" y="233362"/>
                      <a:pt x="133350" y="233362"/>
                    </a:cubicBezTo>
                    <a:cubicBezTo>
                      <a:pt x="78115" y="233362"/>
                      <a:pt x="33338" y="188585"/>
                      <a:pt x="33338" y="133350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261110" y="5880735"/>
              <a:ext cx="776820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9D6E3"/>
                  </a:solidFill>
                  <a:latin typeface="Arial"/>
                  <a:ea typeface="Microsoft YaHei"/>
                  <a:cs typeface="Arial"/>
                </a:rPr>
                <a:t xml:space="preserve">选型不表态:Oracle / SAP 双技术栈都有 —— </a:t>
              </a:r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「我们帮你把选型决策做对,而不是替某个厂商站台。」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599122" y="6521291"/>
            <a:ext cx="10993756" cy="167640"/>
            <a:chOff x="599122" y="6521291"/>
            <a:chExt cx="10993756" cy="167640"/>
          </a:xfrm>
        </p:grpSpPr>
        <p:sp>
          <p:nvSpPr>
            <p:cNvPr id="73" name="TextBox 73"/>
            <p:cNvSpPr txBox="1"/>
            <p:nvPr/>
          </p:nvSpPr>
          <p:spPr>
            <a:xfrm>
              <a:off x="599122" y="6521291"/>
              <a:ext cx="27139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星巴克中国 ERP 本地化拆分项目 · 凯捷 Capgemini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300740" y="6521291"/>
              <a:ext cx="129213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CONFIDENTIAL · 06 / 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9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27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0" grpId="0"/>
      <p:bldP spid="32" grpId="0"/>
      <p:bldP spid="44" grpId="0"/>
      <p:bldP spid="53" grpId="0"/>
      <p:bldP spid="66" grpId="0"/>
      <p:bldP spid="7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81025" y="309562"/>
            <a:ext cx="7596342" cy="590550"/>
            <a:chOff x="581025" y="309562"/>
            <a:chExt cx="7596342" cy="590550"/>
          </a:xfrm>
        </p:grpSpPr>
        <p:sp>
          <p:nvSpPr>
            <p:cNvPr id="5" name="TextBox 5"/>
            <p:cNvSpPr txBox="1"/>
            <p:nvPr/>
          </p:nvSpPr>
          <p:spPr>
            <a:xfrm>
              <a:off x="581025" y="309562"/>
              <a:ext cx="75963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系统解耦路线图 · 总览 —— 三阶段、两条处理路径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265" y="686752"/>
              <a:ext cx="21736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本次拜访唯一一张「硬通货」图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990600"/>
            <a:ext cx="3390900" cy="1600200"/>
            <a:chOff x="609600" y="990600"/>
            <a:chExt cx="3390900" cy="1600200"/>
          </a:xfrm>
        </p:grpSpPr>
        <p:sp>
          <p:nvSpPr>
            <p:cNvPr id="8" name="Rectangle 8"/>
            <p:cNvSpPr/>
            <p:nvPr/>
          </p:nvSpPr>
          <p:spPr>
            <a:xfrm>
              <a:off x="609600" y="990600"/>
              <a:ext cx="3390900" cy="1600200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 w="14288">
              <a:solidFill>
                <a:srgbClr val="DDE0E4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990600"/>
              <a:ext cx="3390900" cy="438150"/>
            </a:xfrm>
            <a:prstGeom prst="roundRect">
              <a:avLst>
                <a:gd name="adj" fmla="val 21739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609600" y="1276350"/>
              <a:ext cx="3390900" cy="15240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2005" y="1130618"/>
              <a:ext cx="130749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阶段一 · 解耦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37562" y="1161574"/>
              <a:ext cx="126577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交割前 ~ 2026/4/1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05815" y="1658302"/>
              <a:ext cx="17135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建中国区独立 Instance,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05815" y="1886902"/>
              <a:ext cx="15525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与 Global 并行;主数据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05815" y="2115502"/>
              <a:ext cx="163687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HUB 本地化;搭过渡层。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057650" y="1695450"/>
            <a:ext cx="190500" cy="190500"/>
            <a:chOff x="4057650" y="1695450"/>
            <a:chExt cx="190500" cy="190500"/>
          </a:xfrm>
        </p:grpSpPr>
        <p:sp>
          <p:nvSpPr>
            <p:cNvPr id="17" name="Polygon 17"/>
            <p:cNvSpPr/>
            <p:nvPr/>
          </p:nvSpPr>
          <p:spPr>
            <a:xfrm>
              <a:off x="4057650" y="16954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0" y="95250"/>
                  </a:moveTo>
                  <a:lnTo>
                    <a:pt x="190500" y="0"/>
                  </a:lnTo>
                  <a:lnTo>
                    <a:pt x="190500" y="190500"/>
                  </a:lnTo>
                  <a:close/>
                </a:path>
              </a:pathLst>
            </a:custGeom>
            <a:solidFill>
              <a:srgbClr val="C8862E"/>
            </a:solidFill>
            <a:ln>
              <a:noFill/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4333875" y="990600"/>
            <a:ext cx="3390900" cy="1600200"/>
            <a:chOff x="4333875" y="990600"/>
            <a:chExt cx="3390900" cy="1600200"/>
          </a:xfrm>
        </p:grpSpPr>
        <p:sp>
          <p:nvSpPr>
            <p:cNvPr id="19" name="Rectangle 19"/>
            <p:cNvSpPr/>
            <p:nvPr/>
          </p:nvSpPr>
          <p:spPr>
            <a:xfrm>
              <a:off x="4333875" y="990600"/>
              <a:ext cx="3390900" cy="1600200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 w="14288">
              <a:solidFill>
                <a:srgbClr val="DDE0E4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33875" y="990600"/>
              <a:ext cx="3390900" cy="438150"/>
            </a:xfrm>
            <a:prstGeom prst="roundRect">
              <a:avLst>
                <a:gd name="adj" fmla="val 21739"/>
              </a:avLst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333875" y="1276350"/>
              <a:ext cx="3390900" cy="15240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526280" y="1130618"/>
              <a:ext cx="130749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阶段二 · 过渡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19795" y="1161574"/>
              <a:ext cx="140781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2026/4/1 ~ +24 个月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30090" y="1658302"/>
              <a:ext cx="174421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双轨运行,Global 仍在用;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30090" y="1886902"/>
              <a:ext cx="17135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接口逐批从「指向北美」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30090" y="2115502"/>
              <a:ext cx="21045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切到「指向本地」;数据移交。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781925" y="1695450"/>
            <a:ext cx="190500" cy="190500"/>
            <a:chOff x="7781925" y="1695450"/>
            <a:chExt cx="190500" cy="190500"/>
          </a:xfrm>
        </p:grpSpPr>
        <p:sp>
          <p:nvSpPr>
            <p:cNvPr id="28" name="Polygon 28"/>
            <p:cNvSpPr/>
            <p:nvPr/>
          </p:nvSpPr>
          <p:spPr>
            <a:xfrm>
              <a:off x="7781925" y="16954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0" y="95250"/>
                  </a:moveTo>
                  <a:lnTo>
                    <a:pt x="190500" y="0"/>
                  </a:lnTo>
                  <a:lnTo>
                    <a:pt x="190500" y="190500"/>
                  </a:lnTo>
                  <a:close/>
                </a:path>
              </a:pathLst>
            </a:custGeom>
            <a:solidFill>
              <a:srgbClr val="C8862E"/>
            </a:solidFill>
            <a:ln>
              <a:noFill/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8058150" y="990600"/>
            <a:ext cx="3524250" cy="1600200"/>
            <a:chOff x="8058150" y="990600"/>
            <a:chExt cx="3524250" cy="1600200"/>
          </a:xfrm>
        </p:grpSpPr>
        <p:sp>
          <p:nvSpPr>
            <p:cNvPr id="30" name="Rectangle 30"/>
            <p:cNvSpPr/>
            <p:nvPr/>
          </p:nvSpPr>
          <p:spPr>
            <a:xfrm>
              <a:off x="8058150" y="990600"/>
              <a:ext cx="3524250" cy="1600200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 w="14288">
              <a:solidFill>
                <a:srgbClr val="DDE0E4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8058150" y="990600"/>
              <a:ext cx="3524250" cy="438150"/>
            </a:xfrm>
            <a:prstGeom prst="roundRect">
              <a:avLst>
                <a:gd name="adj" fmla="val 21739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058150" y="1276350"/>
              <a:ext cx="3524250" cy="152400"/>
            </a:xfrm>
            <a:prstGeom prst="rect">
              <a:avLst/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250555" y="1130618"/>
              <a:ext cx="130749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阶段三 · 脱钩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904436" y="116157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~ 2028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54365" y="1658302"/>
              <a:ext cx="168287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完全脱离 Global;BOH 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54365" y="1886902"/>
              <a:ext cx="17978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剩余系统按计划更换,完成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54365" y="2115502"/>
              <a:ext cx="15601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中国区独立技术底座。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94360" y="2842260"/>
            <a:ext cx="3756946" cy="243840"/>
            <a:chOff x="594360" y="2842260"/>
            <a:chExt cx="3756946" cy="243840"/>
          </a:xfrm>
        </p:grpSpPr>
        <p:sp>
          <p:nvSpPr>
            <p:cNvPr id="39" name="TextBox 39"/>
            <p:cNvSpPr txBox="1"/>
            <p:nvPr/>
          </p:nvSpPr>
          <p:spPr>
            <a:xfrm>
              <a:off x="594360" y="2842260"/>
              <a:ext cx="37569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每个系统只走两条路径之一 —— 先分类,再排期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09600" y="3124200"/>
            <a:ext cx="5334000" cy="2362200"/>
            <a:chOff x="609600" y="3124200"/>
            <a:chExt cx="5334000" cy="2362200"/>
          </a:xfrm>
        </p:grpSpPr>
        <p:sp>
          <p:nvSpPr>
            <p:cNvPr id="41" name="Rectangle 41"/>
            <p:cNvSpPr/>
            <p:nvPr/>
          </p:nvSpPr>
          <p:spPr>
            <a:xfrm>
              <a:off x="609600" y="3124200"/>
              <a:ext cx="5334000" cy="2362200"/>
            </a:xfrm>
            <a:prstGeom prst="roundRect">
              <a:avLst>
                <a:gd name="adj" fmla="val 4032"/>
              </a:avLst>
            </a:prstGeom>
            <a:solidFill>
              <a:srgbClr val="FFFFFF"/>
            </a:solidFill>
            <a:ln w="19050">
              <a:solidFill>
                <a:srgbClr val="B0392E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09600" y="3124200"/>
              <a:ext cx="5334000" cy="476250"/>
            </a:xfrm>
            <a:prstGeom prst="roundRect">
              <a:avLst>
                <a:gd name="adj" fmla="val 20000"/>
              </a:avLst>
            </a:prstGeom>
            <a:solidFill>
              <a:srgbClr val="B0392E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09600" y="3409950"/>
              <a:ext cx="5334000" cy="190500"/>
            </a:xfrm>
            <a:prstGeom prst="rect">
              <a:avLst/>
            </a:prstGeom>
            <a:solidFill>
              <a:srgbClr val="B0392E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834628" y="3238500"/>
              <a:ext cx="232172" cy="247650"/>
              <a:chOff x="834628" y="3238500"/>
              <a:chExt cx="232172" cy="24765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34628" y="3238500"/>
                <a:ext cx="232172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232172" h="247650">
                    <a:moveTo>
                      <a:pt x="79269" y="13600"/>
                    </a:moveTo>
                    <a:cubicBezTo>
                      <a:pt x="94737" y="29068"/>
                      <a:pt x="97011" y="52734"/>
                      <a:pt x="86090" y="70612"/>
                    </a:cubicBezTo>
                    <a:lnTo>
                      <a:pt x="232172" y="216694"/>
                    </a:lnTo>
                    <a:lnTo>
                      <a:pt x="216694" y="232172"/>
                    </a:lnTo>
                    <a:lnTo>
                      <a:pt x="170259" y="232172"/>
                    </a:lnTo>
                    <a:lnTo>
                      <a:pt x="100608" y="162520"/>
                    </a:lnTo>
                    <a:lnTo>
                      <a:pt x="86090" y="177037"/>
                    </a:lnTo>
                    <a:cubicBezTo>
                      <a:pt x="97011" y="194916"/>
                      <a:pt x="94737" y="218582"/>
                      <a:pt x="79269" y="234049"/>
                    </a:cubicBezTo>
                    <a:cubicBezTo>
                      <a:pt x="70202" y="243117"/>
                      <a:pt x="58318" y="247650"/>
                      <a:pt x="46434" y="247650"/>
                    </a:cubicBezTo>
                    <a:lnTo>
                      <a:pt x="43779" y="247650"/>
                    </a:lnTo>
                    <a:cubicBezTo>
                      <a:pt x="19600" y="247650"/>
                      <a:pt x="0" y="228050"/>
                      <a:pt x="0" y="203872"/>
                    </a:cubicBezTo>
                    <a:cubicBezTo>
                      <a:pt x="0" y="192260"/>
                      <a:pt x="4612" y="181125"/>
                      <a:pt x="12823" y="172915"/>
                    </a:cubicBezTo>
                    <a:lnTo>
                      <a:pt x="61912" y="123825"/>
                    </a:lnTo>
                    <a:lnTo>
                      <a:pt x="12823" y="74735"/>
                    </a:lnTo>
                    <a:cubicBezTo>
                      <a:pt x="4612" y="66525"/>
                      <a:pt x="0" y="55390"/>
                      <a:pt x="0" y="43779"/>
                    </a:cubicBezTo>
                    <a:cubicBezTo>
                      <a:pt x="0" y="19600"/>
                      <a:pt x="19600" y="0"/>
                      <a:pt x="43779" y="0"/>
                    </a:cubicBezTo>
                    <a:lnTo>
                      <a:pt x="46434" y="0"/>
                    </a:lnTo>
                    <a:cubicBezTo>
                      <a:pt x="58318" y="0"/>
                      <a:pt x="70202" y="4533"/>
                      <a:pt x="79269" y="13600"/>
                    </a:cubicBezTo>
                    <a:close/>
                    <a:moveTo>
                      <a:pt x="30956" y="46434"/>
                    </a:moveTo>
                    <a:cubicBezTo>
                      <a:pt x="30956" y="54983"/>
                      <a:pt x="37886" y="61913"/>
                      <a:pt x="46434" y="61913"/>
                    </a:cubicBezTo>
                    <a:cubicBezTo>
                      <a:pt x="54983" y="61913"/>
                      <a:pt x="61912" y="54983"/>
                      <a:pt x="61912" y="46434"/>
                    </a:cubicBezTo>
                    <a:cubicBezTo>
                      <a:pt x="61912" y="37886"/>
                      <a:pt x="54983" y="30956"/>
                      <a:pt x="46434" y="30956"/>
                    </a:cubicBezTo>
                    <a:cubicBezTo>
                      <a:pt x="37886" y="30956"/>
                      <a:pt x="30956" y="37886"/>
                      <a:pt x="30956" y="46434"/>
                    </a:cubicBezTo>
                    <a:close/>
                    <a:moveTo>
                      <a:pt x="46434" y="185738"/>
                    </a:moveTo>
                    <a:cubicBezTo>
                      <a:pt x="37886" y="185738"/>
                      <a:pt x="30956" y="192667"/>
                      <a:pt x="30956" y="201216"/>
                    </a:cubicBezTo>
                    <a:cubicBezTo>
                      <a:pt x="30956" y="209764"/>
                      <a:pt x="37886" y="216694"/>
                      <a:pt x="46434" y="216694"/>
                    </a:cubicBezTo>
                    <a:cubicBezTo>
                      <a:pt x="54983" y="216694"/>
                      <a:pt x="61912" y="209764"/>
                      <a:pt x="61912" y="201216"/>
                    </a:cubicBezTo>
                    <a:cubicBezTo>
                      <a:pt x="61912" y="192667"/>
                      <a:pt x="54983" y="185738"/>
                      <a:pt x="46434" y="18573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958453" y="3253978"/>
                <a:ext cx="108347" cy="85130"/>
              </a:xfrm>
              <a:custGeom>
                <a:avLst/>
                <a:gdLst/>
                <a:ahLst/>
                <a:cxnLst/>
                <a:rect l="l" t="t" r="r" b="b"/>
                <a:pathLst>
                  <a:path w="108347" h="85130">
                    <a:moveTo>
                      <a:pt x="46434" y="0"/>
                    </a:moveTo>
                    <a:lnTo>
                      <a:pt x="0" y="46434"/>
                    </a:lnTo>
                    <a:lnTo>
                      <a:pt x="38695" y="85130"/>
                    </a:lnTo>
                    <a:lnTo>
                      <a:pt x="108347" y="15478"/>
                    </a:lnTo>
                    <a:lnTo>
                      <a:pt x="92869" y="0"/>
                    </a:lnTo>
                    <a:lnTo>
                      <a:pt x="4643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163002" y="3284696"/>
              <a:ext cx="178441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路径 A · 物理拆分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22960" y="3832860"/>
              <a:ext cx="2735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必须真拆 —— 重建中国区独立实例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4865" y="4153852"/>
              <a:ext cx="31857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与北美共用 Instance / 承载法定账套或主数据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4865" y="4382452"/>
              <a:ext cx="250331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源头 / 切割后失去美方支持的系统。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38200" y="4953000"/>
              <a:ext cx="4876800" cy="342900"/>
            </a:xfrm>
            <a:prstGeom prst="roundRect">
              <a:avLst>
                <a:gd name="adj" fmla="val 16667"/>
              </a:avLst>
            </a:prstGeom>
            <a:solidFill>
              <a:srgbClr val="B0392E">
                <a:alpha val="10000"/>
              </a:srgbClr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015365" y="5058728"/>
              <a:ext cx="303774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0392E"/>
                  </a:solidFill>
                  <a:latin typeface="Arial"/>
                  <a:ea typeface="Microsoft YaHei"/>
                  <a:cs typeface="Arial"/>
                </a:rPr>
                <a:t>成本高、周期长 —— 这是项目的关键路径。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6248400" y="3124200"/>
            <a:ext cx="5334000" cy="2362200"/>
            <a:chOff x="6248400" y="3124200"/>
            <a:chExt cx="5334000" cy="2362200"/>
          </a:xfrm>
        </p:grpSpPr>
        <p:sp>
          <p:nvSpPr>
            <p:cNvPr id="54" name="Rectangle 54"/>
            <p:cNvSpPr/>
            <p:nvPr/>
          </p:nvSpPr>
          <p:spPr>
            <a:xfrm>
              <a:off x="6248400" y="3124200"/>
              <a:ext cx="5334000" cy="2362200"/>
            </a:xfrm>
            <a:prstGeom prst="roundRect">
              <a:avLst>
                <a:gd name="adj" fmla="val 4032"/>
              </a:avLst>
            </a:prstGeom>
            <a:solidFill>
              <a:srgbClr val="FFFFFF"/>
            </a:solidFill>
            <a:ln w="19050">
              <a:solidFill>
                <a:srgbClr val="1E6B4F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48400" y="3124200"/>
              <a:ext cx="5334000" cy="476250"/>
            </a:xfrm>
            <a:prstGeom prst="roundRect">
              <a:avLst>
                <a:gd name="adj" fmla="val 20000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248400" y="3409950"/>
              <a:ext cx="5334000" cy="190500"/>
            </a:xfrm>
            <a:prstGeom prst="rect">
              <a:avLst/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57" name="Freeform 57"/>
            <p:cNvSpPr/>
            <p:nvPr/>
          </p:nvSpPr>
          <p:spPr>
            <a:xfrm>
              <a:off x="6457950" y="3284934"/>
              <a:ext cx="247650" cy="154781"/>
            </a:xfrm>
            <a:custGeom>
              <a:avLst/>
              <a:gdLst/>
              <a:ahLst/>
              <a:cxnLst/>
              <a:rect l="l" t="t" r="r" b="b"/>
              <a:pathLst>
                <a:path w="247650" h="154781">
                  <a:moveTo>
                    <a:pt x="92869" y="92869"/>
                  </a:moveTo>
                  <a:lnTo>
                    <a:pt x="92869" y="154781"/>
                  </a:lnTo>
                  <a:lnTo>
                    <a:pt x="77391" y="154781"/>
                  </a:lnTo>
                  <a:lnTo>
                    <a:pt x="0" y="77391"/>
                  </a:lnTo>
                  <a:lnTo>
                    <a:pt x="77391" y="0"/>
                  </a:lnTo>
                  <a:lnTo>
                    <a:pt x="92869" y="0"/>
                  </a:lnTo>
                  <a:lnTo>
                    <a:pt x="92869" y="61912"/>
                  </a:lnTo>
                  <a:lnTo>
                    <a:pt x="154781" y="61912"/>
                  </a:lnTo>
                  <a:lnTo>
                    <a:pt x="154781" y="0"/>
                  </a:lnTo>
                  <a:lnTo>
                    <a:pt x="170259" y="0"/>
                  </a:lnTo>
                  <a:lnTo>
                    <a:pt x="247650" y="77391"/>
                  </a:lnTo>
                  <a:lnTo>
                    <a:pt x="170259" y="154781"/>
                  </a:lnTo>
                  <a:lnTo>
                    <a:pt x="154781" y="154781"/>
                  </a:lnTo>
                  <a:lnTo>
                    <a:pt x="154781" y="92869"/>
                  </a:lnTo>
                  <a:lnTo>
                    <a:pt x="92869" y="9286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801802" y="3284696"/>
              <a:ext cx="178441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路径 B · 逻辑迁移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461760" y="3832860"/>
              <a:ext cx="2735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只换归属与连接 —— 业务逻辑不动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463665" y="4153852"/>
              <a:ext cx="287135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通过接口重指向即可解决归属的周边系统,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463665" y="4382452"/>
              <a:ext cx="11001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本体不需重建。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477000" y="4953000"/>
              <a:ext cx="4876800" cy="342900"/>
            </a:xfrm>
            <a:prstGeom prst="roundRect">
              <a:avLst>
                <a:gd name="adj" fmla="val 16667"/>
              </a:avLst>
            </a:prstGeom>
            <a:solidFill>
              <a:srgbClr val="1E6B4F">
                <a:alpha val="10000"/>
              </a:srgbClr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654165" y="5058728"/>
              <a:ext cx="25546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E6B4F"/>
                  </a:solidFill>
                  <a:latin typeface="Arial"/>
                  <a:ea typeface="Microsoft YaHei"/>
                  <a:cs typeface="Arial"/>
                </a:rPr>
                <a:t>成本低、可分批 —— 用过渡层兜底。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09600" y="5638800"/>
            <a:ext cx="10972800" cy="457200"/>
            <a:chOff x="609600" y="5638800"/>
            <a:chExt cx="10972800" cy="457200"/>
          </a:xfrm>
        </p:grpSpPr>
        <p:sp>
          <p:nvSpPr>
            <p:cNvPr id="65" name="Rectangle 65"/>
            <p:cNvSpPr/>
            <p:nvPr/>
          </p:nvSpPr>
          <p:spPr>
            <a:xfrm>
              <a:off x="609600" y="5638800"/>
              <a:ext cx="10972800" cy="457200"/>
            </a:xfrm>
            <a:prstGeom prst="roundRect">
              <a:avLst>
                <a:gd name="adj" fmla="val 12500"/>
              </a:avLst>
            </a:prstGeom>
            <a:solidFill>
              <a:srgbClr val="C8862E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819150" y="5753100"/>
              <a:ext cx="228600" cy="228600"/>
              <a:chOff x="819150" y="5753100"/>
              <a:chExt cx="228600" cy="228600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919162" y="5853112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28575">
                    <a:moveTo>
                      <a:pt x="28575" y="14288"/>
                    </a:moveTo>
                    <a:cubicBezTo>
                      <a:pt x="28575" y="22178"/>
                      <a:pt x="22178" y="28575"/>
                      <a:pt x="14288" y="28575"/>
                    </a:cubicBezTo>
                    <a:cubicBezTo>
                      <a:pt x="6397" y="28575"/>
                      <a:pt x="0" y="22178"/>
                      <a:pt x="0" y="14288"/>
                    </a:cubicBezTo>
                    <a:cubicBezTo>
                      <a:pt x="0" y="6397"/>
                      <a:pt x="6397" y="0"/>
                      <a:pt x="14288" y="0"/>
                    </a:cubicBezTo>
                    <a:cubicBezTo>
                      <a:pt x="22178" y="0"/>
                      <a:pt x="28575" y="6397"/>
                      <a:pt x="28575" y="14288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19150" y="57531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128588" y="22524"/>
                    </a:moveTo>
                    <a:lnTo>
                      <a:pt x="128588" y="0"/>
                    </a:lnTo>
                    <a:lnTo>
                      <a:pt x="100012" y="0"/>
                    </a:lnTo>
                    <a:lnTo>
                      <a:pt x="100012" y="22524"/>
                    </a:lnTo>
                    <a:cubicBezTo>
                      <a:pt x="60163" y="28677"/>
                      <a:pt x="28677" y="60163"/>
                      <a:pt x="22524" y="100012"/>
                    </a:cubicBezTo>
                    <a:lnTo>
                      <a:pt x="0" y="100012"/>
                    </a:lnTo>
                    <a:lnTo>
                      <a:pt x="0" y="128588"/>
                    </a:lnTo>
                    <a:lnTo>
                      <a:pt x="22524" y="128588"/>
                    </a:lnTo>
                    <a:cubicBezTo>
                      <a:pt x="28677" y="168437"/>
                      <a:pt x="60163" y="199924"/>
                      <a:pt x="100012" y="206077"/>
                    </a:cubicBezTo>
                    <a:lnTo>
                      <a:pt x="100012" y="228600"/>
                    </a:lnTo>
                    <a:lnTo>
                      <a:pt x="128588" y="228600"/>
                    </a:lnTo>
                    <a:lnTo>
                      <a:pt x="128588" y="206077"/>
                    </a:lnTo>
                    <a:cubicBezTo>
                      <a:pt x="168437" y="199924"/>
                      <a:pt x="199924" y="168437"/>
                      <a:pt x="206077" y="128588"/>
                    </a:cubicBezTo>
                    <a:lnTo>
                      <a:pt x="228600" y="128588"/>
                    </a:lnTo>
                    <a:lnTo>
                      <a:pt x="228600" y="100012"/>
                    </a:lnTo>
                    <a:lnTo>
                      <a:pt x="206077" y="100012"/>
                    </a:lnTo>
                    <a:cubicBezTo>
                      <a:pt x="199924" y="60163"/>
                      <a:pt x="168437" y="28677"/>
                      <a:pt x="128588" y="22524"/>
                    </a:cubicBezTo>
                    <a:close/>
                    <a:moveTo>
                      <a:pt x="100012" y="51599"/>
                    </a:moveTo>
                    <a:lnTo>
                      <a:pt x="100012" y="71438"/>
                    </a:lnTo>
                    <a:lnTo>
                      <a:pt x="128588" y="71438"/>
                    </a:lnTo>
                    <a:lnTo>
                      <a:pt x="128588" y="51599"/>
                    </a:lnTo>
                    <a:cubicBezTo>
                      <a:pt x="152625" y="57054"/>
                      <a:pt x="171546" y="75975"/>
                      <a:pt x="177001" y="100012"/>
                    </a:cubicBezTo>
                    <a:lnTo>
                      <a:pt x="157162" y="100012"/>
                    </a:lnTo>
                    <a:lnTo>
                      <a:pt x="157162" y="128588"/>
                    </a:lnTo>
                    <a:lnTo>
                      <a:pt x="177001" y="128588"/>
                    </a:lnTo>
                    <a:cubicBezTo>
                      <a:pt x="171546" y="152625"/>
                      <a:pt x="152625" y="171546"/>
                      <a:pt x="128588" y="177001"/>
                    </a:cubicBezTo>
                    <a:lnTo>
                      <a:pt x="128588" y="157162"/>
                    </a:lnTo>
                    <a:lnTo>
                      <a:pt x="100012" y="157162"/>
                    </a:lnTo>
                    <a:lnTo>
                      <a:pt x="100012" y="177001"/>
                    </a:lnTo>
                    <a:cubicBezTo>
                      <a:pt x="75975" y="171546"/>
                      <a:pt x="57054" y="152625"/>
                      <a:pt x="51599" y="128588"/>
                    </a:cubicBezTo>
                    <a:lnTo>
                      <a:pt x="71438" y="128588"/>
                    </a:lnTo>
                    <a:lnTo>
                      <a:pt x="71438" y="100012"/>
                    </a:lnTo>
                    <a:lnTo>
                      <a:pt x="51599" y="100012"/>
                    </a:lnTo>
                    <a:cubicBezTo>
                      <a:pt x="57054" y="75975"/>
                      <a:pt x="75975" y="57054"/>
                      <a:pt x="100012" y="51599"/>
                    </a:cubicBez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147762" y="5803106"/>
              <a:ext cx="668790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A6A22"/>
                  </a:solidFill>
                  <a:latin typeface="Arial"/>
                  <a:ea typeface="Microsoft YaHei"/>
                  <a:cs typeface="Arial"/>
                </a:rPr>
                <a:t>收敛判断:33 个接口不是 33 个项目 —— 分类后真正高风险的物理拆分项,可能不到 1/3。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599122" y="6521291"/>
            <a:ext cx="10993756" cy="167640"/>
            <a:chOff x="599122" y="6521291"/>
            <a:chExt cx="10993756" cy="167640"/>
          </a:xfrm>
        </p:grpSpPr>
        <p:sp>
          <p:nvSpPr>
            <p:cNvPr id="71" name="TextBox 71"/>
            <p:cNvSpPr txBox="1"/>
            <p:nvPr/>
          </p:nvSpPr>
          <p:spPr>
            <a:xfrm>
              <a:off x="599122" y="6521291"/>
              <a:ext cx="27139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星巴克中国 ERP 本地化拆分项目 · 凯捷 Capgemini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300740" y="6521291"/>
              <a:ext cx="129213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CONFIDENTIAL · 07 / 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27" grpId="0"/>
      <p:bldP spid="29" grpId="0"/>
      <p:bldP spid="38" grpId="0"/>
      <p:bldP spid="40" grpId="0"/>
      <p:bldP spid="53" grpId="0"/>
      <p:bldP spid="64" grpId="0"/>
      <p:bldP spid="7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81025" y="309562"/>
            <a:ext cx="9218045" cy="590550"/>
            <a:chOff x="581025" y="309562"/>
            <a:chExt cx="9218045" cy="590550"/>
          </a:xfrm>
        </p:grpSpPr>
        <p:sp>
          <p:nvSpPr>
            <p:cNvPr id="5" name="TextBox 5"/>
            <p:cNvSpPr txBox="1"/>
            <p:nvPr/>
          </p:nvSpPr>
          <p:spPr>
            <a:xfrm>
              <a:off x="581025" y="309562"/>
              <a:ext cx="921804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系统解耦路线图 · 判断标准 —— 「物理拆 or 逻辑迁」的四问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265" y="686752"/>
              <a:ext cx="21045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让分类有章可循,而不是凭感觉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952500"/>
            <a:ext cx="10972800" cy="476250"/>
            <a:chOff x="609600" y="952500"/>
            <a:chExt cx="10972800" cy="476250"/>
          </a:xfrm>
        </p:grpSpPr>
        <p:sp>
          <p:nvSpPr>
            <p:cNvPr id="8" name="Rectangle 8"/>
            <p:cNvSpPr/>
            <p:nvPr/>
          </p:nvSpPr>
          <p:spPr>
            <a:xfrm>
              <a:off x="609600" y="952500"/>
              <a:ext cx="10972800" cy="47625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952500"/>
              <a:ext cx="57150" cy="47625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0108" y="1110139"/>
              <a:ext cx="516490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任意一问为「是」</a:t>
              </a:r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→ 物理拆分</a:t>
              </a:r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;四问全为「否」</a:t>
              </a:r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→ 逻辑迁移</a:t>
              </a:r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" y="1600200"/>
            <a:ext cx="10972800" cy="876300"/>
            <a:chOff x="609600" y="1600200"/>
            <a:chExt cx="10972800" cy="876300"/>
          </a:xfrm>
        </p:grpSpPr>
        <p:sp>
          <p:nvSpPr>
            <p:cNvPr id="12" name="Rectangle 12"/>
            <p:cNvSpPr/>
            <p:nvPr/>
          </p:nvSpPr>
          <p:spPr>
            <a:xfrm>
              <a:off x="609600" y="1600200"/>
              <a:ext cx="1981200" cy="876300"/>
            </a:xfrm>
            <a:prstGeom prst="roundRect">
              <a:avLst>
                <a:gd name="adj" fmla="val 8696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3435" y="1770698"/>
              <a:ext cx="363519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22008" y="2129314"/>
              <a:ext cx="61895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连体性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2705100" y="1600200"/>
              <a:ext cx="4953000" cy="876300"/>
            </a:xfrm>
            <a:prstGeom prst="roundRect">
              <a:avLst>
                <a:gd name="adj" fmla="val 8696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918460" y="1985010"/>
              <a:ext cx="3738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是否与北美共用同一 Instance / 共享数据库?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772400" y="1600200"/>
              <a:ext cx="38100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14288">
              <a:solidFill>
                <a:srgbClr val="B0392E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987665" y="1925002"/>
              <a:ext cx="9697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0392E"/>
                  </a:solidFill>
                  <a:latin typeface="Arial"/>
                  <a:ea typeface="Microsoft YaHei"/>
                  <a:cs typeface="Arial"/>
                </a:rPr>
                <a:t>是 → 物理拆分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87665" y="2153602"/>
              <a:ext cx="17978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无法靠接口切断,必须真拆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09600" y="2590800"/>
            <a:ext cx="10972800" cy="876300"/>
            <a:chOff x="609600" y="2590800"/>
            <a:chExt cx="10972800" cy="876300"/>
          </a:xfrm>
        </p:grpSpPr>
        <p:sp>
          <p:nvSpPr>
            <p:cNvPr id="21" name="Rectangle 21"/>
            <p:cNvSpPr/>
            <p:nvPr/>
          </p:nvSpPr>
          <p:spPr>
            <a:xfrm>
              <a:off x="609600" y="2590800"/>
              <a:ext cx="1981200" cy="876300"/>
            </a:xfrm>
            <a:prstGeom prst="roundRect">
              <a:avLst>
                <a:gd name="adj" fmla="val 8696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13435" y="2761298"/>
              <a:ext cx="438279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22008" y="3119914"/>
              <a:ext cx="8144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账套源头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2705100" y="2590800"/>
              <a:ext cx="4953000" cy="876300"/>
            </a:xfrm>
            <a:prstGeom prst="roundRect">
              <a:avLst>
                <a:gd name="adj" fmla="val 8696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918460" y="2975610"/>
              <a:ext cx="391336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是否承载法定财务账套,或是主数据的源头系统?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772400" y="2590800"/>
              <a:ext cx="38100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14288">
              <a:solidFill>
                <a:srgbClr val="B0392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987665" y="2915602"/>
              <a:ext cx="9697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0392E"/>
                  </a:solidFill>
                  <a:latin typeface="Arial"/>
                  <a:ea typeface="Microsoft YaHei"/>
                  <a:cs typeface="Arial"/>
                </a:rPr>
                <a:t>是 → 物理拆分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987665" y="3144202"/>
              <a:ext cx="17135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必须落到中国区独立实例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09600" y="3581400"/>
            <a:ext cx="10972800" cy="876300"/>
            <a:chOff x="609600" y="3581400"/>
            <a:chExt cx="10972800" cy="876300"/>
          </a:xfrm>
        </p:grpSpPr>
        <p:sp>
          <p:nvSpPr>
            <p:cNvPr id="30" name="Rectangle 30"/>
            <p:cNvSpPr/>
            <p:nvPr/>
          </p:nvSpPr>
          <p:spPr>
            <a:xfrm>
              <a:off x="609600" y="3581400"/>
              <a:ext cx="1981200" cy="876300"/>
            </a:xfrm>
            <a:prstGeom prst="roundRect">
              <a:avLst>
                <a:gd name="adj" fmla="val 8696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13435" y="3751898"/>
              <a:ext cx="438279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2008" y="4110514"/>
              <a:ext cx="8144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支持中断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2705100" y="3581400"/>
              <a:ext cx="4953000" cy="876300"/>
            </a:xfrm>
            <a:prstGeom prst="roundRect">
              <a:avLst>
                <a:gd name="adj" fmla="val 8696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2918460" y="3966210"/>
              <a:ext cx="347171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切割后美方是否不再提供运维 / 升级支持?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772400" y="3581400"/>
              <a:ext cx="38100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14288">
              <a:solidFill>
                <a:srgbClr val="B0392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987665" y="3906202"/>
              <a:ext cx="9697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0392E"/>
                  </a:solidFill>
                  <a:latin typeface="Arial"/>
                  <a:ea typeface="Microsoft YaHei"/>
                  <a:cs typeface="Arial"/>
                </a:rPr>
                <a:t>是 → 物理拆分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987665" y="4134802"/>
              <a:ext cx="17135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不能依赖失去支持的系统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09600" y="4572000"/>
            <a:ext cx="10972800" cy="876300"/>
            <a:chOff x="609600" y="4572000"/>
            <a:chExt cx="10972800" cy="876300"/>
          </a:xfrm>
        </p:grpSpPr>
        <p:sp>
          <p:nvSpPr>
            <p:cNvPr id="39" name="Rectangle 39"/>
            <p:cNvSpPr/>
            <p:nvPr/>
          </p:nvSpPr>
          <p:spPr>
            <a:xfrm>
              <a:off x="609600" y="4572000"/>
              <a:ext cx="1981200" cy="876300"/>
            </a:xfrm>
            <a:prstGeom prst="roundRect">
              <a:avLst>
                <a:gd name="adj" fmla="val 8696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13435" y="4742498"/>
              <a:ext cx="438279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Q4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22008" y="5101114"/>
              <a:ext cx="8144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接口可解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705100" y="4572000"/>
              <a:ext cx="4953000" cy="876300"/>
            </a:xfrm>
            <a:prstGeom prst="roundRect">
              <a:avLst>
                <a:gd name="adj" fmla="val 8696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2918460" y="4956810"/>
              <a:ext cx="362813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是否无法仅靠「接口重指向」解决归属问题?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772400" y="4572000"/>
              <a:ext cx="38100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14288">
              <a:solidFill>
                <a:srgbClr val="1E6B4F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987665" y="4896802"/>
              <a:ext cx="9697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0392E"/>
                  </a:solidFill>
                  <a:latin typeface="Arial"/>
                  <a:ea typeface="Microsoft YaHei"/>
                  <a:cs typeface="Arial"/>
                </a:rPr>
                <a:t>是 → 物理拆分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987665" y="5125402"/>
              <a:ext cx="127649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E6B4F"/>
                  </a:solidFill>
                  <a:latin typeface="Arial"/>
                  <a:ea typeface="Microsoft YaHei"/>
                  <a:cs typeface="Arial"/>
                </a:rPr>
                <a:t>否 → 逻辑迁移即可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09600" y="5600700"/>
            <a:ext cx="10972800" cy="533400"/>
            <a:chOff x="609600" y="5600700"/>
            <a:chExt cx="10972800" cy="533400"/>
          </a:xfrm>
        </p:grpSpPr>
        <p:sp>
          <p:nvSpPr>
            <p:cNvPr id="48" name="Rectangle 48"/>
            <p:cNvSpPr/>
            <p:nvPr/>
          </p:nvSpPr>
          <p:spPr>
            <a:xfrm>
              <a:off x="609600" y="5600700"/>
              <a:ext cx="10972800" cy="533400"/>
            </a:xfrm>
            <a:prstGeom prst="rect">
              <a:avLst/>
            </a:prstGeom>
            <a:solidFill>
              <a:srgbClr val="1E6B4F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914995" y="5772150"/>
              <a:ext cx="170259" cy="247650"/>
              <a:chOff x="914995" y="5772150"/>
              <a:chExt cx="170259" cy="24765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914995" y="5772150"/>
                <a:ext cx="170259" cy="170259"/>
              </a:xfrm>
              <a:custGeom>
                <a:avLst/>
                <a:gdLst/>
                <a:ahLst/>
                <a:cxnLst/>
                <a:rect l="l" t="t" r="r" b="b"/>
                <a:pathLst>
                  <a:path w="170259" h="170259">
                    <a:moveTo>
                      <a:pt x="46434" y="85130"/>
                    </a:moveTo>
                    <a:cubicBezTo>
                      <a:pt x="46434" y="63759"/>
                      <a:pt x="63759" y="46434"/>
                      <a:pt x="85130" y="46434"/>
                    </a:cubicBezTo>
                    <a:cubicBezTo>
                      <a:pt x="106500" y="46434"/>
                      <a:pt x="123825" y="63759"/>
                      <a:pt x="123825" y="85130"/>
                    </a:cubicBezTo>
                    <a:cubicBezTo>
                      <a:pt x="123825" y="106500"/>
                      <a:pt x="106500" y="123825"/>
                      <a:pt x="85130" y="123825"/>
                    </a:cubicBezTo>
                    <a:lnTo>
                      <a:pt x="69652" y="123825"/>
                    </a:lnTo>
                    <a:lnTo>
                      <a:pt x="69652" y="170259"/>
                    </a:lnTo>
                    <a:lnTo>
                      <a:pt x="85130" y="170259"/>
                    </a:lnTo>
                    <a:cubicBezTo>
                      <a:pt x="132146" y="170259"/>
                      <a:pt x="170259" y="132146"/>
                      <a:pt x="170259" y="85130"/>
                    </a:cubicBezTo>
                    <a:cubicBezTo>
                      <a:pt x="170259" y="38114"/>
                      <a:pt x="132146" y="0"/>
                      <a:pt x="85130" y="0"/>
                    </a:cubicBezTo>
                    <a:cubicBezTo>
                      <a:pt x="38114" y="0"/>
                      <a:pt x="0" y="38114"/>
                      <a:pt x="0" y="85130"/>
                    </a:cubicBezTo>
                    <a:lnTo>
                      <a:pt x="46434" y="8513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84647" y="5973366"/>
                <a:ext cx="46434" cy="46434"/>
              </a:xfrm>
              <a:custGeom>
                <a:avLst/>
                <a:gdLst/>
                <a:ahLst/>
                <a:cxnLst/>
                <a:rect l="l" t="t" r="r" b="b"/>
                <a:pathLst>
                  <a:path w="46434" h="46434">
                    <a:moveTo>
                      <a:pt x="46434" y="0"/>
                    </a:moveTo>
                    <a:lnTo>
                      <a:pt x="0" y="0"/>
                    </a:lnTo>
                    <a:lnTo>
                      <a:pt x="0" y="46434"/>
                    </a:lnTo>
                    <a:lnTo>
                      <a:pt x="46434" y="46434"/>
                    </a:lnTo>
                    <a:lnTo>
                      <a:pt x="4643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261110" y="5804535"/>
              <a:ext cx="780545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这套标准让分类「可解释、可追问」 —— 拜访现场被问到任何一个系统,都能当场给出归类逻辑。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99122" y="6521291"/>
            <a:ext cx="10993756" cy="167640"/>
            <a:chOff x="599122" y="6521291"/>
            <a:chExt cx="10993756" cy="167640"/>
          </a:xfrm>
        </p:grpSpPr>
        <p:sp>
          <p:nvSpPr>
            <p:cNvPr id="54" name="TextBox 54"/>
            <p:cNvSpPr txBox="1"/>
            <p:nvPr/>
          </p:nvSpPr>
          <p:spPr>
            <a:xfrm>
              <a:off x="599122" y="6521291"/>
              <a:ext cx="27139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星巴克中国 ERP 本地化拆分项目 · 凯捷 Capgemini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300740" y="6521291"/>
              <a:ext cx="129213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CONFIDENTIAL · 08 / 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0" grpId="0"/>
      <p:bldP spid="29" grpId="0"/>
      <p:bldP spid="38" grpId="0"/>
      <p:bldP spid="47" grpId="0"/>
      <p:bldP spid="5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81025" y="309562"/>
            <a:ext cx="4939510" cy="590550"/>
            <a:chOff x="581025" y="309562"/>
            <a:chExt cx="4939510" cy="590550"/>
          </a:xfrm>
        </p:grpSpPr>
        <p:sp>
          <p:nvSpPr>
            <p:cNvPr id="5" name="TextBox 5"/>
            <p:cNvSpPr txBox="1"/>
            <p:nvPr/>
          </p:nvSpPr>
          <p:spPr>
            <a:xfrm>
              <a:off x="581025" y="309562"/>
              <a:ext cx="493951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系统解耦路线图 · 系统分类清单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265" y="686752"/>
              <a:ext cx="452756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基于现有架构图的初步归类 —— 拿到 RFI 后出精确版(初判,待校准)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9600" y="952500"/>
            <a:ext cx="3505200" cy="4629150"/>
            <a:chOff x="609600" y="952500"/>
            <a:chExt cx="3505200" cy="4629150"/>
          </a:xfrm>
        </p:grpSpPr>
        <p:sp>
          <p:nvSpPr>
            <p:cNvPr id="8" name="Rectangle 8"/>
            <p:cNvSpPr/>
            <p:nvPr/>
          </p:nvSpPr>
          <p:spPr>
            <a:xfrm>
              <a:off x="609600" y="952500"/>
              <a:ext cx="3505200" cy="4629150"/>
            </a:xfrm>
            <a:prstGeom prst="roundRect">
              <a:avLst>
                <a:gd name="adj" fmla="val 2717"/>
              </a:avLst>
            </a:prstGeom>
            <a:solidFill>
              <a:srgbClr val="FFFFFF"/>
            </a:solidFill>
            <a:ln w="14288">
              <a:solidFill>
                <a:srgbClr val="DDE0E4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609600" y="952500"/>
              <a:ext cx="3505200" cy="590550"/>
            </a:xfrm>
            <a:custGeom>
              <a:avLst/>
              <a:gdLst/>
              <a:ahLst/>
              <a:cxnLst/>
              <a:rect l="l" t="t" r="r" b="b"/>
              <a:pathLst>
                <a:path w="3505200" h="590550">
                  <a:moveTo>
                    <a:pt x="95250" y="0"/>
                  </a:moveTo>
                  <a:lnTo>
                    <a:pt x="3409950" y="0"/>
                  </a:lnTo>
                  <a:cubicBezTo>
                    <a:pt x="3462555" y="0"/>
                    <a:pt x="3505200" y="42645"/>
                    <a:pt x="3505200" y="95250"/>
                  </a:cubicBezTo>
                  <a:lnTo>
                    <a:pt x="3505200" y="590550"/>
                  </a:lnTo>
                  <a:lnTo>
                    <a:pt x="0" y="590550"/>
                  </a:lnTo>
                  <a:lnTo>
                    <a:pt x="0" y="95250"/>
                  </a:lnTo>
                  <a:cubicBezTo>
                    <a:pt x="0" y="42645"/>
                    <a:pt x="42645" y="0"/>
                    <a:pt x="95250" y="0"/>
                  </a:cubicBezTo>
                  <a:close/>
                </a:path>
              </a:pathLst>
            </a:custGeom>
            <a:solidFill>
              <a:srgbClr val="B0392E"/>
            </a:solidFill>
            <a:ln>
              <a:noFill/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854869" y="1123950"/>
              <a:ext cx="250031" cy="266700"/>
              <a:chOff x="854869" y="1123950"/>
              <a:chExt cx="250031" cy="2667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854869" y="1123950"/>
                <a:ext cx="250031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266700">
                    <a:moveTo>
                      <a:pt x="85366" y="14647"/>
                    </a:moveTo>
                    <a:cubicBezTo>
                      <a:pt x="102024" y="31304"/>
                      <a:pt x="104473" y="56790"/>
                      <a:pt x="92713" y="76044"/>
                    </a:cubicBezTo>
                    <a:lnTo>
                      <a:pt x="250031" y="233363"/>
                    </a:lnTo>
                    <a:lnTo>
                      <a:pt x="233362" y="250031"/>
                    </a:lnTo>
                    <a:lnTo>
                      <a:pt x="183356" y="250031"/>
                    </a:lnTo>
                    <a:lnTo>
                      <a:pt x="108347" y="175022"/>
                    </a:lnTo>
                    <a:lnTo>
                      <a:pt x="92713" y="190656"/>
                    </a:lnTo>
                    <a:cubicBezTo>
                      <a:pt x="104473" y="209910"/>
                      <a:pt x="102024" y="235396"/>
                      <a:pt x="85366" y="252053"/>
                    </a:cubicBezTo>
                    <a:cubicBezTo>
                      <a:pt x="75602" y="261818"/>
                      <a:pt x="62804" y="266700"/>
                      <a:pt x="50006" y="266700"/>
                    </a:cubicBezTo>
                    <a:lnTo>
                      <a:pt x="47146" y="266700"/>
                    </a:lnTo>
                    <a:cubicBezTo>
                      <a:pt x="21108" y="266700"/>
                      <a:pt x="0" y="245592"/>
                      <a:pt x="0" y="219554"/>
                    </a:cubicBezTo>
                    <a:cubicBezTo>
                      <a:pt x="0" y="207049"/>
                      <a:pt x="4967" y="195058"/>
                      <a:pt x="13809" y="186217"/>
                    </a:cubicBezTo>
                    <a:lnTo>
                      <a:pt x="66675" y="133350"/>
                    </a:lnTo>
                    <a:lnTo>
                      <a:pt x="13809" y="80484"/>
                    </a:lnTo>
                    <a:cubicBezTo>
                      <a:pt x="4967" y="71642"/>
                      <a:pt x="0" y="59650"/>
                      <a:pt x="0" y="47146"/>
                    </a:cubicBezTo>
                    <a:cubicBezTo>
                      <a:pt x="0" y="21108"/>
                      <a:pt x="21108" y="0"/>
                      <a:pt x="47146" y="0"/>
                    </a:cubicBezTo>
                    <a:lnTo>
                      <a:pt x="50006" y="0"/>
                    </a:lnTo>
                    <a:cubicBezTo>
                      <a:pt x="62804" y="0"/>
                      <a:pt x="75602" y="4882"/>
                      <a:pt x="85366" y="14647"/>
                    </a:cubicBezTo>
                    <a:close/>
                    <a:moveTo>
                      <a:pt x="33338" y="50006"/>
                    </a:moveTo>
                    <a:cubicBezTo>
                      <a:pt x="33338" y="59212"/>
                      <a:pt x="40800" y="66675"/>
                      <a:pt x="50006" y="66675"/>
                    </a:cubicBezTo>
                    <a:cubicBezTo>
                      <a:pt x="59212" y="66675"/>
                      <a:pt x="66675" y="59212"/>
                      <a:pt x="66675" y="50006"/>
                    </a:cubicBezTo>
                    <a:cubicBezTo>
                      <a:pt x="66675" y="40800"/>
                      <a:pt x="59212" y="33338"/>
                      <a:pt x="50006" y="33338"/>
                    </a:cubicBezTo>
                    <a:cubicBezTo>
                      <a:pt x="40800" y="33338"/>
                      <a:pt x="33338" y="40800"/>
                      <a:pt x="33338" y="50006"/>
                    </a:cubicBezTo>
                    <a:close/>
                    <a:moveTo>
                      <a:pt x="50006" y="200025"/>
                    </a:moveTo>
                    <a:cubicBezTo>
                      <a:pt x="40800" y="200025"/>
                      <a:pt x="33338" y="207488"/>
                      <a:pt x="33338" y="216694"/>
                    </a:cubicBezTo>
                    <a:cubicBezTo>
                      <a:pt x="33338" y="225900"/>
                      <a:pt x="40800" y="233363"/>
                      <a:pt x="50006" y="233363"/>
                    </a:cubicBezTo>
                    <a:cubicBezTo>
                      <a:pt x="59212" y="233363"/>
                      <a:pt x="66675" y="225900"/>
                      <a:pt x="66675" y="216694"/>
                    </a:cubicBezTo>
                    <a:cubicBezTo>
                      <a:pt x="66675" y="207488"/>
                      <a:pt x="59212" y="200025"/>
                      <a:pt x="50006" y="200025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988219" y="1140619"/>
                <a:ext cx="116681" cy="91678"/>
              </a:xfrm>
              <a:custGeom>
                <a:avLst/>
                <a:gdLst/>
                <a:ahLst/>
                <a:cxnLst/>
                <a:rect l="l" t="t" r="r" b="b"/>
                <a:pathLst>
                  <a:path w="116681" h="91678">
                    <a:moveTo>
                      <a:pt x="50006" y="0"/>
                    </a:moveTo>
                    <a:lnTo>
                      <a:pt x="0" y="50006"/>
                    </a:lnTo>
                    <a:lnTo>
                      <a:pt x="41672" y="91678"/>
                    </a:lnTo>
                    <a:lnTo>
                      <a:pt x="116681" y="16669"/>
                    </a:lnTo>
                    <a:lnTo>
                      <a:pt x="100012" y="0"/>
                    </a:lnTo>
                    <a:lnTo>
                      <a:pt x="5000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1200150" y="1171575"/>
              <a:ext cx="187833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路径 A · 物理拆分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25818" y="1704499"/>
              <a:ext cx="214045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B0392E"/>
                  </a:solidFill>
                  <a:latin typeface="Arial"/>
                  <a:ea typeface="Microsoft YaHei"/>
                  <a:cs typeface="Arial"/>
                </a:rPr>
                <a:t>必须真拆 · 重建中国区独立实例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57250" y="2076450"/>
              <a:ext cx="76200" cy="76200"/>
            </a:xfrm>
            <a:prstGeom prst="ellipse">
              <a:avLst/>
            </a:prstGeom>
            <a:solidFill>
              <a:srgbClr val="B0392E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33462" y="2040731"/>
              <a:ext cx="158948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Oracle EBS 财务核心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5368" y="2266474"/>
              <a:ext cx="178339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GL / AP / AR / FA / PA / CE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857250" y="2714625"/>
              <a:ext cx="76200" cy="76200"/>
            </a:xfrm>
            <a:prstGeom prst="ellipse">
              <a:avLst/>
            </a:prstGeom>
            <a:solidFill>
              <a:srgbClr val="B0392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33462" y="2678906"/>
              <a:ext cx="88296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Oracle HUB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5368" y="2904649"/>
              <a:ext cx="218922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主数据分发 Item/Supplier/Store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57250" y="3352800"/>
              <a:ext cx="76200" cy="76200"/>
            </a:xfrm>
            <a:prstGeom prst="ellipse">
              <a:avLst/>
            </a:prstGeom>
            <a:solidFill>
              <a:srgbClr val="B0392E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33462" y="3317081"/>
              <a:ext cx="71044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Hyperion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35368" y="3542824"/>
              <a:ext cx="201834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报表合并,建本地独立 Instance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57250" y="3990975"/>
              <a:ext cx="76200" cy="76200"/>
            </a:xfrm>
            <a:prstGeom prst="ellipse">
              <a:avLst/>
            </a:prstGeom>
            <a:solidFill>
              <a:srgbClr val="B0392E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33462" y="3955256"/>
              <a:ext cx="62007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Anaplan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5368" y="4180999"/>
              <a:ext cx="13846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全面预算,本地化承接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857250" y="4629150"/>
              <a:ext cx="76200" cy="76200"/>
            </a:xfrm>
            <a:prstGeom prst="ellipse">
              <a:avLst/>
            </a:prstGeom>
            <a:solidFill>
              <a:srgbClr val="B0392E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33462" y="4593431"/>
              <a:ext cx="184415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Oracle MFG / OPM / QA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35368" y="481917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烘焙制造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343400" y="952500"/>
            <a:ext cx="3505200" cy="4629150"/>
            <a:chOff x="4343400" y="952500"/>
            <a:chExt cx="3505200" cy="4629150"/>
          </a:xfrm>
        </p:grpSpPr>
        <p:sp>
          <p:nvSpPr>
            <p:cNvPr id="31" name="Rectangle 31"/>
            <p:cNvSpPr/>
            <p:nvPr/>
          </p:nvSpPr>
          <p:spPr>
            <a:xfrm>
              <a:off x="4343400" y="952500"/>
              <a:ext cx="3505200" cy="4629150"/>
            </a:xfrm>
            <a:prstGeom prst="roundRect">
              <a:avLst>
                <a:gd name="adj" fmla="val 2717"/>
              </a:avLst>
            </a:prstGeom>
            <a:solidFill>
              <a:srgbClr val="FFFFFF"/>
            </a:solidFill>
            <a:ln w="14288">
              <a:solidFill>
                <a:srgbClr val="DDE0E4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4343400" y="952500"/>
              <a:ext cx="3505200" cy="590550"/>
            </a:xfrm>
            <a:custGeom>
              <a:avLst/>
              <a:gdLst/>
              <a:ahLst/>
              <a:cxnLst/>
              <a:rect l="l" t="t" r="r" b="b"/>
              <a:pathLst>
                <a:path w="3505200" h="590550">
                  <a:moveTo>
                    <a:pt x="95250" y="0"/>
                  </a:moveTo>
                  <a:lnTo>
                    <a:pt x="3409950" y="0"/>
                  </a:lnTo>
                  <a:cubicBezTo>
                    <a:pt x="3462555" y="0"/>
                    <a:pt x="3505200" y="42645"/>
                    <a:pt x="3505200" y="95250"/>
                  </a:cubicBezTo>
                  <a:lnTo>
                    <a:pt x="3505200" y="590550"/>
                  </a:lnTo>
                  <a:lnTo>
                    <a:pt x="0" y="590550"/>
                  </a:lnTo>
                  <a:lnTo>
                    <a:pt x="0" y="95250"/>
                  </a:lnTo>
                  <a:cubicBezTo>
                    <a:pt x="0" y="42645"/>
                    <a:pt x="42645" y="0"/>
                    <a:pt x="95250" y="0"/>
                  </a:cubicBezTo>
                  <a:close/>
                </a:path>
              </a:pathLst>
            </a:custGeom>
            <a:solidFill>
              <a:srgbClr val="1E6B4F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4572000" y="1173956"/>
              <a:ext cx="266700" cy="166688"/>
            </a:xfrm>
            <a:custGeom>
              <a:avLst/>
              <a:gdLst/>
              <a:ahLst/>
              <a:cxnLst/>
              <a:rect l="l" t="t" r="r" b="b"/>
              <a:pathLst>
                <a:path w="266700" h="166688">
                  <a:moveTo>
                    <a:pt x="100013" y="100012"/>
                  </a:moveTo>
                  <a:lnTo>
                    <a:pt x="100013" y="166688"/>
                  </a:lnTo>
                  <a:lnTo>
                    <a:pt x="83344" y="166688"/>
                  </a:lnTo>
                  <a:lnTo>
                    <a:pt x="0" y="83344"/>
                  </a:lnTo>
                  <a:lnTo>
                    <a:pt x="83344" y="0"/>
                  </a:lnTo>
                  <a:lnTo>
                    <a:pt x="100013" y="0"/>
                  </a:lnTo>
                  <a:lnTo>
                    <a:pt x="100013" y="66675"/>
                  </a:lnTo>
                  <a:lnTo>
                    <a:pt x="166688" y="66675"/>
                  </a:lnTo>
                  <a:lnTo>
                    <a:pt x="166688" y="0"/>
                  </a:lnTo>
                  <a:lnTo>
                    <a:pt x="183356" y="0"/>
                  </a:lnTo>
                  <a:lnTo>
                    <a:pt x="266700" y="83344"/>
                  </a:lnTo>
                  <a:lnTo>
                    <a:pt x="183356" y="166688"/>
                  </a:lnTo>
                  <a:lnTo>
                    <a:pt x="166688" y="166688"/>
                  </a:lnTo>
                  <a:lnTo>
                    <a:pt x="166688" y="100012"/>
                  </a:lnTo>
                  <a:lnTo>
                    <a:pt x="100013" y="1000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933950" y="1171575"/>
              <a:ext cx="187833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路径 B · 逻辑迁移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59618" y="1704499"/>
              <a:ext cx="19909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E6B4F"/>
                  </a:solidFill>
                  <a:latin typeface="Arial"/>
                  <a:ea typeface="Microsoft YaHei"/>
                  <a:cs typeface="Arial"/>
                </a:rPr>
                <a:t>只换归属与连接 · 接口重指向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4591050" y="2038350"/>
              <a:ext cx="76200" cy="76200"/>
            </a:xfrm>
            <a:prstGeom prst="ellipse">
              <a:avLst/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767262" y="2002631"/>
              <a:ext cx="233707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S2P(供应商准入 / 合同 / 付款)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4591050" y="2457450"/>
              <a:ext cx="76200" cy="76200"/>
            </a:xfrm>
            <a:prstGeom prst="ellipse">
              <a:avLst/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767262" y="2421731"/>
              <a:ext cx="194274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3PL WMS(收货 GR / 拣货)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4591050" y="2876550"/>
              <a:ext cx="76200" cy="76200"/>
            </a:xfrm>
            <a:prstGeom prst="ellipse">
              <a:avLst/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767262" y="2840831"/>
              <a:ext cx="18277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NGBOH · Control Tower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4591050" y="3295650"/>
              <a:ext cx="76200" cy="76200"/>
            </a:xfrm>
            <a:prstGeom prst="ellipse">
              <a:avLst/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767262" y="3259931"/>
              <a:ext cx="148268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NGT&amp;E · SUN · SIMS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4591050" y="3714750"/>
              <a:ext cx="76200" cy="76200"/>
            </a:xfrm>
            <a:prstGeom prst="ellipse">
              <a:avLst/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4767262" y="3679031"/>
              <a:ext cx="24356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BIP · CDP · TMS · BPM · Vertex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4591050" y="4133850"/>
              <a:ext cx="76200" cy="76200"/>
            </a:xfrm>
            <a:prstGeom prst="ellipse">
              <a:avLst/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4767262" y="4098131"/>
              <a:ext cx="230421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Blackline · Citi Bank 银企接口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4572000" y="4552950"/>
              <a:ext cx="3048000" cy="819150"/>
            </a:xfrm>
            <a:prstGeom prst="roundRect">
              <a:avLst>
                <a:gd name="adj" fmla="val 9302"/>
              </a:avLst>
            </a:prstGeom>
            <a:solidFill>
              <a:srgbClr val="1E6B4F">
                <a:alpha val="8000"/>
              </a:srgbClr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4749165" y="4744402"/>
              <a:ext cx="14758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E6B4F"/>
                  </a:solidFill>
                  <a:latin typeface="Arial"/>
                  <a:ea typeface="Microsoft YaHei"/>
                  <a:cs typeface="Arial"/>
                </a:rPr>
                <a:t>大部分周边系统在此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750118" y="5000149"/>
              <a:ext cx="18901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本体不重建,成本低、可分批,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750118" y="5190649"/>
              <a:ext cx="10215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用过渡层兜底。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077200" y="952500"/>
            <a:ext cx="3505200" cy="4629150"/>
            <a:chOff x="8077200" y="952500"/>
            <a:chExt cx="3505200" cy="4629150"/>
          </a:xfrm>
        </p:grpSpPr>
        <p:sp>
          <p:nvSpPr>
            <p:cNvPr id="53" name="Rectangle 53"/>
            <p:cNvSpPr/>
            <p:nvPr/>
          </p:nvSpPr>
          <p:spPr>
            <a:xfrm>
              <a:off x="8077200" y="952500"/>
              <a:ext cx="3505200" cy="4629150"/>
            </a:xfrm>
            <a:prstGeom prst="roundRect">
              <a:avLst>
                <a:gd name="adj" fmla="val 2717"/>
              </a:avLst>
            </a:prstGeom>
            <a:solidFill>
              <a:srgbClr val="FFFFFF"/>
            </a:solidFill>
            <a:ln w="14288">
              <a:solidFill>
                <a:srgbClr val="DDE0E4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8077200" y="952500"/>
              <a:ext cx="3505200" cy="590550"/>
            </a:xfrm>
            <a:custGeom>
              <a:avLst/>
              <a:gdLst/>
              <a:ahLst/>
              <a:cxnLst/>
              <a:rect l="l" t="t" r="r" b="b"/>
              <a:pathLst>
                <a:path w="3505200" h="590550">
                  <a:moveTo>
                    <a:pt x="95250" y="0"/>
                  </a:moveTo>
                  <a:lnTo>
                    <a:pt x="3409950" y="0"/>
                  </a:lnTo>
                  <a:cubicBezTo>
                    <a:pt x="3462555" y="0"/>
                    <a:pt x="3505200" y="42645"/>
                    <a:pt x="3505200" y="95250"/>
                  </a:cubicBezTo>
                  <a:lnTo>
                    <a:pt x="3505200" y="590550"/>
                  </a:lnTo>
                  <a:lnTo>
                    <a:pt x="0" y="590550"/>
                  </a:lnTo>
                  <a:lnTo>
                    <a:pt x="0" y="95250"/>
                  </a:lnTo>
                  <a:cubicBezTo>
                    <a:pt x="0" y="42645"/>
                    <a:pt x="42645" y="0"/>
                    <a:pt x="95250" y="0"/>
                  </a:cubicBezTo>
                  <a:close/>
                </a:path>
              </a:pathLst>
            </a:custGeom>
            <a:solidFill>
              <a:srgbClr val="5B636E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8339138" y="1123950"/>
              <a:ext cx="200025" cy="266700"/>
            </a:xfrm>
            <a:custGeom>
              <a:avLst/>
              <a:gdLst/>
              <a:ahLst/>
              <a:cxnLst/>
              <a:rect l="l" t="t" r="r" b="b"/>
              <a:pathLst>
                <a:path w="200025" h="266700">
                  <a:moveTo>
                    <a:pt x="33338" y="100012"/>
                  </a:moveTo>
                  <a:lnTo>
                    <a:pt x="33338" y="66675"/>
                  </a:lnTo>
                  <a:cubicBezTo>
                    <a:pt x="33338" y="29851"/>
                    <a:pt x="63189" y="0"/>
                    <a:pt x="100012" y="0"/>
                  </a:cubicBezTo>
                  <a:cubicBezTo>
                    <a:pt x="136835" y="0"/>
                    <a:pt x="166688" y="29851"/>
                    <a:pt x="166688" y="66675"/>
                  </a:cubicBezTo>
                  <a:lnTo>
                    <a:pt x="166688" y="100012"/>
                  </a:lnTo>
                  <a:lnTo>
                    <a:pt x="200025" y="100012"/>
                  </a:lnTo>
                  <a:lnTo>
                    <a:pt x="200025" y="266700"/>
                  </a:lnTo>
                  <a:lnTo>
                    <a:pt x="0" y="266700"/>
                  </a:lnTo>
                  <a:lnTo>
                    <a:pt x="0" y="100012"/>
                  </a:lnTo>
                  <a:lnTo>
                    <a:pt x="33338" y="100012"/>
                  </a:lnTo>
                  <a:close/>
                  <a:moveTo>
                    <a:pt x="66675" y="66675"/>
                  </a:moveTo>
                  <a:cubicBezTo>
                    <a:pt x="66675" y="48263"/>
                    <a:pt x="81601" y="33338"/>
                    <a:pt x="100012" y="33338"/>
                  </a:cubicBezTo>
                  <a:cubicBezTo>
                    <a:pt x="118424" y="33338"/>
                    <a:pt x="133350" y="48263"/>
                    <a:pt x="133350" y="66675"/>
                  </a:cubicBezTo>
                  <a:lnTo>
                    <a:pt x="133350" y="100012"/>
                  </a:lnTo>
                  <a:lnTo>
                    <a:pt x="66675" y="100012"/>
                  </a:lnTo>
                  <a:lnTo>
                    <a:pt x="66675" y="66675"/>
                  </a:lnTo>
                  <a:close/>
                  <a:moveTo>
                    <a:pt x="83344" y="216694"/>
                  </a:moveTo>
                  <a:lnTo>
                    <a:pt x="83344" y="150019"/>
                  </a:lnTo>
                  <a:lnTo>
                    <a:pt x="116681" y="150019"/>
                  </a:lnTo>
                  <a:lnTo>
                    <a:pt x="116681" y="216694"/>
                  </a:lnTo>
                  <a:lnTo>
                    <a:pt x="83344" y="21669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667750" y="1171575"/>
              <a:ext cx="191283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范围外 · 本次不动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293418" y="1704499"/>
              <a:ext cx="184141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明确边界 · 不纳入本次切割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8324850" y="2076450"/>
              <a:ext cx="76200" cy="76200"/>
            </a:xfrm>
            <a:prstGeom prst="ellipse">
              <a:avLst/>
            </a:prstGeom>
            <a:solidFill>
              <a:srgbClr val="5B636E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501062" y="2040731"/>
              <a:ext cx="685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租赁系统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502968" y="2266474"/>
              <a:ext cx="10215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本次不纳入切割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8324850" y="2781300"/>
              <a:ext cx="76200" cy="76200"/>
            </a:xfrm>
            <a:prstGeom prst="ellipse">
              <a:avLst/>
            </a:prstGeom>
            <a:solidFill>
              <a:srgbClr val="5B636E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501062" y="2745581"/>
              <a:ext cx="103905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BOH 微软系统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502968" y="2971324"/>
              <a:ext cx="10927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2028 年另行更换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8324850" y="3486150"/>
              <a:ext cx="76200" cy="76200"/>
            </a:xfrm>
            <a:prstGeom prst="ellipse">
              <a:avLst/>
            </a:prstGeom>
            <a:solidFill>
              <a:srgbClr val="5B636E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501062" y="3450431"/>
              <a:ext cx="168806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Rainbow 销售预测算法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502968" y="3676174"/>
              <a:ext cx="16125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Control Tower 团队维护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8324850" y="4191000"/>
              <a:ext cx="76200" cy="76200"/>
            </a:xfrm>
            <a:prstGeom prst="ellipse">
              <a:avLst/>
            </a:prstGeom>
            <a:solidFill>
              <a:srgbClr val="5B636E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8501062" y="4155281"/>
              <a:ext cx="144982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Oracle Global 系统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502968" y="4381024"/>
              <a:ext cx="14487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交割后两年内继续使用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8305800" y="4819650"/>
              <a:ext cx="3048000" cy="552450"/>
            </a:xfrm>
            <a:prstGeom prst="roundRect">
              <a:avLst>
                <a:gd name="adj" fmla="val 13793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482965" y="5030152"/>
              <a:ext cx="26271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主动讲清不碰什么 = 显专业、不贪大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609600" y="5715000"/>
            <a:ext cx="10972800" cy="419100"/>
            <a:chOff x="609600" y="5715000"/>
            <a:chExt cx="10972800" cy="419100"/>
          </a:xfrm>
        </p:grpSpPr>
        <p:sp>
          <p:nvSpPr>
            <p:cNvPr id="73" name="Rectangle 73"/>
            <p:cNvSpPr/>
            <p:nvPr/>
          </p:nvSpPr>
          <p:spPr>
            <a:xfrm>
              <a:off x="609600" y="5715000"/>
              <a:ext cx="10972800" cy="419100"/>
            </a:xfrm>
            <a:prstGeom prst="roundRect">
              <a:avLst>
                <a:gd name="adj" fmla="val 13636"/>
              </a:avLst>
            </a:prstGeom>
            <a:solidFill>
              <a:srgbClr val="C8862E">
                <a:alpha val="12000"/>
              </a:srgbClr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847725" y="5810250"/>
              <a:ext cx="171451" cy="228600"/>
              <a:chOff x="847725" y="5810250"/>
              <a:chExt cx="171451" cy="2286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847725" y="5810250"/>
                <a:ext cx="17145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28600">
                    <a:moveTo>
                      <a:pt x="71438" y="0"/>
                    </a:moveTo>
                    <a:lnTo>
                      <a:pt x="0" y="0"/>
                    </a:lnTo>
                    <a:lnTo>
                      <a:pt x="0" y="228600"/>
                    </a:lnTo>
                    <a:lnTo>
                      <a:pt x="171450" y="228600"/>
                    </a:lnTo>
                    <a:lnTo>
                      <a:pt x="171450" y="100012"/>
                    </a:lnTo>
                    <a:lnTo>
                      <a:pt x="71438" y="100012"/>
                    </a:lnTo>
                    <a:lnTo>
                      <a:pt x="71438" y="0"/>
                    </a:ln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947738" y="5810250"/>
                <a:ext cx="71438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71438">
                    <a:moveTo>
                      <a:pt x="0" y="0"/>
                    </a:moveTo>
                    <a:lnTo>
                      <a:pt x="0" y="71438"/>
                    </a:lnTo>
                    <a:lnTo>
                      <a:pt x="71438" y="714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862E"/>
              </a:solidFill>
              <a:ln>
                <a:noFill/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1148715" y="5858828"/>
              <a:ext cx="83675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9A6A22"/>
                  </a:solidFill>
                  <a:latin typeface="Arial"/>
                  <a:ea typeface="Microsoft YaHei"/>
                  <a:cs typeface="Arial"/>
                </a:rPr>
                <a:t>注:本表为基于架构图的初判,部分系统归类需 RFI 文档与现场确认 —— 这正是下一步「接口可拆解性评估」要交付的。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99122" y="6521291"/>
            <a:ext cx="10993756" cy="167640"/>
            <a:chOff x="599122" y="6521291"/>
            <a:chExt cx="10993756" cy="167640"/>
          </a:xfrm>
        </p:grpSpPr>
        <p:sp>
          <p:nvSpPr>
            <p:cNvPr id="79" name="TextBox 79"/>
            <p:cNvSpPr txBox="1"/>
            <p:nvPr/>
          </p:nvSpPr>
          <p:spPr>
            <a:xfrm>
              <a:off x="599122" y="6521291"/>
              <a:ext cx="27139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星巴克中国 ERP 本地化拆分项目 · 凯捷 Capgemini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300740" y="6521291"/>
              <a:ext cx="129213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CONFIDENTIAL · 09 / 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5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52" grpId="0"/>
      <p:bldP spid="72" grpId="0"/>
      <p:bldP spid="7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81025" y="309562"/>
            <a:ext cx="6164413" cy="590550"/>
            <a:chOff x="581025" y="309562"/>
            <a:chExt cx="6164413" cy="590550"/>
          </a:xfrm>
        </p:grpSpPr>
        <p:sp>
          <p:nvSpPr>
            <p:cNvPr id="5" name="TextBox 5"/>
            <p:cNvSpPr txBox="1"/>
            <p:nvPr/>
          </p:nvSpPr>
          <p:spPr>
            <a:xfrm>
              <a:off x="581025" y="309562"/>
              <a:ext cx="616441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过渡层设计 —— 让前端门店业务「无感」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265" y="686752"/>
              <a:ext cx="333141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业务连续性优先:在高速行驶中换引擎的关键缓冲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952500"/>
            <a:ext cx="10972800" cy="476250"/>
            <a:chOff x="609600" y="952500"/>
            <a:chExt cx="10972800" cy="476250"/>
          </a:xfrm>
        </p:grpSpPr>
        <p:sp>
          <p:nvSpPr>
            <p:cNvPr id="8" name="Rectangle 8"/>
            <p:cNvSpPr/>
            <p:nvPr/>
          </p:nvSpPr>
          <p:spPr>
            <a:xfrm>
              <a:off x="609600" y="952500"/>
              <a:ext cx="10972800" cy="47625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952500"/>
              <a:ext cx="57150" cy="47625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0108" y="1110139"/>
              <a:ext cx="405041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后端引擎「分批换」,前端门店</a:t>
              </a:r>
              <a:r>
                <a:rPr lang="zh-CN" sz="127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一天都不用停</a:t>
              </a:r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9600" y="1619250"/>
            <a:ext cx="2857500" cy="3733800"/>
            <a:chOff x="609600" y="1619250"/>
            <a:chExt cx="2857500" cy="3733800"/>
          </a:xfrm>
        </p:grpSpPr>
        <p:sp>
          <p:nvSpPr>
            <p:cNvPr id="12" name="Rectangle 12"/>
            <p:cNvSpPr/>
            <p:nvPr/>
          </p:nvSpPr>
          <p:spPr>
            <a:xfrm>
              <a:off x="609600" y="1619250"/>
              <a:ext cx="2857500" cy="3733800"/>
            </a:xfrm>
            <a:prstGeom prst="roundRect">
              <a:avLst>
                <a:gd name="adj" fmla="val 3333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84600" y="1816418"/>
              <a:ext cx="130749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前端 / 门店侧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03615" y="2085499"/>
              <a:ext cx="166947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按原协议收发,业务不感知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76300" y="2400300"/>
              <a:ext cx="2324100" cy="4572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14288">
              <a:solidFill>
                <a:srgbClr val="1A3A5C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864480" y="2564606"/>
              <a:ext cx="34774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POS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76300" y="2952750"/>
              <a:ext cx="2324100" cy="4572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14288">
              <a:solidFill>
                <a:srgbClr val="1A3A5C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769593" y="3117056"/>
              <a:ext cx="5375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NGBOH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76300" y="3505200"/>
              <a:ext cx="2324100" cy="4572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14288">
              <a:solidFill>
                <a:srgbClr val="1A3A5C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679019" y="3669506"/>
              <a:ext cx="71866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3PL WMS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76300" y="4057650"/>
              <a:ext cx="2324100" cy="4572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14288">
              <a:solidFill>
                <a:srgbClr val="1A3A5C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579819" y="4221956"/>
              <a:ext cx="91706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天猫 / 电商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76300" y="4610100"/>
              <a:ext cx="2324100" cy="4572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14288">
              <a:solidFill>
                <a:srgbClr val="1A3A5C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881732" y="4774406"/>
              <a:ext cx="31323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S2P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3543300" y="3276600"/>
            <a:ext cx="266700" cy="266700"/>
            <a:chOff x="3543300" y="3276600"/>
            <a:chExt cx="266700" cy="266700"/>
          </a:xfrm>
        </p:grpSpPr>
        <p:sp>
          <p:nvSpPr>
            <p:cNvPr id="26" name="Polygon 26"/>
            <p:cNvSpPr/>
            <p:nvPr/>
          </p:nvSpPr>
          <p:spPr>
            <a:xfrm>
              <a:off x="3543300" y="32766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0" y="133350"/>
                  </a:moveTo>
                  <a:lnTo>
                    <a:pt x="266700" y="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C8862E"/>
            </a:solidFill>
            <a:ln>
              <a:noFill/>
            </a:ln>
          </p:spPr>
        </p:sp>
      </p:grpSp>
      <p:grpSp>
        <p:nvGrpSpPr>
          <p:cNvPr id="43" name="Group 43"/>
          <p:cNvGrpSpPr/>
          <p:nvPr/>
        </p:nvGrpSpPr>
        <p:grpSpPr>
          <a:xfrm>
            <a:off x="3924300" y="1619250"/>
            <a:ext cx="4267200" cy="3733800"/>
            <a:chOff x="3924300" y="1619250"/>
            <a:chExt cx="4267200" cy="3733800"/>
          </a:xfrm>
        </p:grpSpPr>
        <p:sp>
          <p:nvSpPr>
            <p:cNvPr id="28" name="Rectangle 28"/>
            <p:cNvSpPr/>
            <p:nvPr/>
          </p:nvSpPr>
          <p:spPr>
            <a:xfrm>
              <a:off x="3924300" y="1619250"/>
              <a:ext cx="4267200" cy="3733800"/>
            </a:xfrm>
            <a:prstGeom prst="roundRect">
              <a:avLst>
                <a:gd name="adj" fmla="val 2551"/>
              </a:avLst>
            </a:prstGeom>
            <a:solidFill>
              <a:srgbClr val="C8862E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4780359" y="1809750"/>
              <a:ext cx="250031" cy="285750"/>
              <a:chOff x="4780359" y="1809750"/>
              <a:chExt cx="250031" cy="2857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4780359" y="1809750"/>
                <a:ext cx="25003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142875">
                    <a:moveTo>
                      <a:pt x="0" y="89297"/>
                    </a:moveTo>
                    <a:lnTo>
                      <a:pt x="0" y="53578"/>
                    </a:lnTo>
                    <a:lnTo>
                      <a:pt x="125016" y="0"/>
                    </a:lnTo>
                    <a:lnTo>
                      <a:pt x="250031" y="53578"/>
                    </a:lnTo>
                    <a:lnTo>
                      <a:pt x="250031" y="89297"/>
                    </a:lnTo>
                    <a:lnTo>
                      <a:pt x="125016" y="142875"/>
                    </a:lnTo>
                    <a:lnTo>
                      <a:pt x="0" y="8929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4780359" y="2006203"/>
                <a:ext cx="250031" cy="89297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89297">
                    <a:moveTo>
                      <a:pt x="125016" y="89297"/>
                    </a:moveTo>
                    <a:lnTo>
                      <a:pt x="0" y="35719"/>
                    </a:lnTo>
                    <a:lnTo>
                      <a:pt x="0" y="0"/>
                    </a:lnTo>
                    <a:lnTo>
                      <a:pt x="125016" y="53578"/>
                    </a:lnTo>
                    <a:lnTo>
                      <a:pt x="250031" y="0"/>
                    </a:lnTo>
                    <a:lnTo>
                      <a:pt x="250031" y="35719"/>
                    </a:lnTo>
                    <a:lnTo>
                      <a:pt x="125016" y="8929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780359" y="1934766"/>
                <a:ext cx="250031" cy="89297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89297">
                    <a:moveTo>
                      <a:pt x="0" y="35719"/>
                    </a:moveTo>
                    <a:lnTo>
                      <a:pt x="125016" y="89297"/>
                    </a:lnTo>
                    <a:lnTo>
                      <a:pt x="250031" y="35719"/>
                    </a:lnTo>
                    <a:lnTo>
                      <a:pt x="250031" y="0"/>
                    </a:lnTo>
                    <a:lnTo>
                      <a:pt x="125016" y="53578"/>
                    </a:lnTo>
                    <a:lnTo>
                      <a:pt x="0" y="0"/>
                    </a:lnTo>
                    <a:lnTo>
                      <a:pt x="0" y="35719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4974967" y="1857375"/>
              <a:ext cx="216586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过渡层(缓冲 / 转换)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191000" y="2324100"/>
              <a:ext cx="37338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403408" y="2529364"/>
              <a:ext cx="8144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接口缓冲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406265" y="2839402"/>
              <a:ext cx="317806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前端按原协议收发,过渡层做格式与路由转换。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191000" y="3314700"/>
              <a:ext cx="37338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403408" y="3519964"/>
              <a:ext cx="10100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主数据双写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406265" y="3830002"/>
              <a:ext cx="28636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新旧实例同步,HUB 切换期数据保持一致。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191000" y="4305300"/>
              <a:ext cx="37338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403408" y="4510564"/>
              <a:ext cx="8144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路由开关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406265" y="4820602"/>
              <a:ext cx="35077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接口逐批「指向北美 → 指向本地」,可灰度可回滚。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8267700" y="3276600"/>
            <a:ext cx="266700" cy="266700"/>
            <a:chOff x="8267700" y="3276600"/>
            <a:chExt cx="266700" cy="266700"/>
          </a:xfrm>
        </p:grpSpPr>
        <p:sp>
          <p:nvSpPr>
            <p:cNvPr id="44" name="Polygon 44"/>
            <p:cNvSpPr/>
            <p:nvPr/>
          </p:nvSpPr>
          <p:spPr>
            <a:xfrm>
              <a:off x="8267700" y="32766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0" y="133350"/>
                  </a:moveTo>
                  <a:lnTo>
                    <a:pt x="266700" y="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C8862E"/>
            </a:solidFill>
            <a:ln>
              <a:noFill/>
            </a:ln>
          </p:spPr>
        </p:sp>
      </p:grpSp>
      <p:grpSp>
        <p:nvGrpSpPr>
          <p:cNvPr id="58" name="Group 58"/>
          <p:cNvGrpSpPr/>
          <p:nvPr/>
        </p:nvGrpSpPr>
        <p:grpSpPr>
          <a:xfrm>
            <a:off x="8648700" y="1619250"/>
            <a:ext cx="2933700" cy="3733800"/>
            <a:chOff x="8648700" y="1619250"/>
            <a:chExt cx="2933700" cy="3733800"/>
          </a:xfrm>
        </p:grpSpPr>
        <p:sp>
          <p:nvSpPr>
            <p:cNvPr id="46" name="Rectangle 46"/>
            <p:cNvSpPr/>
            <p:nvPr/>
          </p:nvSpPr>
          <p:spPr>
            <a:xfrm>
              <a:off x="8648700" y="1619250"/>
              <a:ext cx="2933700" cy="3733800"/>
            </a:xfrm>
            <a:prstGeom prst="roundRect">
              <a:avLst>
                <a:gd name="adj" fmla="val 3247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451449" y="1816418"/>
              <a:ext cx="13282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后端 ERP 切换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462373" y="2085499"/>
              <a:ext cx="130635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引擎在后端分批替换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8915400" y="2438400"/>
              <a:ext cx="2400300" cy="114300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9050">
              <a:solidFill>
                <a:srgbClr val="B0392E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359420" y="2697956"/>
              <a:ext cx="15122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B0392E"/>
                  </a:solidFill>
                  <a:latin typeface="Arial"/>
                  <a:ea typeface="Microsoft YaHei"/>
                  <a:cs typeface="Arial"/>
                </a:rPr>
                <a:t>旧 · 共用 Instance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703498" y="2972752"/>
              <a:ext cx="82410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Oracle EBS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423213" y="3228499"/>
              <a:ext cx="13846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与北美连体,逐步退出</a:t>
              </a:r>
            </a:p>
          </p:txBody>
        </p:sp>
        <p:sp>
          <p:nvSpPr>
            <p:cNvPr id="53" name="Polygon 53"/>
            <p:cNvSpPr/>
            <p:nvPr/>
          </p:nvSpPr>
          <p:spPr>
            <a:xfrm>
              <a:off x="9982200" y="3695700"/>
              <a:ext cx="266700" cy="133350"/>
            </a:xfrm>
            <a:custGeom>
              <a:avLst/>
              <a:gdLst/>
              <a:ahLst/>
              <a:cxnLst/>
              <a:rect l="l" t="t" r="r" b="b"/>
              <a:pathLst>
                <a:path w="266700" h="133350">
                  <a:moveTo>
                    <a:pt x="133350" y="0"/>
                  </a:moveTo>
                  <a:lnTo>
                    <a:pt x="0" y="133350"/>
                  </a:lnTo>
                  <a:lnTo>
                    <a:pt x="266700" y="133350"/>
                  </a:lnTo>
                  <a:close/>
                </a:path>
              </a:pathLst>
            </a:custGeom>
            <a:solidFill>
              <a:srgbClr val="C8862E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8915400" y="3943350"/>
              <a:ext cx="2400300" cy="114300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9050">
              <a:solidFill>
                <a:srgbClr val="1E6B4F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100637" y="4202906"/>
              <a:ext cx="20298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E6B4F"/>
                  </a:solidFill>
                  <a:latin typeface="Arial"/>
                  <a:ea typeface="Microsoft YaHei"/>
                  <a:cs typeface="Arial"/>
                </a:rPr>
                <a:t>新 · 中国区独立 Instance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446633" y="4477702"/>
              <a:ext cx="13378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重建配置,独立运行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391174" y="4733449"/>
              <a:ext cx="14487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能独立行军的技术底座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09600" y="5543550"/>
            <a:ext cx="10972800" cy="590550"/>
            <a:chOff x="609600" y="5543550"/>
            <a:chExt cx="10972800" cy="590550"/>
          </a:xfrm>
        </p:grpSpPr>
        <p:sp>
          <p:nvSpPr>
            <p:cNvPr id="59" name="Rectangle 59"/>
            <p:cNvSpPr/>
            <p:nvPr/>
          </p:nvSpPr>
          <p:spPr>
            <a:xfrm>
              <a:off x="609600" y="5543550"/>
              <a:ext cx="10972800" cy="59055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60" name="Freeform 60"/>
            <p:cNvSpPr/>
            <p:nvPr/>
          </p:nvSpPr>
          <p:spPr>
            <a:xfrm>
              <a:off x="892969" y="5715000"/>
              <a:ext cx="233362" cy="266700"/>
            </a:xfrm>
            <a:custGeom>
              <a:avLst/>
              <a:gdLst/>
              <a:ahLst/>
              <a:cxnLst/>
              <a:rect l="l" t="t" r="r" b="b"/>
              <a:pathLst>
                <a:path w="233362" h="266700">
                  <a:moveTo>
                    <a:pt x="116681" y="266700"/>
                  </a:moveTo>
                  <a:lnTo>
                    <a:pt x="55842" y="223243"/>
                  </a:lnTo>
                  <a:cubicBezTo>
                    <a:pt x="20798" y="198211"/>
                    <a:pt x="0" y="157798"/>
                    <a:pt x="0" y="114732"/>
                  </a:cubicBezTo>
                  <a:lnTo>
                    <a:pt x="0" y="50006"/>
                  </a:lnTo>
                  <a:lnTo>
                    <a:pt x="116681" y="0"/>
                  </a:lnTo>
                  <a:lnTo>
                    <a:pt x="233362" y="50006"/>
                  </a:lnTo>
                  <a:lnTo>
                    <a:pt x="233362" y="114732"/>
                  </a:lnTo>
                  <a:cubicBezTo>
                    <a:pt x="233362" y="157798"/>
                    <a:pt x="212565" y="198211"/>
                    <a:pt x="177521" y="223243"/>
                  </a:cubicBezTo>
                  <a:lnTo>
                    <a:pt x="116681" y="266700"/>
                  </a:lnTo>
                  <a:close/>
                  <a:moveTo>
                    <a:pt x="186808" y="95130"/>
                  </a:moveTo>
                  <a:lnTo>
                    <a:pt x="163235" y="71557"/>
                  </a:lnTo>
                  <a:lnTo>
                    <a:pt x="100012" y="134780"/>
                  </a:lnTo>
                  <a:lnTo>
                    <a:pt x="70127" y="104895"/>
                  </a:lnTo>
                  <a:lnTo>
                    <a:pt x="46554" y="128468"/>
                  </a:lnTo>
                  <a:lnTo>
                    <a:pt x="100012" y="181926"/>
                  </a:lnTo>
                  <a:lnTo>
                    <a:pt x="186808" y="95130"/>
                  </a:lnTo>
                  <a:close/>
                </a:path>
              </a:pathLst>
            </a:custGeom>
            <a:solidFill>
              <a:srgbClr val="C8862E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261110" y="5766435"/>
              <a:ext cx="700582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9D6E3"/>
                  </a:solidFill>
                  <a:latin typeface="Arial"/>
                  <a:ea typeface="Microsoft YaHei"/>
                  <a:cs typeface="Arial"/>
                </a:rPr>
                <a:t xml:space="preserve">价值:后端引擎可以「分批换」,前端门店一天都不用停 —— </a:t>
              </a:r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这是麦当劳分拆验证过的打法。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99122" y="6521291"/>
            <a:ext cx="10993756" cy="167640"/>
            <a:chOff x="599122" y="6521291"/>
            <a:chExt cx="10993756" cy="167640"/>
          </a:xfrm>
        </p:grpSpPr>
        <p:sp>
          <p:nvSpPr>
            <p:cNvPr id="63" name="TextBox 63"/>
            <p:cNvSpPr txBox="1"/>
            <p:nvPr/>
          </p:nvSpPr>
          <p:spPr>
            <a:xfrm>
              <a:off x="599122" y="6521291"/>
              <a:ext cx="27139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星巴克中国 ERP 本地化拆分项目 · 凯捷 Capgemini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330863" y="6521291"/>
              <a:ext cx="126201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CONFIDENTIAL · 10 / 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1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5" grpId="0"/>
      <p:bldP spid="27" grpId="0"/>
      <p:bldP spid="43" grpId="0"/>
      <p:bldP spid="45" grpId="0"/>
      <p:bldP spid="58" grpId="0"/>
      <p:bldP spid="6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81025" y="309562"/>
            <a:ext cx="6906256" cy="590550"/>
            <a:chOff x="581025" y="309562"/>
            <a:chExt cx="6906256" cy="590550"/>
          </a:xfrm>
        </p:grpSpPr>
        <p:sp>
          <p:nvSpPr>
            <p:cNvPr id="5" name="TextBox 5"/>
            <p:cNvSpPr txBox="1"/>
            <p:nvPr/>
          </p:nvSpPr>
          <p:spPr>
            <a:xfrm>
              <a:off x="581025" y="309562"/>
              <a:ext cx="690625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第五幕 · 下一步 —— 一个具体、低成本的承诺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265" y="686752"/>
              <a:ext cx="32854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让会议有下文:不空谈,给一个 2 周可交付的钩子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09600" y="990600"/>
            <a:ext cx="10972800" cy="1790700"/>
            <a:chOff x="609600" y="990600"/>
            <a:chExt cx="10972800" cy="1790700"/>
          </a:xfrm>
        </p:grpSpPr>
        <p:sp>
          <p:nvSpPr>
            <p:cNvPr id="8" name="Rectangle 8"/>
            <p:cNvSpPr/>
            <p:nvPr/>
          </p:nvSpPr>
          <p:spPr>
            <a:xfrm>
              <a:off x="609600" y="990600"/>
              <a:ext cx="10972800" cy="1790700"/>
            </a:xfrm>
            <a:prstGeom prst="roundRect">
              <a:avLst>
                <a:gd name="adj" fmla="val 5319"/>
              </a:avLst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990600"/>
              <a:ext cx="57150" cy="179070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932259" y="1294209"/>
              <a:ext cx="250031" cy="267891"/>
            </a:xfrm>
            <a:custGeom>
              <a:avLst/>
              <a:gdLst/>
              <a:ahLst/>
              <a:cxnLst/>
              <a:rect l="l" t="t" r="r" b="b"/>
              <a:pathLst>
                <a:path w="250031" h="267891">
                  <a:moveTo>
                    <a:pt x="0" y="0"/>
                  </a:moveTo>
                  <a:lnTo>
                    <a:pt x="0" y="267891"/>
                  </a:lnTo>
                  <a:lnTo>
                    <a:pt x="35719" y="267891"/>
                  </a:lnTo>
                  <a:lnTo>
                    <a:pt x="35719" y="160734"/>
                  </a:lnTo>
                  <a:lnTo>
                    <a:pt x="107156" y="160734"/>
                  </a:lnTo>
                  <a:lnTo>
                    <a:pt x="142875" y="196453"/>
                  </a:lnTo>
                  <a:lnTo>
                    <a:pt x="250031" y="196453"/>
                  </a:lnTo>
                  <a:lnTo>
                    <a:pt x="250031" y="35719"/>
                  </a:lnTo>
                  <a:lnTo>
                    <a:pt x="142875" y="35719"/>
                  </a:lnTo>
                  <a:lnTo>
                    <a:pt x="1071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862E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00162" y="1373981"/>
              <a:ext cx="71866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承诺动作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89635" y="1751648"/>
              <a:ext cx="5342492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 xml:space="preserve">星巴克提供 RFI 文档后,凯捷 </a:t>
              </a:r>
              <a:r>
                <a:rPr lang="zh-CN" sz="1950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2 周内</a:t>
              </a:r>
              <a:r>
                <a:rPr lang="zh-CN" sz="19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交付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99160" y="2232660"/>
              <a:ext cx="655891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DEEE6"/>
                  </a:solidFill>
                  <a:latin typeface="Arial"/>
                  <a:ea typeface="Microsoft YaHei"/>
                  <a:cs typeface="Arial"/>
                </a:rPr>
                <a:t>《接口可拆解性评估 + 风险分级清单》 —— 把 33 个接口按「物理拆 / 逻辑迁」分类,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99160" y="2480310"/>
              <a:ext cx="24841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DEEE6"/>
                  </a:solidFill>
                  <a:latin typeface="Arial"/>
                  <a:ea typeface="Microsoft YaHei"/>
                  <a:cs typeface="Arial"/>
                </a:rPr>
                <a:t>标出真正高风险的关键路径项。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09600" y="3009900"/>
            <a:ext cx="1016698" cy="300038"/>
            <a:chOff x="609600" y="3009900"/>
            <a:chExt cx="1016698" cy="300038"/>
          </a:xfrm>
        </p:grpSpPr>
        <p:sp>
          <p:nvSpPr>
            <p:cNvPr id="16" name="Rectangle 16"/>
            <p:cNvSpPr/>
            <p:nvPr/>
          </p:nvSpPr>
          <p:spPr>
            <a:xfrm>
              <a:off x="609600" y="3009900"/>
              <a:ext cx="47625" cy="20955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3905" y="3035618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后续配合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09600" y="3333750"/>
            <a:ext cx="3524250" cy="1809750"/>
            <a:chOff x="609600" y="3333750"/>
            <a:chExt cx="3524250" cy="1809750"/>
          </a:xfrm>
        </p:grpSpPr>
        <p:sp>
          <p:nvSpPr>
            <p:cNvPr id="19" name="Rectangle 19"/>
            <p:cNvSpPr/>
            <p:nvPr/>
          </p:nvSpPr>
          <p:spPr>
            <a:xfrm>
              <a:off x="609600" y="3333750"/>
              <a:ext cx="3524250" cy="1809750"/>
            </a:xfrm>
            <a:prstGeom prst="roundRect">
              <a:avLst>
                <a:gd name="adj" fmla="val 5263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09600" y="3333750"/>
              <a:ext cx="3524250" cy="457200"/>
            </a:xfrm>
            <a:prstGeom prst="roundRect">
              <a:avLst>
                <a:gd name="adj" fmla="val 20833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09600" y="3600450"/>
              <a:ext cx="3524250" cy="19050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847725" y="3448050"/>
              <a:ext cx="171451" cy="228600"/>
              <a:chOff x="847725" y="3448050"/>
              <a:chExt cx="171451" cy="2286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847725" y="3448050"/>
                <a:ext cx="17145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28600">
                    <a:moveTo>
                      <a:pt x="71438" y="0"/>
                    </a:moveTo>
                    <a:lnTo>
                      <a:pt x="0" y="0"/>
                    </a:lnTo>
                    <a:lnTo>
                      <a:pt x="0" y="228600"/>
                    </a:lnTo>
                    <a:lnTo>
                      <a:pt x="171450" y="228600"/>
                    </a:lnTo>
                    <a:lnTo>
                      <a:pt x="171450" y="100012"/>
                    </a:lnTo>
                    <a:lnTo>
                      <a:pt x="71438" y="100012"/>
                    </a:lnTo>
                    <a:lnTo>
                      <a:pt x="71438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947738" y="3448050"/>
                <a:ext cx="71438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71438">
                    <a:moveTo>
                      <a:pt x="0" y="0"/>
                    </a:moveTo>
                    <a:lnTo>
                      <a:pt x="0" y="71438"/>
                    </a:lnTo>
                    <a:lnTo>
                      <a:pt x="71438" y="714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126808" y="3500914"/>
              <a:ext cx="10100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案例材料包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4865" y="4039552"/>
              <a:ext cx="196657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整理 Oracle / SAP 餐饮零售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4865" y="4287202"/>
              <a:ext cx="165987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实施实例,加上从 Global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24865" y="4534852"/>
              <a:ext cx="22426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Instance 分拆的成功项目复盘。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343400" y="3333750"/>
            <a:ext cx="3505200" cy="1809750"/>
            <a:chOff x="4343400" y="3333750"/>
            <a:chExt cx="3505200" cy="1809750"/>
          </a:xfrm>
        </p:grpSpPr>
        <p:sp>
          <p:nvSpPr>
            <p:cNvPr id="30" name="Rectangle 30"/>
            <p:cNvSpPr/>
            <p:nvPr/>
          </p:nvSpPr>
          <p:spPr>
            <a:xfrm>
              <a:off x="4343400" y="3333750"/>
              <a:ext cx="3505200" cy="1809750"/>
            </a:xfrm>
            <a:prstGeom prst="roundRect">
              <a:avLst>
                <a:gd name="adj" fmla="val 5263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4343400" y="3333750"/>
              <a:ext cx="3505200" cy="457200"/>
            </a:xfrm>
            <a:prstGeom prst="roundRect">
              <a:avLst>
                <a:gd name="adj" fmla="val 20833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43400" y="3600450"/>
              <a:ext cx="3505200" cy="19050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4552950" y="3462338"/>
              <a:ext cx="228600" cy="200024"/>
              <a:chOff x="4552950" y="3462338"/>
              <a:chExt cx="228600" cy="200024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4595812" y="3462338"/>
                <a:ext cx="71438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71438">
                    <a:moveTo>
                      <a:pt x="71438" y="35719"/>
                    </a:moveTo>
                    <a:cubicBezTo>
                      <a:pt x="71438" y="55446"/>
                      <a:pt x="55446" y="71438"/>
                      <a:pt x="35719" y="71438"/>
                    </a:cubicBezTo>
                    <a:cubicBezTo>
                      <a:pt x="15992" y="71438"/>
                      <a:pt x="0" y="55446"/>
                      <a:pt x="0" y="35719"/>
                    </a:cubicBezTo>
                    <a:cubicBezTo>
                      <a:pt x="0" y="15992"/>
                      <a:pt x="15992" y="0"/>
                      <a:pt x="35719" y="0"/>
                    </a:cubicBezTo>
                    <a:cubicBezTo>
                      <a:pt x="55446" y="0"/>
                      <a:pt x="71438" y="15992"/>
                      <a:pt x="71438" y="3571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4552950" y="3562350"/>
                <a:ext cx="11430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00012">
                    <a:moveTo>
                      <a:pt x="42862" y="0"/>
                    </a:moveTo>
                    <a:cubicBezTo>
                      <a:pt x="19190" y="0"/>
                      <a:pt x="0" y="19190"/>
                      <a:pt x="0" y="42862"/>
                    </a:cubicBezTo>
                    <a:lnTo>
                      <a:pt x="0" y="100012"/>
                    </a:lnTo>
                    <a:lnTo>
                      <a:pt x="114300" y="100012"/>
                    </a:lnTo>
                    <a:lnTo>
                      <a:pt x="114300" y="0"/>
                    </a:lnTo>
                    <a:lnTo>
                      <a:pt x="4286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4695825" y="3562350"/>
                <a:ext cx="857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100012">
                    <a:moveTo>
                      <a:pt x="42862" y="0"/>
                    </a:moveTo>
                    <a:lnTo>
                      <a:pt x="0" y="0"/>
                    </a:lnTo>
                    <a:lnTo>
                      <a:pt x="0" y="100012"/>
                    </a:lnTo>
                    <a:lnTo>
                      <a:pt x="85725" y="100012"/>
                    </a:lnTo>
                    <a:lnTo>
                      <a:pt x="85725" y="42862"/>
                    </a:lnTo>
                    <a:cubicBezTo>
                      <a:pt x="85725" y="19190"/>
                      <a:pt x="66535" y="0"/>
                      <a:pt x="4286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4695825" y="34766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28575" y="57150"/>
                    </a:move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  <a:cubicBezTo>
                      <a:pt x="0" y="44357"/>
                      <a:pt x="12793" y="57150"/>
                      <a:pt x="28575" y="5715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4860608" y="3500914"/>
              <a:ext cx="120553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专家资源对接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558665" y="4039552"/>
              <a:ext cx="20202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技术、数据、财务三维度专家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58665" y="4287202"/>
              <a:ext cx="17978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按需参与后续会议,接得住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558665" y="4534852"/>
              <a:ext cx="7934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现场追问。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8077200" y="3333750"/>
            <a:ext cx="3505200" cy="1809750"/>
            <a:chOff x="8077200" y="3333750"/>
            <a:chExt cx="3505200" cy="1809750"/>
          </a:xfrm>
        </p:grpSpPr>
        <p:sp>
          <p:nvSpPr>
            <p:cNvPr id="43" name="Rectangle 43"/>
            <p:cNvSpPr/>
            <p:nvPr/>
          </p:nvSpPr>
          <p:spPr>
            <a:xfrm>
              <a:off x="8077200" y="3333750"/>
              <a:ext cx="3505200" cy="1809750"/>
            </a:xfrm>
            <a:prstGeom prst="roundRect">
              <a:avLst>
                <a:gd name="adj" fmla="val 5263"/>
              </a:avLst>
            </a:prstGeom>
            <a:solidFill>
              <a:srgbClr val="F1F3F5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8077200" y="3333750"/>
              <a:ext cx="3505200" cy="457200"/>
            </a:xfrm>
            <a:prstGeom prst="roundRect">
              <a:avLst>
                <a:gd name="adj" fmla="val 20833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8077200" y="3600450"/>
              <a:ext cx="3505200" cy="19050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8286750" y="34480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00012" y="42862"/>
                  </a:moveTo>
                  <a:lnTo>
                    <a:pt x="100012" y="120218"/>
                  </a:lnTo>
                  <a:lnTo>
                    <a:pt x="147060" y="167265"/>
                  </a:lnTo>
                  <a:lnTo>
                    <a:pt x="167265" y="147060"/>
                  </a:lnTo>
                  <a:lnTo>
                    <a:pt x="128588" y="108382"/>
                  </a:lnTo>
                  <a:lnTo>
                    <a:pt x="128588" y="42862"/>
                  </a:lnTo>
                  <a:lnTo>
                    <a:pt x="100012" y="4286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594408" y="3500914"/>
              <a:ext cx="8144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商务节奏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292465" y="4039552"/>
              <a:ext cx="17978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今天不谈商务;采购流程按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92465" y="4287202"/>
              <a:ext cx="195124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星巴克节奏推进,凯捷不催。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609600" y="5334000"/>
            <a:ext cx="10972800" cy="762000"/>
            <a:chOff x="609600" y="5334000"/>
            <a:chExt cx="10972800" cy="762000"/>
          </a:xfrm>
        </p:grpSpPr>
        <p:sp>
          <p:nvSpPr>
            <p:cNvPr id="51" name="Rectangle 51"/>
            <p:cNvSpPr/>
            <p:nvPr/>
          </p:nvSpPr>
          <p:spPr>
            <a:xfrm>
              <a:off x="609600" y="5334000"/>
              <a:ext cx="10972800" cy="762000"/>
            </a:xfrm>
            <a:prstGeom prst="roundRect">
              <a:avLst>
                <a:gd name="adj" fmla="val 12500"/>
              </a:avLst>
            </a:prstGeom>
            <a:solidFill>
              <a:srgbClr val="C8862E">
                <a:alpha val="12000"/>
              </a:srgbClr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886063" y="5616418"/>
              <a:ext cx="247171" cy="204070"/>
            </a:xfrm>
            <a:custGeom>
              <a:avLst/>
              <a:gdLst/>
              <a:ahLst/>
              <a:cxnLst/>
              <a:rect l="l" t="t" r="r" b="b"/>
              <a:pathLst>
                <a:path w="247171" h="204070">
                  <a:moveTo>
                    <a:pt x="247171" y="47146"/>
                  </a:moveTo>
                  <a:lnTo>
                    <a:pt x="90248" y="204070"/>
                  </a:lnTo>
                  <a:lnTo>
                    <a:pt x="0" y="113821"/>
                  </a:lnTo>
                  <a:lnTo>
                    <a:pt x="47146" y="66675"/>
                  </a:lnTo>
                  <a:lnTo>
                    <a:pt x="90248" y="109777"/>
                  </a:lnTo>
                  <a:lnTo>
                    <a:pt x="200025" y="0"/>
                  </a:lnTo>
                  <a:lnTo>
                    <a:pt x="247171" y="47146"/>
                  </a:lnTo>
                  <a:close/>
                </a:path>
              </a:pathLst>
            </a:custGeom>
            <a:solidFill>
              <a:srgbClr val="C8862E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280160" y="5547360"/>
              <a:ext cx="168668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9A6A22"/>
                  </a:solidFill>
                  <a:latin typeface="Arial"/>
                  <a:ea typeface="Microsoft YaHei"/>
                  <a:cs typeface="Arial"/>
                </a:rPr>
                <a:t>为什么这个承诺有效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281112" y="5822156"/>
              <a:ext cx="640365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低成本、可验证、直击星巴克最大单点风险(接口靠文档反推) —— 一次就建立专业信任。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99122" y="6521291"/>
            <a:ext cx="10993755" cy="167640"/>
            <a:chOff x="599122" y="6521291"/>
            <a:chExt cx="10993755" cy="167640"/>
          </a:xfrm>
        </p:grpSpPr>
        <p:sp>
          <p:nvSpPr>
            <p:cNvPr id="56" name="TextBox 56"/>
            <p:cNvSpPr txBox="1"/>
            <p:nvPr/>
          </p:nvSpPr>
          <p:spPr>
            <a:xfrm>
              <a:off x="599122" y="6521291"/>
              <a:ext cx="27139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星巴克中国 ERP 本地化拆分项目 · 凯捷 Capgemini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360985" y="6521291"/>
              <a:ext cx="123189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CONFIDENTIAL · 11 / 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29" grpId="0"/>
      <p:bldP spid="42" grpId="0"/>
      <p:bldP spid="50" grpId="0"/>
      <p:bldP spid="5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190500" y="-762000"/>
            <a:ext cx="12382500" cy="7620000"/>
            <a:chOff x="-190500" y="-762000"/>
            <a:chExt cx="12382500" cy="7620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E6B4F">
                    <a:alpha val="28000"/>
                  </a:srgbClr>
                </a:gs>
                <a:gs pos="100000">
                  <a:srgbClr val="1E6B4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-190500" y="-762000"/>
              <a:ext cx="3810000" cy="3810000"/>
            </a:xfrm>
            <a:prstGeom prst="ellipse">
              <a:avLst/>
            </a:prstGeom>
            <a:noFill/>
            <a:ln w="9525">
              <a:solidFill>
                <a:srgbClr val="FFFFFF">
                  <a:alpha val="5000"/>
                </a:srgbClr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1143000" y="1695450"/>
            <a:ext cx="8630591" cy="3281362"/>
            <a:chOff x="1143000" y="1695450"/>
            <a:chExt cx="8630591" cy="3281362"/>
          </a:xfrm>
        </p:grpSpPr>
        <p:sp>
          <p:nvSpPr>
            <p:cNvPr id="7" name="Rectangle 7"/>
            <p:cNvSpPr/>
            <p:nvPr/>
          </p:nvSpPr>
          <p:spPr>
            <a:xfrm>
              <a:off x="1143000" y="1695450"/>
              <a:ext cx="133350" cy="3162300"/>
            </a:xfrm>
            <a:prstGeom prst="rect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90675" y="2024062"/>
              <a:ext cx="71477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「汉得强在『配软件』,凯捷强在『懂分拆』。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95438" y="2826544"/>
              <a:ext cx="4059436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75" dirty="0">
                  <a:solidFill>
                    <a:srgbClr val="C9D6E3"/>
                  </a:solidFill>
                  <a:latin typeface="Arial"/>
                  <a:ea typeface="Microsoft YaHei"/>
                  <a:cs typeface="Arial"/>
                </a:rPr>
                <a:t>万店规模的餐饮零售 ERP 切换 ——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84960" y="3251835"/>
              <a:ext cx="360872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稳,永远比快值钱。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95438" y="4102894"/>
              <a:ext cx="6044803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75" dirty="0">
                  <a:solidFill>
                    <a:srgbClr val="C9D6E3"/>
                  </a:solidFill>
                  <a:latin typeface="Arial"/>
                  <a:ea typeface="Microsoft YaHei"/>
                  <a:cs typeface="Arial"/>
                </a:rPr>
                <a:t>我们要交付给星巴克的,不是一套 SAP 或 Oracle,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90675" y="4519612"/>
              <a:ext cx="818291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是博裕入主后,星巴克中国能独立行军的技术底座。」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04962" y="5334000"/>
            <a:ext cx="5105638" cy="488156"/>
            <a:chOff x="1604962" y="5334000"/>
            <a:chExt cx="5105638" cy="488156"/>
          </a:xfrm>
        </p:grpSpPr>
        <p:sp>
          <p:nvSpPr>
            <p:cNvPr id="14" name="Rectangle 14"/>
            <p:cNvSpPr/>
            <p:nvPr/>
          </p:nvSpPr>
          <p:spPr>
            <a:xfrm>
              <a:off x="1619250" y="5334000"/>
              <a:ext cx="3048000" cy="28575"/>
            </a:xfrm>
            <a:prstGeom prst="rect">
              <a:avLst/>
            </a:prstGeom>
            <a:solidFill>
              <a:srgbClr val="1E6B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604962" y="5593556"/>
              <a:ext cx="51056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FB0C2"/>
                  </a:solidFill>
                  <a:latin typeface="Arial"/>
                  <a:ea typeface="Microsoft YaHei"/>
                  <a:cs typeface="Arial"/>
                </a:rPr>
                <a:t>凯捷 Capgemini · 星巴克中国 ERP 本地化拆分项目 · 5月18日拜访汇报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609600" y="361950"/>
            <a:ext cx="10972800" cy="647700"/>
            <a:chOff x="609600" y="361950"/>
            <a:chExt cx="10972800" cy="647700"/>
          </a:xfrm>
        </p:grpSpPr>
        <p:sp>
          <p:nvSpPr>
            <p:cNvPr id="5" name="Rectangle 5"/>
            <p:cNvSpPr/>
            <p:nvPr/>
          </p:nvSpPr>
          <p:spPr>
            <a:xfrm>
              <a:off x="609600" y="381000"/>
              <a:ext cx="47625" cy="533400"/>
            </a:xfrm>
            <a:prstGeom prst="rect">
              <a:avLst/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71525" y="404812"/>
              <a:ext cx="390438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附 · 汇报节奏与现场分工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86765" y="762952"/>
              <a:ext cx="47345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36E"/>
                  </a:solidFill>
                  <a:latin typeface="Arial"/>
                  <a:ea typeface="Microsoft YaHei"/>
                  <a:cs typeface="Arial"/>
                </a:rPr>
                <a:t>首轮轻量面谈 · 听众:IT 负责人 / PS 团队 / 财务关键用户 / 上级主管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9906000" y="361950"/>
              <a:ext cx="1676400" cy="647700"/>
            </a:xfrm>
            <a:prstGeom prst="roundRect">
              <a:avLst>
                <a:gd name="adj" fmla="val 17647"/>
              </a:avLst>
            </a:prstGeom>
            <a:solidFill>
              <a:srgbClr val="1A3A5C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249817" y="500062"/>
              <a:ext cx="98876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2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35</a:t>
              </a:r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543949" y="825341"/>
              <a:ext cx="40050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总时长</a:t>
              </a:r>
            </a:p>
          </p:txBody>
        </p:sp>
      </p:grpSp>
      <p:sp>
        <p:nvSpPr>
          <p:cNvPr id="12" name="Line 12"/>
          <p:cNvSpPr/>
          <p:nvPr/>
        </p:nvSpPr>
        <p:spPr>
          <a:xfrm>
            <a:off x="1143000" y="1485900"/>
            <a:ext cx="9525" cy="4076700"/>
          </a:xfrm>
          <a:custGeom>
            <a:avLst/>
            <a:gdLst/>
            <a:ahLst/>
            <a:cxnLst/>
            <a:rect l="l" t="t" r="r" b="b"/>
            <a:pathLst>
              <a:path w="9525" h="4076700">
                <a:moveTo>
                  <a:pt x="0" y="0"/>
                </a:moveTo>
                <a:lnTo>
                  <a:pt x="0" y="4076700"/>
                </a:lnTo>
              </a:path>
            </a:pathLst>
          </a:custGeom>
          <a:noFill/>
          <a:ln w="28575" cap="rnd">
            <a:gradFill>
              <a:gsLst>
                <a:gs pos="0">
                  <a:srgbClr val="1A3A5C"/>
                </a:gs>
                <a:gs pos="100000">
                  <a:srgbClr val="1E6B4F"/>
                </a:gs>
              </a:gsLst>
              <a:lin ang="5400000" scaled="1"/>
            </a:gradFill>
          </a:ln>
        </p:spPr>
      </p:sp>
      <p:grpSp>
        <p:nvGrpSpPr>
          <p:cNvPr id="19" name="Group 19"/>
          <p:cNvGrpSpPr/>
          <p:nvPr/>
        </p:nvGrpSpPr>
        <p:grpSpPr>
          <a:xfrm>
            <a:off x="933450" y="1485900"/>
            <a:ext cx="10306050" cy="511969"/>
            <a:chOff x="933450" y="1485900"/>
            <a:chExt cx="10306050" cy="511969"/>
          </a:xfrm>
        </p:grpSpPr>
        <p:sp>
          <p:nvSpPr>
            <p:cNvPr id="13" name="Ellipse 13"/>
            <p:cNvSpPr/>
            <p:nvPr/>
          </p:nvSpPr>
          <p:spPr>
            <a:xfrm>
              <a:off x="933450" y="1485900"/>
              <a:ext cx="419100" cy="4191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1A3A5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55391" y="1640681"/>
              <a:ext cx="1752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58302" y="1503521"/>
              <a:ext cx="259296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开场定调 —— 抛出核心主张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4018" y="1799749"/>
              <a:ext cx="94430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主讲 · 负责人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906000" y="1524000"/>
              <a:ext cx="1333500" cy="342900"/>
            </a:xfrm>
            <a:prstGeom prst="roundRect">
              <a:avLst>
                <a:gd name="adj" fmla="val 50000"/>
              </a:avLst>
            </a:prstGeom>
            <a:solidFill>
              <a:srgbClr val="1A3A5C">
                <a:alpha val="8000"/>
              </a:srgb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333987" y="1629728"/>
              <a:ext cx="47752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0 – 2′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33450" y="2209800"/>
            <a:ext cx="10306050" cy="511969"/>
            <a:chOff x="933450" y="2209800"/>
            <a:chExt cx="10306050" cy="511969"/>
          </a:xfrm>
        </p:grpSpPr>
        <p:sp>
          <p:nvSpPr>
            <p:cNvPr id="20" name="Ellipse 20"/>
            <p:cNvSpPr/>
            <p:nvPr/>
          </p:nvSpPr>
          <p:spPr>
            <a:xfrm>
              <a:off x="933450" y="2209800"/>
              <a:ext cx="419100" cy="4191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1A3A5C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33826" y="236458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658302" y="2227421"/>
              <a:ext cx="3718380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第一、二幕 —— 读懂处境 + 点破真难点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64018" y="2523649"/>
              <a:ext cx="109382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主讲 · 资深顾问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9906000" y="2247900"/>
              <a:ext cx="1333500" cy="342900"/>
            </a:xfrm>
            <a:prstGeom prst="roundRect">
              <a:avLst>
                <a:gd name="adj" fmla="val 50000"/>
              </a:avLst>
            </a:prstGeom>
            <a:solidFill>
              <a:srgbClr val="1A3A5C">
                <a:alpha val="8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309834" y="2353628"/>
              <a:ext cx="5258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2 – 12′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14400" y="2914650"/>
            <a:ext cx="10325100" cy="531019"/>
            <a:chOff x="914400" y="2914650"/>
            <a:chExt cx="10325100" cy="531019"/>
          </a:xfrm>
        </p:grpSpPr>
        <p:sp>
          <p:nvSpPr>
            <p:cNvPr id="27" name="Ellipse 27"/>
            <p:cNvSpPr/>
            <p:nvPr/>
          </p:nvSpPr>
          <p:spPr>
            <a:xfrm>
              <a:off x="914400" y="2914650"/>
              <a:ext cx="457200" cy="457200"/>
            </a:xfrm>
            <a:prstGeom prst="ellipse">
              <a:avLst/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33826" y="308848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658302" y="2951321"/>
              <a:ext cx="4341183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第三幕 —— 麦当劳 / 伊利同题答卷</a:t>
              </a:r>
              <a:r>
                <a:rPr lang="zh-CN" sz="900" b="1" dirty="0">
                  <a:solidFill>
                    <a:srgbClr val="C8862E"/>
                  </a:solidFill>
                  <a:latin typeface="Arial"/>
                  <a:ea typeface="Microsoft YaHei"/>
                  <a:cs typeface="Arial"/>
                </a:rPr>
                <a:t>· 本场主角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664018" y="3247549"/>
              <a:ext cx="154238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主讲 · 麦当劳背景顾问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2971800"/>
              <a:ext cx="1333500" cy="342900"/>
            </a:xfrm>
            <a:prstGeom prst="roundRect">
              <a:avLst>
                <a:gd name="adj" fmla="val 50000"/>
              </a:avLst>
            </a:prstGeom>
            <a:solidFill>
              <a:srgbClr val="C8862E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265553" y="3077528"/>
              <a:ext cx="61439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12 – 20′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33450" y="3657600"/>
            <a:ext cx="10306050" cy="511969"/>
            <a:chOff x="933450" y="3657600"/>
            <a:chExt cx="10306050" cy="511969"/>
          </a:xfrm>
        </p:grpSpPr>
        <p:sp>
          <p:nvSpPr>
            <p:cNvPr id="34" name="Ellipse 34"/>
            <p:cNvSpPr/>
            <p:nvPr/>
          </p:nvSpPr>
          <p:spPr>
            <a:xfrm>
              <a:off x="933450" y="3657600"/>
              <a:ext cx="419100" cy="4191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1A3A5C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033826" y="381238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658302" y="3675221"/>
              <a:ext cx="3718380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第四幕 —— 凯捷打法 + 系统解耦路线图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664018" y="3971449"/>
              <a:ext cx="231240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主讲 · 资深顾问 + 麦当劳背景顾问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906000" y="3695700"/>
              <a:ext cx="1333500" cy="342900"/>
            </a:xfrm>
            <a:prstGeom prst="roundRect">
              <a:avLst>
                <a:gd name="adj" fmla="val 50000"/>
              </a:avLst>
            </a:prstGeom>
            <a:solidFill>
              <a:srgbClr val="1A3A5C">
                <a:alpha val="8000"/>
              </a:srgbClr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245426" y="3801428"/>
              <a:ext cx="6546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20 – 28′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33450" y="4381500"/>
            <a:ext cx="10306050" cy="511969"/>
            <a:chOff x="933450" y="4381500"/>
            <a:chExt cx="10306050" cy="511969"/>
          </a:xfrm>
        </p:grpSpPr>
        <p:sp>
          <p:nvSpPr>
            <p:cNvPr id="41" name="Ellipse 41"/>
            <p:cNvSpPr/>
            <p:nvPr/>
          </p:nvSpPr>
          <p:spPr>
            <a:xfrm>
              <a:off x="933450" y="4381500"/>
              <a:ext cx="419100" cy="4191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1A3A5C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033826" y="453628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05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658302" y="4399121"/>
              <a:ext cx="2155910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第五幕 —— 下一步承诺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664018" y="4695349"/>
              <a:ext cx="94430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主讲 · 负责人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906000" y="4419600"/>
              <a:ext cx="1333500" cy="342900"/>
            </a:xfrm>
            <a:prstGeom prst="roundRect">
              <a:avLst>
                <a:gd name="adj" fmla="val 50000"/>
              </a:avLst>
            </a:prstGeom>
            <a:solidFill>
              <a:srgbClr val="1A3A5C">
                <a:alpha val="8000"/>
              </a:srgbClr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0265553" y="4525328"/>
              <a:ext cx="61439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A5C"/>
                  </a:solidFill>
                  <a:latin typeface="Arial"/>
                  <a:ea typeface="Microsoft YaHei"/>
                  <a:cs typeface="Arial"/>
                </a:rPr>
                <a:t>28 – 31′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933450" y="5105400"/>
            <a:ext cx="10306050" cy="511969"/>
            <a:chOff x="933450" y="5105400"/>
            <a:chExt cx="10306050" cy="511969"/>
          </a:xfrm>
        </p:grpSpPr>
        <p:sp>
          <p:nvSpPr>
            <p:cNvPr id="48" name="Ellipse 48"/>
            <p:cNvSpPr/>
            <p:nvPr/>
          </p:nvSpPr>
          <p:spPr>
            <a:xfrm>
              <a:off x="933450" y="5105400"/>
              <a:ext cx="419100" cy="4191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1E6B4F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033826" y="526018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E6B4F"/>
                  </a:solidFill>
                  <a:latin typeface="Arial"/>
                  <a:ea typeface="Microsoft YaHei"/>
                  <a:cs typeface="Arial"/>
                </a:rPr>
                <a:t>06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658302" y="5123021"/>
              <a:ext cx="440471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222831"/>
                  </a:solidFill>
                  <a:latin typeface="Arial"/>
                  <a:ea typeface="Microsoft YaHei"/>
                  <a:cs typeface="Arial"/>
                </a:rPr>
                <a:t>Q&amp;A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664018" y="5419249"/>
              <a:ext cx="7947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主讲 · 全员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906000" y="5143500"/>
              <a:ext cx="1333500" cy="342900"/>
            </a:xfrm>
            <a:prstGeom prst="roundRect">
              <a:avLst>
                <a:gd name="adj" fmla="val 50000"/>
              </a:avLst>
            </a:prstGeom>
            <a:solidFill>
              <a:srgbClr val="1E6B4F">
                <a:alpha val="10000"/>
              </a:srgbClr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0265553" y="5249228"/>
              <a:ext cx="61439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E6B4F"/>
                  </a:solidFill>
                  <a:latin typeface="Arial"/>
                  <a:ea typeface="Microsoft YaHei"/>
                  <a:cs typeface="Arial"/>
                </a:rPr>
                <a:t>31 – 35′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09600" y="5772150"/>
            <a:ext cx="10972800" cy="457200"/>
            <a:chOff x="609600" y="5772150"/>
            <a:chExt cx="10972800" cy="457200"/>
          </a:xfrm>
        </p:grpSpPr>
        <p:sp>
          <p:nvSpPr>
            <p:cNvPr id="55" name="Rectangle 55"/>
            <p:cNvSpPr/>
            <p:nvPr/>
          </p:nvSpPr>
          <p:spPr>
            <a:xfrm>
              <a:off x="609600" y="5772150"/>
              <a:ext cx="10972800" cy="457200"/>
            </a:xfrm>
            <a:prstGeom prst="roundRect">
              <a:avLst>
                <a:gd name="adj" fmla="val 12500"/>
              </a:avLst>
            </a:prstGeom>
            <a:solidFill>
              <a:srgbClr val="B0392E">
                <a:alpha val="10000"/>
              </a:srgbClr>
            </a:solidFill>
            <a:ln>
              <a:noFill/>
            </a:ln>
          </p:spPr>
        </p:sp>
        <p:sp>
          <p:nvSpPr>
            <p:cNvPr id="56" name="Freeform 56"/>
            <p:cNvSpPr/>
            <p:nvPr/>
          </p:nvSpPr>
          <p:spPr>
            <a:xfrm>
              <a:off x="819150" y="58864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28588" y="228600"/>
                  </a:moveTo>
                  <a:lnTo>
                    <a:pt x="100012" y="228600"/>
                  </a:lnTo>
                  <a:lnTo>
                    <a:pt x="0" y="128588"/>
                  </a:lnTo>
                  <a:lnTo>
                    <a:pt x="0" y="100012"/>
                  </a:lnTo>
                  <a:lnTo>
                    <a:pt x="100012" y="0"/>
                  </a:lnTo>
                  <a:lnTo>
                    <a:pt x="128588" y="0"/>
                  </a:lnTo>
                  <a:lnTo>
                    <a:pt x="228600" y="100012"/>
                  </a:lnTo>
                  <a:lnTo>
                    <a:pt x="228600" y="128588"/>
                  </a:lnTo>
                  <a:lnTo>
                    <a:pt x="128588" y="228600"/>
                  </a:lnTo>
                  <a:close/>
                  <a:moveTo>
                    <a:pt x="100012" y="42862"/>
                  </a:moveTo>
                  <a:lnTo>
                    <a:pt x="100012" y="128588"/>
                  </a:lnTo>
                  <a:lnTo>
                    <a:pt x="128588" y="128588"/>
                  </a:lnTo>
                  <a:lnTo>
                    <a:pt x="128588" y="42862"/>
                  </a:lnTo>
                  <a:lnTo>
                    <a:pt x="100012" y="42862"/>
                  </a:lnTo>
                  <a:close/>
                  <a:moveTo>
                    <a:pt x="100012" y="157162"/>
                  </a:moveTo>
                  <a:lnTo>
                    <a:pt x="100012" y="185738"/>
                  </a:lnTo>
                  <a:lnTo>
                    <a:pt x="128588" y="185738"/>
                  </a:lnTo>
                  <a:lnTo>
                    <a:pt x="128588" y="157162"/>
                  </a:lnTo>
                  <a:lnTo>
                    <a:pt x="100012" y="157162"/>
                  </a:lnTo>
                  <a:close/>
                </a:path>
              </a:pathLst>
            </a:custGeom>
            <a:solidFill>
              <a:srgbClr val="B0392E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148715" y="5935028"/>
              <a:ext cx="69666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0392E"/>
                  </a:solidFill>
                  <a:latin typeface="Arial"/>
                  <a:ea typeface="Microsoft YaHei"/>
                  <a:cs typeface="Arial"/>
                </a:rPr>
                <a:t>提醒:采购部门本轮不参与;首轮聚焦背景与案例、建立信任。第三幕务必由麦当劳背景顾问主讲。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99122" y="6521291"/>
            <a:ext cx="10993756" cy="167640"/>
            <a:chOff x="599122" y="6521291"/>
            <a:chExt cx="10993756" cy="167640"/>
          </a:xfrm>
        </p:grpSpPr>
        <p:sp>
          <p:nvSpPr>
            <p:cNvPr id="59" name="TextBox 59"/>
            <p:cNvSpPr txBox="1"/>
            <p:nvPr/>
          </p:nvSpPr>
          <p:spPr>
            <a:xfrm>
              <a:off x="599122" y="6521291"/>
              <a:ext cx="27139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星巴克中国 ERP 本地化拆分项目 · 凯捷 Capgemini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330863" y="6521291"/>
              <a:ext cx="126201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A8AEB6"/>
                  </a:solidFill>
                  <a:latin typeface="Arial"/>
                  <a:ea typeface="Microsoft YaHei"/>
                  <a:cs typeface="Arial"/>
                </a:rPr>
                <a:t>CONFIDENTIAL · 13 / 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5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23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31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6" grpId="0"/>
      <p:bldP spid="33" grpId="0"/>
      <p:bldP spid="40" grpId="0"/>
      <p:bldP spid="47" grpId="0"/>
      <p:bldP spid="54" grpId="0"/>
      <p:bldP spid="5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