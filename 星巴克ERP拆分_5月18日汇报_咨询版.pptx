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各位领导、各位同事,今天这场沟通,我想先把结论放在最前面。星巴克中国这次的 ERP 项目,本质不是换一套软件,而是在博裕入主之后,要在业务高速行驶的状态下,给中国区换上一台能够独立行军的引擎。汉得这类供应商比的是谁更会配软件,而凯捷想跟大家讲清楚的是,我们比的是在万店规模的餐饮零售里,真正做过这台引擎拆分的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今天的沟通只回答一个问题,就是这件事为什么应该交给凯捷,我会用一条故事线、五幕来讲。核心主张是,星巴克要的不是换软件,而是博裕入主后让中国区能独立行军的技术底座,竞争维度因此要从谁会配 SAP 或者 Oracle,切换到谁真正做过万店餐饮零售的 ERP 分拆。五幕分别是读懂处境、点破真难点、我们做过、怎么控风险、下一步,中间还会插入行业参照和财务方案的深化,整场大约三十五分钟,重点会落在第三幕的麦当劳案例上。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第一幕,我先用星巴克自己的事实,证明我们做过功课。这件事真正的难点不是选型,而是高速换引擎,二零二六年四月一日就要交割,业务一天都不能停。眼前有三个结构性约束加一道数据缺口,EBS 和北美共用同一个 Instance,拆的是一对连体;美方只给端口技术文档不给代码,不能直接平移,必须重建;十一个入向加二十二个出向接口只能靠 RFI 文档反推,文档质量就是最大的单点风险;再加上现有系统只覆盖到二零一三年,审计保留期还要和财务核实口径。同时我们也读懂了边界,本次切割范围内是 ERP、Hyperion、Anaplan 和主数据 HUB,而租赁系统、BOH、Rainbow 算法明确不碰。所以我们今天讲的是方法,不是卖货。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读懂处境之后,第二幕要点破真正的难点,这是一个分拆项目,不是一个实施项目。Oracle EBS 在星巴克中国是三位一体的存在,它既是财务核心,承载总账、应付、应收、固资这些法定账套和核算逻辑;又是集成枢纽,十一个入向加二十二个出向接口全靠它串联;还是主数据中心,通过 Oracle HUB 分发物料、供应商、门店和科目表。所以拆 ERP 等于拆整张蜘蛛网,真正的能力门槛是解耦。一句话,会配软件的供应商很多,做过这种规模分拆的,没几家。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那么凯捷凭什么说自己做过,这一幕是全场可信度的支点。我的讲法不是讲历史,而是讲星巴克现在的每一个风险,等于当年我们已经解过的题。EBS 与北美共用一个 Instance,对应的是麦当劳中国从 Global 分拆时共用 Instance 的拆分实操;美方只给文档不给代码,对应的是总部只给接口文档、凯捷完成本地重建;前端门店切换期不能停,对应的是 POS 和 BOH 无感过渡的过渡层设计;万店海量交易,对应伊利等大型企业的本地架构落地,以及凯捷中国区一千多人的财务服务团队;财务报表和预算割裂,对应我们财务中台、合并报表、全面预算、票税、银企直连的全链路能力。这一页,会由我们团队里全程参与过麦当劳分拆的顾问来主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讲完我们做过,第四幕要落到具体打法,凯捷有五条,每一条都可落地、可追问。第一是分阶段解耦,不一次性切换,并行、过渡、脱钩,正好对上星巴克两年内继续用 Global 的节奏;第二是系统解耦路线图,区分物理拆分和逻辑迁移,这是汉得给不出的硬通货;第三是过渡层设计,让前端门店业务无感,业务连续性优先;第四是财务侧做减法,Hyperion 加 Anaplan 走统一平台,呼应星巴克消除割裂、避免厂商锁定的诉求;第五是跨文化协调,用凯捷 Global 网络推动美方数据移交谈判。选型上我们不替任何厂商站台,Oracle 和 SAP 双技术栈我们都有,我们帮星巴克把选型决策做对。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接下来这张图,是今天唯一一张硬通货,也是第四幕里系统解耦路线图的展开。整个拆分分三个阶段,阶段一是解耦,在交割前到二零二六年四月一日,建中国区独立 Instance 并与 Global 并行;阶段二是过渡,大约二十四个月,双轨运行,接口逐批从指向北美切到指向本地;阶段三是脱钩,到二零二八年完全脱离 Global。而每一个系统,只走两条路径之一,要么是路径 A 物理拆分,必须真拆、重建独立实例,这是项目的关键路径;要么是路径 B 逻辑迁移,只换归属和连接、业务逻辑不动。这里有一个收敛判断,三十三个接口不是三十三个项目,分类之后真正高风险的物理拆分项,可能不到三分之一。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那么一个系统到底走物理拆分还是逻辑迁移,我们有一套四问标准,任意一问回答是,就归为物理拆分,四问全是否,才归逻辑迁移。第一问连体性,是否与北美共用同一个 Instance 或共享数据库;第二问账套源头,是否承载法定财务账套或者是主数据的源头;第三问支持中断,切割后美方是否不再提供运维和升级支持;第四问接口可解,是否无法仅靠接口重指向解决归属问题。这套标准的价值在于,它让分类可解释、可追问,拜访现场无论被问到哪个系统,我们都能当场给出归类逻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把四问标准套到星巴克现有架构上,我们做了一版初步分类清单,要说明的是这是基于架构图的初判,精确版要等拿到 RFI 文档。路径 A 物理拆分,包括 EBS 财务核心、Oracle HUB 主数据、Hyperion、Anaplan 和 Oracle 制造模块;路径 B 逻辑迁移,是大部分周边系统,比如 S2P、3PL WMS、NGBOH、NGT&amp;E、SUN、SIMS、Blackline 这些,本体不重建、可分批、用过渡层兜底;范围外明确不动的,是租赁系统、BOH、Rainbow 算法,以及交割后还要继续用两年的 Oracle Global。主动讲清楚不碰什么,本身就是一种专业和分寸。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刚才反复提到的过渡层,这一页专门讲清楚它怎么让前端门店业务无感。结构上看是三段,左边是前端门店侧,POS、NGBOH、3PL WMS、天猫电商、S2P 都按原协议收发,完全不感知后端在切换;中间是过渡层,承担三个职能,接口缓冲负责格式和路由转换,主数据双写保证新旧实例数据一致,路由开关让接口逐批从指向北美切到指向本地、可灰度可回滚;右边是后端,旧的共用 Instance 逐步退出,新的中国区独立 Instance 接管。它的价值就是,后端引擎可以分批换,前端门店一天都不用停,这是麦当劳分拆已经验证过的打法。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讲完凯捷的打法,接下来用两个真实的行业参照,把这套方法的可信度再夯实一层。第一个是百胜中国。百胜中国从 YUM 集团分拆独立上市,ERP 从美国迁回中国,这和星巴克这次面对的,几乎是同一道题。凯捷团队陪伴百胜中国二十年,见证它从三千家门店成长到一万五千多家,支持过三次 ERP 大版本升级。它的演进有一个清晰的两段式规律,前十二年是把 ERP 用深用透、覆盖更多业务,后六年则是给 ERP 减负、把业务能力向专业系统剥离。这给星巴克最重要的启示是,carve-out 不是一次性事件,而是长期演进的起点,先把核心拆对,再逐步给 ERP 减负。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从百胜的案例里,可以提炼出一条餐饮零售头部企业的共同规律,就是 ERP 定位的演进,后台核心回归、中前台剥离。星巴克现在的 EBS,一个系统背了四件事,既是财务核心,又是集成枢纽,又是主数据中心,还塞满了费用、资产、对账这些业务流程,结果就是臃肿、难拆、难升级,动一下就牵动整张蜘蛛网。而成熟的目标形态是,ERP 专注后台核心,也就是财务总账和核心主数据,这部分走物理拆分;业务能力则剥离到中前台专业系统,走逻辑迁移;接口中心统一集成,替代点对点的蜘蛛网。这条规律,正是星巴克解耦路线图的方法论根基。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第二个参照在门店侧。餐饮零售有一套很成熟的做法,就是门店不背 ERP。门店的要货、收货、盘点、日结操作全部在 BOH 完成,ERP 退到后台,门店侧切换时几乎无感。BOH 和 ERP 之间通过实时接口连接,要货配送、收货差异自动处理,做到日清日结,不拖累月结;同时门店还能拿到按天、按品项的利润表,管理颗粒度从月细到日。对星巴克的意义在于,NGBOH 和新 ERP 的边界可以直接套用这套成熟分工,门店侧走逻辑迁移,后端 ERP 切换时,门店的业务连续性天然就得到了保护。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三页,把第四幕里的财务侧做减法展开讲。凯捷的财务数智化方法论,可以概括成三项工作、五大能力。三项工作是递进的,第一项财务会计数智化,把核算做到自动化、标准化,把主数据治理好、口径统一;第二项管理会计数智化,把预算、成本、资金这些管理职能扩展起来;第三项决策支持数智化,让财务突破自身领域,沉淀数据资产,支持业务决策。支撑这三项工作的是五大能力,核算、预算、成本、资金、风控。落到星巴克本次的项目上,Hyperion 加 Anaplan 的本地化,正是这套体系里管理会计和决策支持的落点。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把方法论再具体一步,这是星巴克财务侧的目标蓝图。星巴克现在的财务功能分散在三个系统,报表合并在 Hyperion、全面预算在 Anaplan、对账在 Blackline,三者之间没有统一入口。目标形态是一个统一财务平台,一套界面、一致口径。其中报表合并要建中国区本地独立 Instance,这是物理拆分的关键路径;全面预算由 Anaplan 本地化承接,也是物理拆分;对账则走逻辑迁移,本体不重建,切换接口归属即可。底层是业财一体的数据底座,统一主数据和核算口径。这一页,就是第四幕财务侧做减法的目标图,三个系统,一个平台,一致口径。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财务侧的最后一页,想跳出系统本身,谈一个更高的视角。本地化不只是换系统,更是财务职能转型的契机。财务的价值有三个递进的阶段,价值守护、价值挖掘、价值创造。借助财务共享和数智化,财务可以从对账核算这些基础工作中解放出来,数据资产被盘活,最终深入业务价值链,支持经营决策。具体的收益体现在三点,财务提效,核算自动化让财务精力转向业务支持;口径统一,主数据治理加业财集成;风险可控,控制点内嵌系统,脱离 Global 后合规不掉线。对星巴克来说,这次切割是中国区财务建立独立能力、而不是简单复刻的一次机会。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的最后,汇总一下项目的预期收益。第一是业务连续性,分期切换加过渡层兜底,门店和前端业务在后端切换期间不停业,交割节点平稳渡过;第二是数据资产打通,统一主数据和核算口径,财务数据可以实时钻取到业务数据;第三是渐进式演进,不追求一次到位,重点突出、迭代演进,兼顾成本和效率;第四是专家引领,凯捷餐饮零售加分拆专家团队,对标百胜、麦当劳的头部经验,把方法论变现为可落地的方案。但收益的本质,不是某一个百分比的降本,而是星巴克中国拿到一台能独立行军、可持续演进的技术底座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最后一幕,我想给这场会一个具体的、低成本的下文,而不是停在口号上。我们的承诺动作是,星巴克提供 RFI 文档之后,凯捷在两周内交付一份接口可拆解性评估和风险分级清单,把三十三个接口按物理拆和逻辑迁分类,标出真正高风险的关键路径项。后续配合上,我们会准备 Oracle 和 SAP 餐饮零售的案例材料包和 Global 分拆复盘,协调技术、数据、财务三个维度的专家,商务节奏完全按星巴克来、我们不催。这个承诺为什么有效,因为它低成本、可验证,而且直接打在星巴克最大的单点风险上,一次就能建立专业信任。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我用一句话收尾。汉得强在配软件,凯捷强在懂分拆;万店规模的餐饮零售 ERP 切换,我在麦当劳验证过一条铁律,稳永远比快值钱。我们要交付给星巴克的,不是一套 SAP 或者 Oracle,而是博裕入主之后,星巴克中国能够独立行军的技术底座。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给我们自己团队的现场分工和节奏安排,整场控制在三十五分钟。开场两分钟由负责人定调抛出核心主张;接下来十分钟,资深顾问讲第一、二幕;十二到二十分钟是第三幕,由具备麦当劳分拆背景的顾问主讲,这是本场主角;二十到二十八分钟,资深顾问和麦当劳背景顾问一起讲第四幕和解耦路线图,以及行业参照和财务方案的几页;二十八到三十一分钟,负责人讲下一步承诺;最后留四分钟问答。要特别提醒的是,采购部门本轮不参与,首轮聚焦背景与案例、建立信任,第三幕务必由麦当劳背景顾问主讲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857250"/>
            <a:ext cx="12858750" cy="7715250"/>
            <a:chOff x="0" y="-857250"/>
            <a:chExt cx="12858750" cy="7715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E6B4F">
                    <a:alpha val="28000"/>
                  </a:srgbClr>
                </a:gs>
                <a:gs pos="100000">
                  <a:srgbClr val="1E6B4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286750" y="-857250"/>
              <a:ext cx="4572000" cy="4572000"/>
            </a:xfrm>
            <a:prstGeom prst="ellipse">
              <a:avLst/>
            </a:pr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048750" y="-95250"/>
              <a:ext cx="3048000" cy="3048000"/>
            </a:xfrm>
            <a:prstGeom prst="ellipse">
              <a:avLst/>
            </a:prstGeom>
            <a:noFill/>
            <a:ln w="9525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66800" y="1866900"/>
            <a:ext cx="6839878" cy="1964531"/>
            <a:chOff x="1066800" y="1866900"/>
            <a:chExt cx="6839878" cy="1964531"/>
          </a:xfrm>
        </p:grpSpPr>
        <p:sp>
          <p:nvSpPr>
            <p:cNvPr id="8" name="Rectangle 8"/>
            <p:cNvSpPr/>
            <p:nvPr/>
          </p:nvSpPr>
          <p:spPr>
            <a:xfrm>
              <a:off x="1066800" y="1866900"/>
              <a:ext cx="114300" cy="186690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92555" y="1987868"/>
              <a:ext cx="4746719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星巴克中国 ERP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2555" y="2692718"/>
              <a:ext cx="47800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本地化拆分项目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5892" y="3480911"/>
              <a:ext cx="648078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不是换一套软件,是在高速行驶中换一台</a:t>
              </a:r>
              <a:r>
                <a:rPr lang="zh-CN" sz="17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能独立行军的引擎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31608" y="4111228"/>
            <a:ext cx="7527488" cy="1134666"/>
            <a:chOff x="1431608" y="4111228"/>
            <a:chExt cx="7527488" cy="1134666"/>
          </a:xfrm>
        </p:grpSpPr>
        <p:grpSp>
          <p:nvGrpSpPr>
            <p:cNvPr id="16" name="Group 16"/>
            <p:cNvGrpSpPr/>
            <p:nvPr/>
          </p:nvGrpSpPr>
          <p:grpSpPr>
            <a:xfrm>
              <a:off x="1463278" y="4111228"/>
              <a:ext cx="216693" cy="216694"/>
              <a:chOff x="1463278" y="4111228"/>
              <a:chExt cx="216693" cy="21669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63278" y="411122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30956"/>
                    </a:moveTo>
                    <a:cubicBezTo>
                      <a:pt x="61912" y="48053"/>
                      <a:pt x="48053" y="61912"/>
                      <a:pt x="30956" y="61912"/>
                    </a:cubicBezTo>
                    <a:cubicBezTo>
                      <a:pt x="13860" y="61912"/>
                      <a:pt x="0" y="48053"/>
                      <a:pt x="0" y="30956"/>
                    </a:cubicBez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618059" y="426600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30956"/>
                    </a:moveTo>
                    <a:cubicBezTo>
                      <a:pt x="61912" y="48053"/>
                      <a:pt x="48053" y="61912"/>
                      <a:pt x="30956" y="61912"/>
                    </a:cubicBezTo>
                    <a:cubicBezTo>
                      <a:pt x="13859" y="61912"/>
                      <a:pt x="0" y="48053"/>
                      <a:pt x="0" y="30956"/>
                    </a:cubicBezTo>
                    <a:cubicBezTo>
                      <a:pt x="0" y="13859"/>
                      <a:pt x="13859" y="0"/>
                      <a:pt x="30956" y="0"/>
                    </a:cubicBezTo>
                    <a:cubicBezTo>
                      <a:pt x="48053" y="0"/>
                      <a:pt x="61912" y="13859"/>
                      <a:pt x="61912" y="30956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478756" y="4111228"/>
                <a:ext cx="185738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16694">
                    <a:moveTo>
                      <a:pt x="108347" y="54173"/>
                    </a:moveTo>
                    <a:cubicBezTo>
                      <a:pt x="108347" y="41351"/>
                      <a:pt x="118742" y="30956"/>
                      <a:pt x="131564" y="30956"/>
                    </a:cubicBezTo>
                    <a:cubicBezTo>
                      <a:pt x="144386" y="30956"/>
                      <a:pt x="154781" y="41351"/>
                      <a:pt x="154781" y="54173"/>
                    </a:cubicBezTo>
                    <a:lnTo>
                      <a:pt x="154781" y="123825"/>
                    </a:lnTo>
                    <a:lnTo>
                      <a:pt x="185738" y="123825"/>
                    </a:lnTo>
                    <a:lnTo>
                      <a:pt x="185738" y="54173"/>
                    </a:lnTo>
                    <a:cubicBezTo>
                      <a:pt x="185738" y="24254"/>
                      <a:pt x="161483" y="0"/>
                      <a:pt x="131564" y="0"/>
                    </a:cubicBezTo>
                    <a:cubicBezTo>
                      <a:pt x="101645" y="0"/>
                      <a:pt x="77391" y="24254"/>
                      <a:pt x="77391" y="54173"/>
                    </a:cubicBezTo>
                    <a:lnTo>
                      <a:pt x="77391" y="162520"/>
                    </a:lnTo>
                    <a:cubicBezTo>
                      <a:pt x="77391" y="175342"/>
                      <a:pt x="66996" y="185738"/>
                      <a:pt x="54173" y="185738"/>
                    </a:cubicBezTo>
                    <a:cubicBezTo>
                      <a:pt x="41351" y="185738"/>
                      <a:pt x="30956" y="175342"/>
                      <a:pt x="30956" y="162520"/>
                    </a:cubicBezTo>
                    <a:lnTo>
                      <a:pt x="30956" y="92869"/>
                    </a:lnTo>
                    <a:lnTo>
                      <a:pt x="0" y="92869"/>
                    </a:lnTo>
                    <a:lnTo>
                      <a:pt x="0" y="162520"/>
                    </a:lnTo>
                    <a:cubicBezTo>
                      <a:pt x="0" y="192440"/>
                      <a:pt x="24254" y="216694"/>
                      <a:pt x="54173" y="216694"/>
                    </a:cubicBezTo>
                    <a:cubicBezTo>
                      <a:pt x="84093" y="216694"/>
                      <a:pt x="108347" y="192440"/>
                      <a:pt x="108347" y="162520"/>
                    </a:cubicBezTo>
                    <a:lnTo>
                      <a:pt x="108347" y="54173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792605" y="4150042"/>
              <a:ext cx="28705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5月18日 · 上海 · 首轮拜访汇报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447800" y="4552950"/>
              <a:ext cx="3048000" cy="28575"/>
            </a:xfrm>
            <a:prstGeom prst="rect">
              <a:avLst/>
            </a:prstGeom>
            <a:gradFill>
              <a:gsLst>
                <a:gs pos="0">
                  <a:srgbClr val="C8862E"/>
                </a:gs>
                <a:gs pos="100000">
                  <a:srgbClr val="C8862E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31608" y="4986814"/>
              <a:ext cx="75274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FB0C2"/>
                  </a:solidFill>
                  <a:latin typeface="Arial"/>
                  <a:ea typeface="Microsoft YaHei"/>
                  <a:cs typeface="Arial"/>
                </a:rPr>
                <a:t>汉得们比的是「配软件」 —— 凯捷比的是「在万店餐饮零售里,真正做过这台引擎拆分的人」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35418" y="6085999"/>
            <a:ext cx="42255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8095"/>
                </a:solidFill>
                <a:latin typeface="Arial"/>
                <a:ea typeface="Microsoft YaHei"/>
                <a:cs typeface="Arial"/>
              </a:rPr>
              <a:t>凯捷 Capgemini · 星巴克中国 ERP 本地化拆分项目 · 内部汇报材料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47662"/>
            <a:ext cx="4974015" cy="609600"/>
            <a:chOff x="581025" y="347662"/>
            <a:chExt cx="4974015" cy="60960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47662"/>
              <a:ext cx="497401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今天怎么讲 —— 一条故事线,五幕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743902"/>
              <a:ext cx="35691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不谈商务,只回答一个问题:为什么这件事该交给凯捷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028700"/>
            <a:ext cx="10972800" cy="876300"/>
            <a:chOff x="609600" y="1028700"/>
            <a:chExt cx="10972800" cy="876300"/>
          </a:xfrm>
        </p:grpSpPr>
        <p:sp>
          <p:nvSpPr>
            <p:cNvPr id="8" name="Rectangle 8"/>
            <p:cNvSpPr/>
            <p:nvPr/>
          </p:nvSpPr>
          <p:spPr>
            <a:xfrm>
              <a:off x="609600" y="1028700"/>
              <a:ext cx="10972800" cy="8763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1028700"/>
              <a:ext cx="57150" cy="87630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5" y="12773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核心主张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2605" y="1283018"/>
              <a:ext cx="75079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星巴克要的不是「换软件」,是博裕入主后,给中国区换上一台能独立行军的引擎。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95462" y="1593056"/>
              <a:ext cx="64611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竞争维度从「谁会配 SAP / Oracle」,切换到「谁真正做过万店餐饮零售的 ERP 分拆」。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05000" y="2724150"/>
            <a:ext cx="8315325" cy="1"/>
            <a:chOff x="1905000" y="2724150"/>
            <a:chExt cx="8315325" cy="1"/>
          </a:xfrm>
        </p:grpSpPr>
        <p:sp>
          <p:nvSpPr>
            <p:cNvPr id="14" name="Line 14"/>
            <p:cNvSpPr/>
            <p:nvPr/>
          </p:nvSpPr>
          <p:spPr>
            <a:xfrm>
              <a:off x="1905000" y="2724150"/>
              <a:ext cx="1543050" cy="1"/>
            </a:xfrm>
            <a:prstGeom prst="line">
              <a:avLst/>
            </a:prstGeom>
            <a:noFill/>
            <a:ln w="23812">
              <a:solidFill>
                <a:srgbClr val="C8862E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4162425" y="2724150"/>
              <a:ext cx="1543050" cy="1"/>
            </a:xfrm>
            <a:prstGeom prst="line">
              <a:avLst/>
            </a:prstGeom>
            <a:noFill/>
            <a:ln w="23812">
              <a:solidFill>
                <a:srgbClr val="C8862E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6419850" y="2724150"/>
              <a:ext cx="1543050" cy="1"/>
            </a:xfrm>
            <a:prstGeom prst="line">
              <a:avLst/>
            </a:prstGeom>
            <a:noFill/>
            <a:ln w="23812">
              <a:solidFill>
                <a:srgbClr val="C8862E"/>
              </a:solidFill>
              <a:tailEnd type="triangle" w="lg" len="lg"/>
            </a:ln>
          </p:spPr>
        </p:sp>
        <p:sp>
          <p:nvSpPr>
            <p:cNvPr id="17" name="Line 17"/>
            <p:cNvSpPr/>
            <p:nvPr/>
          </p:nvSpPr>
          <p:spPr>
            <a:xfrm>
              <a:off x="8677275" y="2724150"/>
              <a:ext cx="1543050" cy="1"/>
            </a:xfrm>
            <a:prstGeom prst="line">
              <a:avLst/>
            </a:prstGeom>
            <a:noFill/>
            <a:ln w="23812">
              <a:solidFill>
                <a:srgbClr val="C8862E"/>
              </a:solidFill>
              <a:tailEnd type="triangle" w="lg" len="lg"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09600" y="2400300"/>
            <a:ext cx="1943100" cy="3505200"/>
            <a:chOff x="609600" y="2400300"/>
            <a:chExt cx="1943100" cy="3505200"/>
          </a:xfrm>
        </p:grpSpPr>
        <p:sp>
          <p:nvSpPr>
            <p:cNvPr id="19" name="Ellipse 19"/>
            <p:cNvSpPr/>
            <p:nvPr/>
          </p:nvSpPr>
          <p:spPr>
            <a:xfrm>
              <a:off x="1257300" y="2400300"/>
              <a:ext cx="647700" cy="6477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6885" y="2615565"/>
              <a:ext cx="1285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3219450"/>
              <a:ext cx="1943100" cy="2686050"/>
            </a:xfrm>
            <a:prstGeom prst="roundRect">
              <a:avLst>
                <a:gd name="adj" fmla="val 49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3219450"/>
              <a:ext cx="1943100" cy="5715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38200" y="3583781"/>
              <a:ext cx="323850" cy="242888"/>
            </a:xfrm>
            <a:custGeom>
              <a:avLst/>
              <a:gdLst/>
              <a:ahLst/>
              <a:cxnLst/>
              <a:rect l="l" t="t" r="r" b="b"/>
              <a:pathLst>
                <a:path w="323850" h="242888">
                  <a:moveTo>
                    <a:pt x="0" y="121444"/>
                  </a:moveTo>
                  <a:lnTo>
                    <a:pt x="62330" y="46648"/>
                  </a:lnTo>
                  <a:cubicBezTo>
                    <a:pt x="86961" y="17090"/>
                    <a:pt x="123449" y="0"/>
                    <a:pt x="161925" y="0"/>
                  </a:cubicBezTo>
                  <a:cubicBezTo>
                    <a:pt x="200401" y="0"/>
                    <a:pt x="236888" y="17090"/>
                    <a:pt x="261521" y="46648"/>
                  </a:cubicBezTo>
                  <a:lnTo>
                    <a:pt x="323850" y="121444"/>
                  </a:lnTo>
                  <a:lnTo>
                    <a:pt x="261521" y="196239"/>
                  </a:lnTo>
                  <a:cubicBezTo>
                    <a:pt x="236888" y="225798"/>
                    <a:pt x="200401" y="242888"/>
                    <a:pt x="161925" y="242888"/>
                  </a:cubicBezTo>
                  <a:cubicBezTo>
                    <a:pt x="123449" y="242888"/>
                    <a:pt x="86961" y="225798"/>
                    <a:pt x="62330" y="196239"/>
                  </a:cubicBezTo>
                  <a:lnTo>
                    <a:pt x="0" y="121444"/>
                  </a:lnTo>
                  <a:close/>
                  <a:moveTo>
                    <a:pt x="161925" y="182166"/>
                  </a:moveTo>
                  <a:cubicBezTo>
                    <a:pt x="195461" y="182166"/>
                    <a:pt x="222647" y="154979"/>
                    <a:pt x="222647" y="121444"/>
                  </a:cubicBezTo>
                  <a:cubicBezTo>
                    <a:pt x="222647" y="87908"/>
                    <a:pt x="195461" y="60722"/>
                    <a:pt x="161925" y="60722"/>
                  </a:cubicBezTo>
                  <a:cubicBezTo>
                    <a:pt x="128389" y="60722"/>
                    <a:pt x="101203" y="87908"/>
                    <a:pt x="101203" y="121444"/>
                  </a:cubicBezTo>
                  <a:cubicBezTo>
                    <a:pt x="101203" y="154979"/>
                    <a:pt x="128389" y="182166"/>
                    <a:pt x="161925" y="182166"/>
                  </a:cubicBez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865" y="40967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第一幕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6292" y="4366736"/>
              <a:ext cx="110194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读懂处境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48015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带着对你架构的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4865" y="5030152"/>
              <a:ext cx="1031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判断来,不是来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4865" y="52587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听需求的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867025" y="2400300"/>
            <a:ext cx="1943100" cy="3505200"/>
            <a:chOff x="2867025" y="2400300"/>
            <a:chExt cx="1943100" cy="3505200"/>
          </a:xfrm>
        </p:grpSpPr>
        <p:sp>
          <p:nvSpPr>
            <p:cNvPr id="30" name="Ellipse 30"/>
            <p:cNvSpPr/>
            <p:nvPr/>
          </p:nvSpPr>
          <p:spPr>
            <a:xfrm>
              <a:off x="3514725" y="2400300"/>
              <a:ext cx="647700" cy="6477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39806" y="261556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867025" y="3219450"/>
              <a:ext cx="1943100" cy="2686050"/>
            </a:xfrm>
            <a:prstGeom prst="roundRect">
              <a:avLst>
                <a:gd name="adj" fmla="val 49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867025" y="3219450"/>
              <a:ext cx="1943100" cy="5715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095625" y="3543300"/>
              <a:ext cx="323850" cy="323850"/>
              <a:chOff x="3095625" y="3543300"/>
              <a:chExt cx="323850" cy="3238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3237309" y="3684984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20241"/>
                    </a:moveTo>
                    <a:cubicBezTo>
                      <a:pt x="40481" y="31419"/>
                      <a:pt x="31419" y="40481"/>
                      <a:pt x="20241" y="40481"/>
                    </a:cubicBezTo>
                    <a:cubicBezTo>
                      <a:pt x="9062" y="40481"/>
                      <a:pt x="0" y="31419"/>
                      <a:pt x="0" y="20241"/>
                    </a:cubicBezTo>
                    <a:cubicBezTo>
                      <a:pt x="0" y="9062"/>
                      <a:pt x="9062" y="0"/>
                      <a:pt x="20241" y="0"/>
                    </a:cubicBezTo>
                    <a:cubicBezTo>
                      <a:pt x="31419" y="0"/>
                      <a:pt x="40481" y="9062"/>
                      <a:pt x="40481" y="20241"/>
                    </a:cubicBezTo>
                    <a:close/>
                  </a:path>
                </a:pathLst>
              </a:custGeom>
              <a:solidFill>
                <a:srgbClr val="1E6B4F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095625" y="3543300"/>
                <a:ext cx="3238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23850">
                    <a:moveTo>
                      <a:pt x="182166" y="31908"/>
                    </a:moveTo>
                    <a:lnTo>
                      <a:pt x="182166" y="0"/>
                    </a:lnTo>
                    <a:lnTo>
                      <a:pt x="141684" y="0"/>
                    </a:lnTo>
                    <a:lnTo>
                      <a:pt x="141684" y="31908"/>
                    </a:lnTo>
                    <a:cubicBezTo>
                      <a:pt x="85231" y="40625"/>
                      <a:pt x="40625" y="85231"/>
                      <a:pt x="31908" y="141684"/>
                    </a:cubicBezTo>
                    <a:lnTo>
                      <a:pt x="0" y="141684"/>
                    </a:lnTo>
                    <a:lnTo>
                      <a:pt x="0" y="182166"/>
                    </a:lnTo>
                    <a:lnTo>
                      <a:pt x="31908" y="182166"/>
                    </a:lnTo>
                    <a:cubicBezTo>
                      <a:pt x="40625" y="238619"/>
                      <a:pt x="85231" y="283225"/>
                      <a:pt x="141684" y="291943"/>
                    </a:cubicBezTo>
                    <a:lnTo>
                      <a:pt x="141684" y="323850"/>
                    </a:lnTo>
                    <a:lnTo>
                      <a:pt x="182166" y="323850"/>
                    </a:lnTo>
                    <a:lnTo>
                      <a:pt x="182166" y="291943"/>
                    </a:lnTo>
                    <a:cubicBezTo>
                      <a:pt x="238619" y="283225"/>
                      <a:pt x="283225" y="238619"/>
                      <a:pt x="291943" y="182166"/>
                    </a:cubicBezTo>
                    <a:lnTo>
                      <a:pt x="323850" y="182166"/>
                    </a:lnTo>
                    <a:lnTo>
                      <a:pt x="323850" y="141684"/>
                    </a:lnTo>
                    <a:lnTo>
                      <a:pt x="291943" y="141684"/>
                    </a:lnTo>
                    <a:cubicBezTo>
                      <a:pt x="283225" y="85231"/>
                      <a:pt x="238619" y="40625"/>
                      <a:pt x="182166" y="31908"/>
                    </a:cubicBezTo>
                    <a:close/>
                    <a:moveTo>
                      <a:pt x="141684" y="73099"/>
                    </a:moveTo>
                    <a:lnTo>
                      <a:pt x="141684" y="101203"/>
                    </a:lnTo>
                    <a:lnTo>
                      <a:pt x="182166" y="101203"/>
                    </a:lnTo>
                    <a:lnTo>
                      <a:pt x="182166" y="73099"/>
                    </a:lnTo>
                    <a:cubicBezTo>
                      <a:pt x="216218" y="80826"/>
                      <a:pt x="243023" y="107632"/>
                      <a:pt x="250751" y="141684"/>
                    </a:cubicBezTo>
                    <a:lnTo>
                      <a:pt x="222647" y="141684"/>
                    </a:lnTo>
                    <a:lnTo>
                      <a:pt x="222647" y="182166"/>
                    </a:lnTo>
                    <a:lnTo>
                      <a:pt x="250751" y="182166"/>
                    </a:lnTo>
                    <a:cubicBezTo>
                      <a:pt x="243023" y="216218"/>
                      <a:pt x="216218" y="243023"/>
                      <a:pt x="182166" y="250751"/>
                    </a:cubicBezTo>
                    <a:lnTo>
                      <a:pt x="182166" y="222647"/>
                    </a:lnTo>
                    <a:lnTo>
                      <a:pt x="141684" y="222647"/>
                    </a:lnTo>
                    <a:lnTo>
                      <a:pt x="141684" y="250751"/>
                    </a:lnTo>
                    <a:cubicBezTo>
                      <a:pt x="107632" y="243023"/>
                      <a:pt x="80826" y="216218"/>
                      <a:pt x="73099" y="182166"/>
                    </a:cubicBezTo>
                    <a:lnTo>
                      <a:pt x="101203" y="182166"/>
                    </a:lnTo>
                    <a:lnTo>
                      <a:pt x="101203" y="141684"/>
                    </a:lnTo>
                    <a:lnTo>
                      <a:pt x="73099" y="141684"/>
                    </a:lnTo>
                    <a:cubicBezTo>
                      <a:pt x="80826" y="107632"/>
                      <a:pt x="107632" y="80826"/>
                      <a:pt x="141684" y="73099"/>
                    </a:cubicBezTo>
                    <a:close/>
                  </a:path>
                </a:pathLst>
              </a:custGeom>
              <a:solidFill>
                <a:srgbClr val="1E6B4F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082290" y="40967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第二幕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73718" y="4366736"/>
              <a:ext cx="136648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点破真难点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2290" y="48015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这是「分拆」项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82290" y="50301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目,不是「实施」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82290" y="52587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项目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124450" y="2400300"/>
            <a:ext cx="1943100" cy="3505200"/>
            <a:chOff x="5124450" y="2400300"/>
            <a:chExt cx="1943100" cy="3505200"/>
          </a:xfrm>
        </p:grpSpPr>
        <p:sp>
          <p:nvSpPr>
            <p:cNvPr id="43" name="Ellipse 43"/>
            <p:cNvSpPr/>
            <p:nvPr/>
          </p:nvSpPr>
          <p:spPr>
            <a:xfrm>
              <a:off x="5772150" y="2400300"/>
              <a:ext cx="647700" cy="6477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97231" y="261556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24450" y="3219450"/>
              <a:ext cx="1943100" cy="2686050"/>
            </a:xfrm>
            <a:prstGeom prst="roundRect">
              <a:avLst>
                <a:gd name="adj" fmla="val 49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24450" y="3219450"/>
              <a:ext cx="1943100" cy="571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5353050" y="35433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80962" y="0"/>
                  </a:moveTo>
                  <a:lnTo>
                    <a:pt x="242888" y="0"/>
                  </a:lnTo>
                  <a:lnTo>
                    <a:pt x="242888" y="40481"/>
                  </a:lnTo>
                  <a:lnTo>
                    <a:pt x="323850" y="40481"/>
                  </a:lnTo>
                  <a:lnTo>
                    <a:pt x="323850" y="80962"/>
                  </a:lnTo>
                  <a:cubicBezTo>
                    <a:pt x="323850" y="130682"/>
                    <a:pt x="287996" y="172027"/>
                    <a:pt x="240734" y="180554"/>
                  </a:cubicBezTo>
                  <a:cubicBezTo>
                    <a:pt x="233854" y="209768"/>
                    <a:pt x="211150" y="232876"/>
                    <a:pt x="182166" y="240337"/>
                  </a:cubicBezTo>
                  <a:lnTo>
                    <a:pt x="182166" y="283369"/>
                  </a:lnTo>
                  <a:lnTo>
                    <a:pt x="242888" y="283369"/>
                  </a:lnTo>
                  <a:lnTo>
                    <a:pt x="242888" y="323850"/>
                  </a:lnTo>
                  <a:lnTo>
                    <a:pt x="80962" y="323850"/>
                  </a:lnTo>
                  <a:lnTo>
                    <a:pt x="80962" y="283369"/>
                  </a:lnTo>
                  <a:lnTo>
                    <a:pt x="141684" y="283369"/>
                  </a:lnTo>
                  <a:lnTo>
                    <a:pt x="141684" y="240337"/>
                  </a:lnTo>
                  <a:cubicBezTo>
                    <a:pt x="112699" y="232876"/>
                    <a:pt x="89995" y="209768"/>
                    <a:pt x="83116" y="180554"/>
                  </a:cubicBezTo>
                  <a:cubicBezTo>
                    <a:pt x="35853" y="172027"/>
                    <a:pt x="0" y="130682"/>
                    <a:pt x="0" y="80962"/>
                  </a:cubicBezTo>
                  <a:lnTo>
                    <a:pt x="0" y="40481"/>
                  </a:lnTo>
                  <a:lnTo>
                    <a:pt x="80962" y="40481"/>
                  </a:lnTo>
                  <a:lnTo>
                    <a:pt x="80962" y="0"/>
                  </a:lnTo>
                  <a:close/>
                  <a:moveTo>
                    <a:pt x="242888" y="138229"/>
                  </a:moveTo>
                  <a:lnTo>
                    <a:pt x="242888" y="80962"/>
                  </a:lnTo>
                  <a:lnTo>
                    <a:pt x="283369" y="80962"/>
                  </a:lnTo>
                  <a:cubicBezTo>
                    <a:pt x="283369" y="107401"/>
                    <a:pt x="266472" y="129893"/>
                    <a:pt x="242888" y="138229"/>
                  </a:cubicBezTo>
                  <a:close/>
                  <a:moveTo>
                    <a:pt x="80962" y="80962"/>
                  </a:moveTo>
                  <a:lnTo>
                    <a:pt x="40481" y="80962"/>
                  </a:lnTo>
                  <a:cubicBezTo>
                    <a:pt x="40481" y="107401"/>
                    <a:pt x="57378" y="129893"/>
                    <a:pt x="80962" y="138229"/>
                  </a:cubicBezTo>
                  <a:lnTo>
                    <a:pt x="80962" y="80962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339715" y="40967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第三幕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31142" y="4366736"/>
              <a:ext cx="110194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我们做过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39715" y="480155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麦当劳 / 伊利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39715" y="503015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—— 同一道题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39715" y="52587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的答卷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381875" y="2400300"/>
            <a:ext cx="1943100" cy="3505200"/>
            <a:chOff x="7381875" y="2400300"/>
            <a:chExt cx="1943100" cy="3505200"/>
          </a:xfrm>
        </p:grpSpPr>
        <p:sp>
          <p:nvSpPr>
            <p:cNvPr id="54" name="Ellipse 54"/>
            <p:cNvSpPr/>
            <p:nvPr/>
          </p:nvSpPr>
          <p:spPr>
            <a:xfrm>
              <a:off x="8029575" y="2400300"/>
              <a:ext cx="647700" cy="6477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54656" y="261556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381875" y="3219450"/>
              <a:ext cx="1943100" cy="2686050"/>
            </a:xfrm>
            <a:prstGeom prst="roundRect">
              <a:avLst>
                <a:gd name="adj" fmla="val 49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81875" y="3219450"/>
              <a:ext cx="1943100" cy="5715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630716" y="3543300"/>
              <a:ext cx="283369" cy="323850"/>
            </a:xfrm>
            <a:custGeom>
              <a:avLst/>
              <a:gdLst/>
              <a:ahLst/>
              <a:cxnLst/>
              <a:rect l="l" t="t" r="r" b="b"/>
              <a:pathLst>
                <a:path w="283369" h="323850">
                  <a:moveTo>
                    <a:pt x="141684" y="323850"/>
                  </a:moveTo>
                  <a:lnTo>
                    <a:pt x="67808" y="271081"/>
                  </a:lnTo>
                  <a:cubicBezTo>
                    <a:pt x="25255" y="240685"/>
                    <a:pt x="0" y="191611"/>
                    <a:pt x="0" y="139317"/>
                  </a:cubicBezTo>
                  <a:lnTo>
                    <a:pt x="0" y="60722"/>
                  </a:lnTo>
                  <a:lnTo>
                    <a:pt x="141684" y="0"/>
                  </a:lnTo>
                  <a:lnTo>
                    <a:pt x="283369" y="60722"/>
                  </a:lnTo>
                  <a:lnTo>
                    <a:pt x="283369" y="139317"/>
                  </a:lnTo>
                  <a:cubicBezTo>
                    <a:pt x="283369" y="191611"/>
                    <a:pt x="258115" y="240685"/>
                    <a:pt x="215561" y="271081"/>
                  </a:cubicBezTo>
                  <a:lnTo>
                    <a:pt x="141684" y="323850"/>
                  </a:lnTo>
                  <a:close/>
                  <a:moveTo>
                    <a:pt x="226839" y="115515"/>
                  </a:moveTo>
                  <a:lnTo>
                    <a:pt x="198214" y="86891"/>
                  </a:lnTo>
                  <a:lnTo>
                    <a:pt x="121444" y="163661"/>
                  </a:lnTo>
                  <a:lnTo>
                    <a:pt x="85155" y="127372"/>
                  </a:lnTo>
                  <a:lnTo>
                    <a:pt x="56530" y="155997"/>
                  </a:lnTo>
                  <a:lnTo>
                    <a:pt x="121444" y="220910"/>
                  </a:lnTo>
                  <a:lnTo>
                    <a:pt x="226839" y="115515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97140" y="40967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第四幕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88568" y="4366736"/>
              <a:ext cx="136648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怎么控风险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97140" y="480155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分阶段解耦 +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97140" y="503015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解耦路线图 +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97140" y="52587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过渡层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639300" y="2400300"/>
            <a:ext cx="1943100" cy="3505200"/>
            <a:chOff x="9639300" y="2400300"/>
            <a:chExt cx="1943100" cy="3505200"/>
          </a:xfrm>
        </p:grpSpPr>
        <p:sp>
          <p:nvSpPr>
            <p:cNvPr id="65" name="Ellipse 65"/>
            <p:cNvSpPr/>
            <p:nvPr/>
          </p:nvSpPr>
          <p:spPr>
            <a:xfrm>
              <a:off x="10287000" y="2400300"/>
              <a:ext cx="647700" cy="647700"/>
            </a:xfrm>
            <a:prstGeom prst="ellipse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512081" y="261556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639300" y="3219450"/>
              <a:ext cx="1943100" cy="2686050"/>
            </a:xfrm>
            <a:prstGeom prst="roundRect">
              <a:avLst>
                <a:gd name="adj" fmla="val 49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639300" y="3219450"/>
              <a:ext cx="1943100" cy="5715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9888141" y="3563541"/>
              <a:ext cx="283369" cy="303609"/>
            </a:xfrm>
            <a:custGeom>
              <a:avLst/>
              <a:gdLst/>
              <a:ahLst/>
              <a:cxnLst/>
              <a:rect l="l" t="t" r="r" b="b"/>
              <a:pathLst>
                <a:path w="283369" h="303609">
                  <a:moveTo>
                    <a:pt x="0" y="0"/>
                  </a:moveTo>
                  <a:lnTo>
                    <a:pt x="0" y="303609"/>
                  </a:lnTo>
                  <a:lnTo>
                    <a:pt x="40481" y="303609"/>
                  </a:lnTo>
                  <a:lnTo>
                    <a:pt x="40481" y="182166"/>
                  </a:lnTo>
                  <a:lnTo>
                    <a:pt x="121444" y="182166"/>
                  </a:lnTo>
                  <a:lnTo>
                    <a:pt x="161925" y="222647"/>
                  </a:lnTo>
                  <a:lnTo>
                    <a:pt x="283369" y="222647"/>
                  </a:lnTo>
                  <a:lnTo>
                    <a:pt x="283369" y="40481"/>
                  </a:lnTo>
                  <a:lnTo>
                    <a:pt x="161925" y="40481"/>
                  </a:lnTo>
                  <a:lnTo>
                    <a:pt x="1214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854565" y="40967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第五幕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45992" y="4366736"/>
              <a:ext cx="83741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54565" y="480155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一个 2 周可交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54565" y="5030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付的具体承诺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97218" y="6324600"/>
            <a:ext cx="10995659" cy="302419"/>
            <a:chOff x="597218" y="6324600"/>
            <a:chExt cx="10995659" cy="302419"/>
          </a:xfrm>
        </p:grpSpPr>
        <p:sp>
          <p:nvSpPr>
            <p:cNvPr id="75" name="Line 75"/>
            <p:cNvSpPr/>
            <p:nvPr/>
          </p:nvSpPr>
          <p:spPr>
            <a:xfrm>
              <a:off x="609600" y="632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0E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7218" y="6428899"/>
              <a:ext cx="46456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汇报节奏 · 开场 2′ → 一二幕 10′ → 三幕 8′ → 四幕 8′ → 五幕 3′ → Q&amp;A 4′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70617" y="64450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9" grpId="0"/>
      <p:bldP spid="42" grpId="0"/>
      <p:bldP spid="53" grpId="0"/>
      <p:bldP spid="64" grpId="0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6216170" cy="590550"/>
            <a:chOff x="581025" y="309562"/>
            <a:chExt cx="6216170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621617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第一幕 · 读懂处境 —— 这件事到底难在哪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2718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用星巴克自己的事实证明:我们做过功课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61425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难点不是选型,是「高速换引擎」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2026/4/1 交割,业务一天不能停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5312" y="1650206"/>
            <a:ext cx="6681788" cy="3855244"/>
            <a:chOff x="595312" y="1650206"/>
            <a:chExt cx="6681788" cy="3855244"/>
          </a:xfrm>
        </p:grpSpPr>
        <p:sp>
          <p:nvSpPr>
            <p:cNvPr id="12" name="TextBox 12"/>
            <p:cNvSpPr txBox="1"/>
            <p:nvPr/>
          </p:nvSpPr>
          <p:spPr>
            <a:xfrm>
              <a:off x="595312" y="1650206"/>
              <a:ext cx="24697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三个结构性约束 + 一道数据缺口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1943100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F1F3F5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95325" y="2028825"/>
              <a:ext cx="285750" cy="285750"/>
              <a:chOff x="695325" y="2028825"/>
              <a:chExt cx="285750" cy="285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84622" y="2028825"/>
                <a:ext cx="196453" cy="196453"/>
              </a:xfrm>
              <a:custGeom>
                <a:avLst/>
                <a:gdLst/>
                <a:ahLst/>
                <a:cxnLst/>
                <a:rect l="l" t="t" r="r" b="b"/>
                <a:pathLst>
                  <a:path w="196453" h="196453">
                    <a:moveTo>
                      <a:pt x="36616" y="27424"/>
                    </a:moveTo>
                    <a:cubicBezTo>
                      <a:pt x="54175" y="9865"/>
                      <a:pt x="77990" y="0"/>
                      <a:pt x="102824" y="0"/>
                    </a:cubicBezTo>
                    <a:cubicBezTo>
                      <a:pt x="154534" y="0"/>
                      <a:pt x="196453" y="41920"/>
                      <a:pt x="196453" y="93630"/>
                    </a:cubicBezTo>
                    <a:cubicBezTo>
                      <a:pt x="196453" y="118463"/>
                      <a:pt x="186589" y="142278"/>
                      <a:pt x="169030" y="159837"/>
                    </a:cubicBezTo>
                    <a:lnTo>
                      <a:pt x="132413" y="196453"/>
                    </a:lnTo>
                    <a:lnTo>
                      <a:pt x="107156" y="171196"/>
                    </a:lnTo>
                    <a:lnTo>
                      <a:pt x="143773" y="134580"/>
                    </a:lnTo>
                    <a:cubicBezTo>
                      <a:pt x="154634" y="123719"/>
                      <a:pt x="160734" y="108989"/>
                      <a:pt x="160734" y="93630"/>
                    </a:cubicBezTo>
                    <a:cubicBezTo>
                      <a:pt x="160734" y="61647"/>
                      <a:pt x="134806" y="35719"/>
                      <a:pt x="102824" y="35719"/>
                    </a:cubicBezTo>
                    <a:cubicBezTo>
                      <a:pt x="87464" y="35719"/>
                      <a:pt x="72734" y="41820"/>
                      <a:pt x="61873" y="52681"/>
                    </a:cubicBezTo>
                    <a:lnTo>
                      <a:pt x="25257" y="89297"/>
                    </a:lnTo>
                    <a:lnTo>
                      <a:pt x="0" y="64040"/>
                    </a:lnTo>
                    <a:lnTo>
                      <a:pt x="36616" y="27424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95325" y="2118122"/>
                <a:ext cx="196453" cy="196453"/>
              </a:xfrm>
              <a:custGeom>
                <a:avLst/>
                <a:gdLst/>
                <a:ahLst/>
                <a:cxnLst/>
                <a:rect l="l" t="t" r="r" b="b"/>
                <a:pathLst>
                  <a:path w="196453" h="196453">
                    <a:moveTo>
                      <a:pt x="134580" y="143773"/>
                    </a:moveTo>
                    <a:lnTo>
                      <a:pt x="171196" y="107156"/>
                    </a:lnTo>
                    <a:lnTo>
                      <a:pt x="196453" y="132413"/>
                    </a:lnTo>
                    <a:lnTo>
                      <a:pt x="159837" y="169030"/>
                    </a:lnTo>
                    <a:cubicBezTo>
                      <a:pt x="142278" y="186589"/>
                      <a:pt x="118463" y="196453"/>
                      <a:pt x="93630" y="196453"/>
                    </a:cubicBezTo>
                    <a:cubicBezTo>
                      <a:pt x="41920" y="196453"/>
                      <a:pt x="0" y="154534"/>
                      <a:pt x="0" y="102824"/>
                    </a:cubicBezTo>
                    <a:cubicBezTo>
                      <a:pt x="0" y="77991"/>
                      <a:pt x="9865" y="54175"/>
                      <a:pt x="27424" y="36616"/>
                    </a:cubicBezTo>
                    <a:lnTo>
                      <a:pt x="64040" y="0"/>
                    </a:lnTo>
                    <a:lnTo>
                      <a:pt x="89297" y="25257"/>
                    </a:lnTo>
                    <a:lnTo>
                      <a:pt x="52681" y="61873"/>
                    </a:lnTo>
                    <a:cubicBezTo>
                      <a:pt x="41820" y="72734"/>
                      <a:pt x="35719" y="87464"/>
                      <a:pt x="35719" y="102824"/>
                    </a:cubicBezTo>
                    <a:cubicBezTo>
                      <a:pt x="35719" y="134806"/>
                      <a:pt x="61647" y="160734"/>
                      <a:pt x="93630" y="160734"/>
                    </a:cubicBezTo>
                    <a:cubicBezTo>
                      <a:pt x="108989" y="160734"/>
                      <a:pt x="123719" y="154634"/>
                      <a:pt x="134580" y="143773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1993" y="2105493"/>
                <a:ext cx="132413" cy="132413"/>
              </a:xfrm>
              <a:custGeom>
                <a:avLst/>
                <a:gdLst/>
                <a:ahLst/>
                <a:cxnLst/>
                <a:rect l="l" t="t" r="r" b="b"/>
                <a:pathLst>
                  <a:path w="132413" h="132413">
                    <a:moveTo>
                      <a:pt x="25257" y="132413"/>
                    </a:moveTo>
                    <a:lnTo>
                      <a:pt x="132413" y="25257"/>
                    </a:lnTo>
                    <a:lnTo>
                      <a:pt x="107156" y="0"/>
                    </a:lnTo>
                    <a:lnTo>
                      <a:pt x="0" y="107156"/>
                    </a:lnTo>
                    <a:lnTo>
                      <a:pt x="25257" y="132413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21105" y="2006918"/>
              <a:ext cx="17836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共用一个 Instance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24915" y="2267902"/>
              <a:ext cx="3722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EBS 与北美共用同一 Instance —— 拆的是一对「连体」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571750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F1F3F5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95325" y="2672809"/>
              <a:ext cx="285750" cy="255082"/>
              <a:chOff x="695325" y="2672809"/>
              <a:chExt cx="285750" cy="25508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02661" y="2672809"/>
                <a:ext cx="71079" cy="255082"/>
              </a:xfrm>
              <a:custGeom>
                <a:avLst/>
                <a:gdLst/>
                <a:ahLst/>
                <a:cxnLst/>
                <a:rect l="l" t="t" r="r" b="b"/>
                <a:pathLst>
                  <a:path w="71079" h="255082">
                    <a:moveTo>
                      <a:pt x="35719" y="0"/>
                    </a:moveTo>
                    <a:lnTo>
                      <a:pt x="0" y="250032"/>
                    </a:lnTo>
                    <a:lnTo>
                      <a:pt x="35360" y="255082"/>
                    </a:lnTo>
                    <a:lnTo>
                      <a:pt x="71079" y="5051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93310" y="2737842"/>
                <a:ext cx="87765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87765" h="125016">
                    <a:moveTo>
                      <a:pt x="25257" y="125016"/>
                    </a:moveTo>
                    <a:lnTo>
                      <a:pt x="0" y="99759"/>
                    </a:lnTo>
                    <a:lnTo>
                      <a:pt x="37251" y="62508"/>
                    </a:lnTo>
                    <a:lnTo>
                      <a:pt x="0" y="25257"/>
                    </a:lnTo>
                    <a:lnTo>
                      <a:pt x="25257" y="0"/>
                    </a:lnTo>
                    <a:lnTo>
                      <a:pt x="87765" y="62508"/>
                    </a:lnTo>
                    <a:lnTo>
                      <a:pt x="25257" y="125016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5325" y="2737842"/>
                <a:ext cx="87765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87765" h="125016">
                    <a:moveTo>
                      <a:pt x="50514" y="62508"/>
                    </a:moveTo>
                    <a:lnTo>
                      <a:pt x="87765" y="99759"/>
                    </a:lnTo>
                    <a:lnTo>
                      <a:pt x="62508" y="125016"/>
                    </a:lnTo>
                    <a:lnTo>
                      <a:pt x="0" y="62508"/>
                    </a:lnTo>
                    <a:lnTo>
                      <a:pt x="62508" y="0"/>
                    </a:lnTo>
                    <a:lnTo>
                      <a:pt x="87765" y="25257"/>
                    </a:lnTo>
                    <a:lnTo>
                      <a:pt x="50514" y="62508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21105" y="2635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美方不给代码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24915" y="2896552"/>
              <a:ext cx="46732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仅提供 EBS 端口技术文档,不给克隆 —— 不能 lift-and-shift,要重建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" y="3200400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95325" y="3286125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96453" y="107156"/>
                  </a:moveTo>
                  <a:cubicBezTo>
                    <a:pt x="226044" y="107156"/>
                    <a:pt x="250031" y="83168"/>
                    <a:pt x="250031" y="53578"/>
                  </a:cubicBezTo>
                  <a:cubicBezTo>
                    <a:pt x="250031" y="23988"/>
                    <a:pt x="226044" y="0"/>
                    <a:pt x="196453" y="0"/>
                  </a:cubicBezTo>
                  <a:cubicBezTo>
                    <a:pt x="166863" y="0"/>
                    <a:pt x="142875" y="23988"/>
                    <a:pt x="142875" y="53578"/>
                  </a:cubicBezTo>
                  <a:cubicBezTo>
                    <a:pt x="142875" y="57573"/>
                    <a:pt x="143312" y="61466"/>
                    <a:pt x="144142" y="65212"/>
                  </a:cubicBezTo>
                  <a:lnTo>
                    <a:pt x="86950" y="100957"/>
                  </a:lnTo>
                  <a:cubicBezTo>
                    <a:pt x="77795" y="93659"/>
                    <a:pt x="66196" y="89297"/>
                    <a:pt x="53578" y="89297"/>
                  </a:cubicBezTo>
                  <a:cubicBezTo>
                    <a:pt x="23988" y="89297"/>
                    <a:pt x="0" y="113285"/>
                    <a:pt x="0" y="142875"/>
                  </a:cubicBezTo>
                  <a:cubicBezTo>
                    <a:pt x="0" y="172465"/>
                    <a:pt x="23988" y="196453"/>
                    <a:pt x="53578" y="196453"/>
                  </a:cubicBezTo>
                  <a:cubicBezTo>
                    <a:pt x="66196" y="196453"/>
                    <a:pt x="77795" y="192092"/>
                    <a:pt x="86950" y="184793"/>
                  </a:cubicBezTo>
                  <a:lnTo>
                    <a:pt x="144142" y="220538"/>
                  </a:lnTo>
                  <a:cubicBezTo>
                    <a:pt x="143312" y="224283"/>
                    <a:pt x="142875" y="228177"/>
                    <a:pt x="142875" y="232172"/>
                  </a:cubicBezTo>
                  <a:cubicBezTo>
                    <a:pt x="142875" y="261763"/>
                    <a:pt x="166863" y="285750"/>
                    <a:pt x="196453" y="285750"/>
                  </a:cubicBezTo>
                  <a:cubicBezTo>
                    <a:pt x="226044" y="285750"/>
                    <a:pt x="250031" y="261763"/>
                    <a:pt x="250031" y="232172"/>
                  </a:cubicBezTo>
                  <a:cubicBezTo>
                    <a:pt x="250031" y="202581"/>
                    <a:pt x="226044" y="178594"/>
                    <a:pt x="196453" y="178594"/>
                  </a:cubicBezTo>
                  <a:cubicBezTo>
                    <a:pt x="183835" y="178594"/>
                    <a:pt x="172236" y="182955"/>
                    <a:pt x="163081" y="190254"/>
                  </a:cubicBezTo>
                  <a:lnTo>
                    <a:pt x="105890" y="154509"/>
                  </a:lnTo>
                  <a:cubicBezTo>
                    <a:pt x="106719" y="150763"/>
                    <a:pt x="107156" y="146870"/>
                    <a:pt x="107156" y="142875"/>
                  </a:cubicBezTo>
                  <a:cubicBezTo>
                    <a:pt x="107156" y="138880"/>
                    <a:pt x="106719" y="134987"/>
                    <a:pt x="105890" y="131241"/>
                  </a:cubicBezTo>
                  <a:lnTo>
                    <a:pt x="163081" y="95496"/>
                  </a:lnTo>
                  <a:cubicBezTo>
                    <a:pt x="172236" y="102794"/>
                    <a:pt x="183835" y="107156"/>
                    <a:pt x="196453" y="107156"/>
                  </a:cubicBez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21105" y="32642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接口靠文档反推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4915" y="3525202"/>
              <a:ext cx="5516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 xml:space="preserve">11 Inbound + 22 Outbound 逻辑只能靠 RFI 文档还原 —— </a:t>
              </a:r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文档质量 = 最大单点风险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3829050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95325" y="39147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60734" y="285750"/>
                  </a:moveTo>
                  <a:lnTo>
                    <a:pt x="125016" y="285750"/>
                  </a:lnTo>
                  <a:lnTo>
                    <a:pt x="0" y="160734"/>
                  </a:lnTo>
                  <a:lnTo>
                    <a:pt x="0" y="125016"/>
                  </a:lnTo>
                  <a:lnTo>
                    <a:pt x="125016" y="0"/>
                  </a:lnTo>
                  <a:lnTo>
                    <a:pt x="160734" y="0"/>
                  </a:lnTo>
                  <a:lnTo>
                    <a:pt x="285750" y="125016"/>
                  </a:lnTo>
                  <a:lnTo>
                    <a:pt x="285750" y="160734"/>
                  </a:lnTo>
                  <a:lnTo>
                    <a:pt x="160734" y="285750"/>
                  </a:lnTo>
                  <a:close/>
                  <a:moveTo>
                    <a:pt x="125016" y="53578"/>
                  </a:moveTo>
                  <a:lnTo>
                    <a:pt x="125016" y="160734"/>
                  </a:lnTo>
                  <a:lnTo>
                    <a:pt x="160734" y="160734"/>
                  </a:lnTo>
                  <a:lnTo>
                    <a:pt x="160734" y="53578"/>
                  </a:lnTo>
                  <a:lnTo>
                    <a:pt x="125016" y="53578"/>
                  </a:lnTo>
                  <a:close/>
                  <a:moveTo>
                    <a:pt x="125016" y="196453"/>
                  </a:moveTo>
                  <a:lnTo>
                    <a:pt x="125016" y="232172"/>
                  </a:lnTo>
                  <a:lnTo>
                    <a:pt x="160734" y="232172"/>
                  </a:lnTo>
                  <a:lnTo>
                    <a:pt x="160734" y="196453"/>
                  </a:lnTo>
                  <a:lnTo>
                    <a:pt x="125016" y="196453"/>
                  </a:lnTo>
                  <a:close/>
                </a:path>
              </a:pathLst>
            </a:custGeom>
            <a:solidFill>
              <a:srgbClr val="B0392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21105" y="38928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数据合规缺口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4915" y="4153852"/>
              <a:ext cx="3875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现有系统仅覆盖至 2013 年,审计保留期需与财务核实口径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4629150"/>
              <a:ext cx="6667500" cy="876300"/>
            </a:xfrm>
            <a:prstGeom prst="roundRect">
              <a:avLst>
                <a:gd name="adj" fmla="val 869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462915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1060" y="4842510"/>
              <a:ext cx="40513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这不是一次切换,是「解耦 — 过渡 — 重连」三步走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2965" y="5144452"/>
              <a:ext cx="5363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所以我们今天讲的是「方法」,不是「卖货」 —— 先把处境读对,方案才立得住。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96200" y="1619250"/>
            <a:ext cx="3886200" cy="3886200"/>
            <a:chOff x="7696200" y="1619250"/>
            <a:chExt cx="3886200" cy="3886200"/>
          </a:xfrm>
        </p:grpSpPr>
        <p:sp>
          <p:nvSpPr>
            <p:cNvPr id="40" name="Rectangle 40"/>
            <p:cNvSpPr/>
            <p:nvPr/>
          </p:nvSpPr>
          <p:spPr>
            <a:xfrm>
              <a:off x="7696200" y="1619250"/>
              <a:ext cx="3886200" cy="3886200"/>
            </a:xfrm>
            <a:prstGeom prst="roundRect">
              <a:avLst>
                <a:gd name="adj" fmla="val 2451"/>
              </a:avLst>
            </a:prstGeom>
            <a:solidFill>
              <a:srgbClr val="FFFFFF"/>
            </a:solidFill>
            <a:ln w="19050">
              <a:solidFill>
                <a:srgbClr val="1E6B4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96200" y="1619250"/>
              <a:ext cx="3886200" cy="438150"/>
            </a:xfrm>
            <a:prstGeom prst="roundRect">
              <a:avLst>
                <a:gd name="adj" fmla="val 21739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96200" y="1905000"/>
              <a:ext cx="3886200" cy="15240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902178" y="1714500"/>
              <a:ext cx="216694" cy="247650"/>
            </a:xfrm>
            <a:custGeom>
              <a:avLst/>
              <a:gdLst/>
              <a:ahLst/>
              <a:cxnLst/>
              <a:rect l="l" t="t" r="r" b="b"/>
              <a:pathLst>
                <a:path w="216694" h="247650">
                  <a:moveTo>
                    <a:pt x="51853" y="207297"/>
                  </a:moveTo>
                  <a:lnTo>
                    <a:pt x="108347" y="247650"/>
                  </a:lnTo>
                  <a:lnTo>
                    <a:pt x="164840" y="207297"/>
                  </a:lnTo>
                  <a:cubicBezTo>
                    <a:pt x="197382" y="184053"/>
                    <a:pt x="216694" y="146526"/>
                    <a:pt x="216694" y="106537"/>
                  </a:cubicBezTo>
                  <a:lnTo>
                    <a:pt x="216694" y="46434"/>
                  </a:lnTo>
                  <a:lnTo>
                    <a:pt x="108347" y="0"/>
                  </a:lnTo>
                  <a:lnTo>
                    <a:pt x="0" y="46434"/>
                  </a:lnTo>
                  <a:lnTo>
                    <a:pt x="0" y="106537"/>
                  </a:lnTo>
                  <a:cubicBezTo>
                    <a:pt x="0" y="146526"/>
                    <a:pt x="19313" y="184053"/>
                    <a:pt x="51853" y="207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31505" y="175926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我们也读懂了「边界」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10512" y="233600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本次切割范围内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11465" y="2629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· ERP(EBS 核心)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11465" y="287750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· Hyperion 报表合并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11465" y="3125152"/>
              <a:ext cx="13685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· Anaplan 全面预算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1465" y="3372802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· 主数据 HUB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924800" y="38862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DDE0E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10512" y="4088606"/>
              <a:ext cx="142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明确不碰(范围外)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11465" y="4382452"/>
              <a:ext cx="15525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· 租赁系统(本次不动)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11465" y="4630102"/>
              <a:ext cx="19589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· BOH 微软系统(2028 另换)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11465" y="4877752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· Rainbow 销售预测算法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696200" y="5200650"/>
              <a:ext cx="3886200" cy="304800"/>
            </a:xfrm>
            <a:prstGeom prst="rect">
              <a:avLst/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86748" y="5287328"/>
              <a:ext cx="23051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主动讲清边界 = 懂分寸、不贪大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9600" y="5715000"/>
            <a:ext cx="10972800" cy="533400"/>
            <a:chOff x="609600" y="5715000"/>
            <a:chExt cx="10972800" cy="533400"/>
          </a:xfrm>
        </p:grpSpPr>
        <p:sp>
          <p:nvSpPr>
            <p:cNvPr id="58" name="Rectangle 58"/>
            <p:cNvSpPr/>
            <p:nvPr/>
          </p:nvSpPr>
          <p:spPr>
            <a:xfrm>
              <a:off x="609600" y="5715000"/>
              <a:ext cx="10972800" cy="5334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537612" y="5902642"/>
              <a:ext cx="51167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「我们不是来听需求的,是带着对你架构的判断来的。」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61" name="TextBox 61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9" grpId="0"/>
      <p:bldP spid="57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9511332" cy="590550"/>
            <a:chOff x="581025" y="309562"/>
            <a:chExt cx="9511332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95113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第二幕 · 点破真难点 —— 这是「分拆」项目,不是「实施」项目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3745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把竞争维度从「谁会配软件」换到「谁懂 Carve-out」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61523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Oracle EBS 在星巴克中国是「三位一体」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拆 ERP = 拆整张蜘蛛网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095750" y="2571750"/>
            <a:ext cx="4000500" cy="1885950"/>
            <a:chOff x="4095750" y="2571750"/>
            <a:chExt cx="4000500" cy="1885950"/>
          </a:xfrm>
        </p:grpSpPr>
        <p:sp>
          <p:nvSpPr>
            <p:cNvPr id="12" name="Line 12"/>
            <p:cNvSpPr/>
            <p:nvPr/>
          </p:nvSpPr>
          <p:spPr>
            <a:xfrm>
              <a:off x="6096000" y="2571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C8862E"/>
              </a:solidFill>
              <a:custDash>
                <a:ds d="240000" sp="24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4095750" y="3333750"/>
              <a:ext cx="2000250" cy="1123950"/>
            </a:xfrm>
            <a:custGeom>
              <a:avLst/>
              <a:gdLst/>
              <a:ahLst/>
              <a:cxnLst/>
              <a:rect l="l" t="t" r="r" b="b"/>
              <a:pathLst>
                <a:path w="2000250" h="1123950">
                  <a:moveTo>
                    <a:pt x="2000250" y="0"/>
                  </a:moveTo>
                  <a:lnTo>
                    <a:pt x="0" y="1123950"/>
                  </a:lnTo>
                </a:path>
              </a:pathLst>
            </a:custGeom>
            <a:noFill/>
            <a:ln w="23812">
              <a:solidFill>
                <a:srgbClr val="C8862E"/>
              </a:solidFill>
              <a:custDash>
                <a:ds d="240000" sp="240000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3333750"/>
              <a:ext cx="2000250" cy="1123950"/>
            </a:xfrm>
            <a:custGeom>
              <a:avLst/>
              <a:gdLst/>
              <a:ahLst/>
              <a:cxnLst/>
              <a:rect l="l" t="t" r="r" b="b"/>
              <a:pathLst>
                <a:path w="2000250" h="1123950">
                  <a:moveTo>
                    <a:pt x="0" y="0"/>
                  </a:moveTo>
                  <a:lnTo>
                    <a:pt x="2000250" y="1123950"/>
                  </a:lnTo>
                </a:path>
              </a:pathLst>
            </a:custGeom>
            <a:noFill/>
            <a:ln w="23812">
              <a:solidFill>
                <a:srgbClr val="C8862E"/>
              </a:solidFill>
              <a:custDash>
                <a:ds d="240000" sp="240000"/>
              </a:custDash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276850" y="2514600"/>
            <a:ext cx="1638300" cy="1638300"/>
            <a:chOff x="5276850" y="2514600"/>
            <a:chExt cx="1638300" cy="1638300"/>
          </a:xfrm>
        </p:grpSpPr>
        <p:sp>
          <p:nvSpPr>
            <p:cNvPr id="16" name="Ellipse 16"/>
            <p:cNvSpPr/>
            <p:nvPr/>
          </p:nvSpPr>
          <p:spPr>
            <a:xfrm>
              <a:off x="5276850" y="2514600"/>
              <a:ext cx="1638300" cy="1638300"/>
            </a:xfrm>
            <a:prstGeom prst="ellipse">
              <a:avLst/>
            </a:prstGeom>
            <a:noFill/>
            <a:ln w="9525">
              <a:solidFill>
                <a:srgbClr val="1A3A5C">
                  <a:alpha val="20000"/>
                </a:srgb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5353050" y="2590800"/>
              <a:ext cx="1485900" cy="1485900"/>
            </a:xfrm>
            <a:prstGeom prst="ellipse">
              <a:avLst/>
            </a:prstGeom>
            <a:gradFill>
              <a:gsLst>
                <a:gs pos="0">
                  <a:srgbClr val="1A3A5C"/>
                </a:gs>
                <a:gs pos="100000">
                  <a:srgbClr val="16314D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924550" y="2857500"/>
              <a:ext cx="342900" cy="457200"/>
              <a:chOff x="5924550" y="2857500"/>
              <a:chExt cx="342900" cy="457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924550" y="3040380"/>
                <a:ext cx="34290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31445">
                    <a:moveTo>
                      <a:pt x="318243" y="14578"/>
                    </a:moveTo>
                    <a:cubicBezTo>
                      <a:pt x="326281" y="10558"/>
                      <a:pt x="334679" y="5709"/>
                      <a:pt x="342900" y="0"/>
                    </a:cubicBezTo>
                    <a:lnTo>
                      <a:pt x="342900" y="45720"/>
                    </a:lnTo>
                    <a:cubicBezTo>
                      <a:pt x="342900" y="93064"/>
                      <a:pt x="266139" y="131445"/>
                      <a:pt x="171450" y="131445"/>
                    </a:cubicBezTo>
                    <a:cubicBezTo>
                      <a:pt x="76761" y="131445"/>
                      <a:pt x="0" y="93064"/>
                      <a:pt x="0" y="45720"/>
                    </a:cubicBezTo>
                    <a:lnTo>
                      <a:pt x="0" y="0"/>
                    </a:lnTo>
                    <a:cubicBezTo>
                      <a:pt x="8222" y="5709"/>
                      <a:pt x="16619" y="10558"/>
                      <a:pt x="24658" y="14578"/>
                    </a:cubicBezTo>
                    <a:cubicBezTo>
                      <a:pt x="65178" y="34838"/>
                      <a:pt x="117157" y="45720"/>
                      <a:pt x="171450" y="45720"/>
                    </a:cubicBezTo>
                    <a:cubicBezTo>
                      <a:pt x="225743" y="45720"/>
                      <a:pt x="277720" y="34838"/>
                      <a:pt x="318243" y="14578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924550" y="3183255"/>
                <a:ext cx="34290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31445">
                    <a:moveTo>
                      <a:pt x="0" y="0"/>
                    </a:moveTo>
                    <a:lnTo>
                      <a:pt x="0" y="45720"/>
                    </a:lnTo>
                    <a:cubicBezTo>
                      <a:pt x="0" y="93066"/>
                      <a:pt x="76761" y="131445"/>
                      <a:pt x="171450" y="131445"/>
                    </a:cubicBezTo>
                    <a:cubicBezTo>
                      <a:pt x="266139" y="131445"/>
                      <a:pt x="342900" y="93066"/>
                      <a:pt x="342900" y="45720"/>
                    </a:cubicBezTo>
                    <a:lnTo>
                      <a:pt x="342900" y="0"/>
                    </a:lnTo>
                    <a:cubicBezTo>
                      <a:pt x="334679" y="5709"/>
                      <a:pt x="326281" y="10558"/>
                      <a:pt x="318243" y="14579"/>
                    </a:cubicBezTo>
                    <a:cubicBezTo>
                      <a:pt x="277720" y="34839"/>
                      <a:pt x="225743" y="45720"/>
                      <a:pt x="171450" y="45720"/>
                    </a:cubicBezTo>
                    <a:cubicBezTo>
                      <a:pt x="117157" y="45720"/>
                      <a:pt x="65178" y="34839"/>
                      <a:pt x="24658" y="14579"/>
                    </a:cubicBezTo>
                    <a:cubicBezTo>
                      <a:pt x="16619" y="10558"/>
                      <a:pt x="8222" y="5709"/>
                      <a:pt x="0" y="0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924550" y="285750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171450" y="0"/>
                    </a:moveTo>
                    <a:cubicBezTo>
                      <a:pt x="266139" y="0"/>
                      <a:pt x="342900" y="38381"/>
                      <a:pt x="342900" y="85725"/>
                    </a:cubicBezTo>
                    <a:cubicBezTo>
                      <a:pt x="342900" y="133069"/>
                      <a:pt x="266139" y="171450"/>
                      <a:pt x="171450" y="171450"/>
                    </a:cubicBezTo>
                    <a:cubicBezTo>
                      <a:pt x="76761" y="171450"/>
                      <a:pt x="0" y="133069"/>
                      <a:pt x="0" y="85725"/>
                    </a:cubicBezTo>
                    <a:cubicBezTo>
                      <a:pt x="0" y="3838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417163" y="3365182"/>
              <a:ext cx="13576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Oracle EBS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99783" y="3666649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12.2.9 · 三位一体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667250" y="1581150"/>
            <a:ext cx="2857500" cy="1014412"/>
            <a:chOff x="4667250" y="1581150"/>
            <a:chExt cx="2857500" cy="1014412"/>
          </a:xfrm>
        </p:grpSpPr>
        <p:sp>
          <p:nvSpPr>
            <p:cNvPr id="25" name="Rectangle 25"/>
            <p:cNvSpPr/>
            <p:nvPr/>
          </p:nvSpPr>
          <p:spPr>
            <a:xfrm>
              <a:off x="4667250" y="1581150"/>
              <a:ext cx="2857500" cy="99060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15811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894659" y="1789509"/>
              <a:ext cx="250031" cy="250031"/>
            </a:xfrm>
            <a:custGeom>
              <a:avLst/>
              <a:gdLst/>
              <a:ahLst/>
              <a:cxnLst/>
              <a:rect l="l" t="t" r="r" b="b"/>
              <a:pathLst>
                <a:path w="250031" h="250031">
                  <a:moveTo>
                    <a:pt x="0" y="53578"/>
                  </a:moveTo>
                  <a:cubicBezTo>
                    <a:pt x="0" y="23988"/>
                    <a:pt x="23988" y="0"/>
                    <a:pt x="53578" y="0"/>
                  </a:cubicBezTo>
                  <a:lnTo>
                    <a:pt x="250031" y="0"/>
                  </a:lnTo>
                  <a:lnTo>
                    <a:pt x="250031" y="35719"/>
                  </a:lnTo>
                  <a:lnTo>
                    <a:pt x="53578" y="35719"/>
                  </a:lnTo>
                  <a:lnTo>
                    <a:pt x="53578" y="71438"/>
                  </a:lnTo>
                  <a:lnTo>
                    <a:pt x="250031" y="71438"/>
                  </a:lnTo>
                  <a:lnTo>
                    <a:pt x="250031" y="250031"/>
                  </a:lnTo>
                  <a:lnTo>
                    <a:pt x="53578" y="250031"/>
                  </a:lnTo>
                  <a:cubicBezTo>
                    <a:pt x="23988" y="250031"/>
                    <a:pt x="0" y="226044"/>
                    <a:pt x="0" y="196453"/>
                  </a:cubicBezTo>
                  <a:lnTo>
                    <a:pt x="0" y="53578"/>
                  </a:lnTo>
                  <a:close/>
                  <a:moveTo>
                    <a:pt x="196453" y="178594"/>
                  </a:moveTo>
                  <a:cubicBezTo>
                    <a:pt x="206317" y="178594"/>
                    <a:pt x="214312" y="170598"/>
                    <a:pt x="214312" y="160734"/>
                  </a:cubicBezTo>
                  <a:cubicBezTo>
                    <a:pt x="214312" y="150871"/>
                    <a:pt x="206317" y="142875"/>
                    <a:pt x="196453" y="142875"/>
                  </a:cubicBezTo>
                  <a:cubicBezTo>
                    <a:pt x="186589" y="142875"/>
                    <a:pt x="178594" y="150871"/>
                    <a:pt x="178594" y="160734"/>
                  </a:cubicBezTo>
                  <a:cubicBezTo>
                    <a:pt x="178594" y="170598"/>
                    <a:pt x="186589" y="178594"/>
                    <a:pt x="196453" y="178594"/>
                  </a:cubicBez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7802" y="1827371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财务核心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82515" y="21726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GL · AP · AR · FA · PA · 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82515" y="23822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法定账套与核算逻辑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43000" y="4267200"/>
            <a:ext cx="3238500" cy="1033462"/>
            <a:chOff x="1143000" y="4267200"/>
            <a:chExt cx="3238500" cy="1033462"/>
          </a:xfrm>
        </p:grpSpPr>
        <p:sp>
          <p:nvSpPr>
            <p:cNvPr id="32" name="Rectangle 32"/>
            <p:cNvSpPr/>
            <p:nvPr/>
          </p:nvSpPr>
          <p:spPr>
            <a:xfrm>
              <a:off x="1143000" y="4267200"/>
              <a:ext cx="32385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43000" y="4267200"/>
              <a:ext cx="57150" cy="102870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371600" y="447675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96453" y="107156"/>
                  </a:moveTo>
                  <a:cubicBezTo>
                    <a:pt x="226044" y="107156"/>
                    <a:pt x="250031" y="83168"/>
                    <a:pt x="250031" y="53578"/>
                  </a:cubicBezTo>
                  <a:cubicBezTo>
                    <a:pt x="250031" y="23988"/>
                    <a:pt x="226044" y="0"/>
                    <a:pt x="196453" y="0"/>
                  </a:cubicBezTo>
                  <a:cubicBezTo>
                    <a:pt x="166863" y="0"/>
                    <a:pt x="142875" y="23988"/>
                    <a:pt x="142875" y="53578"/>
                  </a:cubicBezTo>
                  <a:cubicBezTo>
                    <a:pt x="142875" y="57573"/>
                    <a:pt x="143312" y="61466"/>
                    <a:pt x="144142" y="65212"/>
                  </a:cubicBezTo>
                  <a:lnTo>
                    <a:pt x="86950" y="100957"/>
                  </a:lnTo>
                  <a:cubicBezTo>
                    <a:pt x="77795" y="93659"/>
                    <a:pt x="66196" y="89297"/>
                    <a:pt x="53578" y="89297"/>
                  </a:cubicBezTo>
                  <a:cubicBezTo>
                    <a:pt x="23988" y="89297"/>
                    <a:pt x="0" y="113285"/>
                    <a:pt x="0" y="142875"/>
                  </a:cubicBezTo>
                  <a:cubicBezTo>
                    <a:pt x="0" y="172465"/>
                    <a:pt x="23988" y="196453"/>
                    <a:pt x="53578" y="196453"/>
                  </a:cubicBezTo>
                  <a:cubicBezTo>
                    <a:pt x="66196" y="196453"/>
                    <a:pt x="77795" y="192092"/>
                    <a:pt x="86950" y="184793"/>
                  </a:cubicBezTo>
                  <a:lnTo>
                    <a:pt x="144142" y="220538"/>
                  </a:lnTo>
                  <a:cubicBezTo>
                    <a:pt x="143312" y="224283"/>
                    <a:pt x="142875" y="228177"/>
                    <a:pt x="142875" y="232172"/>
                  </a:cubicBezTo>
                  <a:cubicBezTo>
                    <a:pt x="142875" y="261763"/>
                    <a:pt x="166863" y="285750"/>
                    <a:pt x="196453" y="285750"/>
                  </a:cubicBezTo>
                  <a:cubicBezTo>
                    <a:pt x="226044" y="285750"/>
                    <a:pt x="250031" y="261763"/>
                    <a:pt x="250031" y="232172"/>
                  </a:cubicBezTo>
                  <a:cubicBezTo>
                    <a:pt x="250031" y="202581"/>
                    <a:pt x="226044" y="178594"/>
                    <a:pt x="196453" y="178594"/>
                  </a:cubicBezTo>
                  <a:cubicBezTo>
                    <a:pt x="183835" y="178594"/>
                    <a:pt x="172236" y="182955"/>
                    <a:pt x="163081" y="190254"/>
                  </a:cubicBezTo>
                  <a:lnTo>
                    <a:pt x="105890" y="154509"/>
                  </a:lnTo>
                  <a:cubicBezTo>
                    <a:pt x="106719" y="150763"/>
                    <a:pt x="107156" y="146870"/>
                    <a:pt x="107156" y="142875"/>
                  </a:cubicBezTo>
                  <a:cubicBezTo>
                    <a:pt x="107156" y="138880"/>
                    <a:pt x="106719" y="134987"/>
                    <a:pt x="105890" y="131241"/>
                  </a:cubicBezTo>
                  <a:lnTo>
                    <a:pt x="163081" y="95496"/>
                  </a:lnTo>
                  <a:cubicBezTo>
                    <a:pt x="172236" y="102794"/>
                    <a:pt x="183835" y="107156"/>
                    <a:pt x="196453" y="107156"/>
                  </a:cubicBez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72602" y="4532471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集成枢纽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7315" y="487775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11 Inbound + 22 Outbound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77315" y="50873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前后端系统全靠它串联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10500" y="4267200"/>
            <a:ext cx="3238500" cy="1033462"/>
            <a:chOff x="7810500" y="4267200"/>
            <a:chExt cx="3238500" cy="1033462"/>
          </a:xfrm>
        </p:grpSpPr>
        <p:sp>
          <p:nvSpPr>
            <p:cNvPr id="39" name="Rectangle 39"/>
            <p:cNvSpPr/>
            <p:nvPr/>
          </p:nvSpPr>
          <p:spPr>
            <a:xfrm>
              <a:off x="7810500" y="4267200"/>
              <a:ext cx="32385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0" y="4267200"/>
              <a:ext cx="57150" cy="10287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065889" y="4476750"/>
              <a:ext cx="232172" cy="285750"/>
            </a:xfrm>
            <a:custGeom>
              <a:avLst/>
              <a:gdLst/>
              <a:ahLst/>
              <a:cxnLst/>
              <a:rect l="l" t="t" r="r" b="b"/>
              <a:pathLst>
                <a:path w="232172" h="285750">
                  <a:moveTo>
                    <a:pt x="65005" y="84397"/>
                  </a:moveTo>
                  <a:cubicBezTo>
                    <a:pt x="79428" y="76995"/>
                    <a:pt x="89297" y="61974"/>
                    <a:pt x="89297" y="44648"/>
                  </a:cubicBezTo>
                  <a:cubicBezTo>
                    <a:pt x="89297" y="19990"/>
                    <a:pt x="69307" y="0"/>
                    <a:pt x="44648" y="0"/>
                  </a:cubicBezTo>
                  <a:cubicBezTo>
                    <a:pt x="19990" y="0"/>
                    <a:pt x="0" y="19990"/>
                    <a:pt x="0" y="44648"/>
                  </a:cubicBezTo>
                  <a:cubicBezTo>
                    <a:pt x="0" y="62957"/>
                    <a:pt x="11020" y="78692"/>
                    <a:pt x="26789" y="85582"/>
                  </a:cubicBezTo>
                  <a:lnTo>
                    <a:pt x="26789" y="200168"/>
                  </a:lnTo>
                  <a:cubicBezTo>
                    <a:pt x="11020" y="207058"/>
                    <a:pt x="0" y="222792"/>
                    <a:pt x="0" y="241102"/>
                  </a:cubicBezTo>
                  <a:cubicBezTo>
                    <a:pt x="0" y="265760"/>
                    <a:pt x="19990" y="285750"/>
                    <a:pt x="44648" y="285750"/>
                  </a:cubicBezTo>
                  <a:cubicBezTo>
                    <a:pt x="69307" y="285750"/>
                    <a:pt x="89297" y="265760"/>
                    <a:pt x="89297" y="241102"/>
                  </a:cubicBezTo>
                  <a:cubicBezTo>
                    <a:pt x="89297" y="222792"/>
                    <a:pt x="78277" y="207058"/>
                    <a:pt x="62508" y="200168"/>
                  </a:cubicBezTo>
                  <a:lnTo>
                    <a:pt x="62508" y="132413"/>
                  </a:lnTo>
                  <a:lnTo>
                    <a:pt x="99759" y="169664"/>
                  </a:lnTo>
                  <a:lnTo>
                    <a:pt x="146590" y="169664"/>
                  </a:lnTo>
                  <a:cubicBezTo>
                    <a:pt x="153480" y="185434"/>
                    <a:pt x="169214" y="196453"/>
                    <a:pt x="187523" y="196453"/>
                  </a:cubicBezTo>
                  <a:cubicBezTo>
                    <a:pt x="212182" y="196453"/>
                    <a:pt x="232172" y="176463"/>
                    <a:pt x="232172" y="151805"/>
                  </a:cubicBezTo>
                  <a:cubicBezTo>
                    <a:pt x="232172" y="127146"/>
                    <a:pt x="212182" y="107156"/>
                    <a:pt x="187523" y="107156"/>
                  </a:cubicBezTo>
                  <a:cubicBezTo>
                    <a:pt x="169214" y="107156"/>
                    <a:pt x="153480" y="118176"/>
                    <a:pt x="146590" y="133945"/>
                  </a:cubicBezTo>
                  <a:lnTo>
                    <a:pt x="114554" y="133945"/>
                  </a:lnTo>
                  <a:lnTo>
                    <a:pt x="65005" y="84397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40102" y="4532471"/>
              <a:ext cx="11288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主数据中心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44815" y="4877752"/>
              <a:ext cx="1176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Oracle HUB 分发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44815" y="50873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Item / Supplier / Store / COA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5543550"/>
            <a:ext cx="10972800" cy="742950"/>
            <a:chOff x="609600" y="5543550"/>
            <a:chExt cx="10972800" cy="742950"/>
          </a:xfrm>
        </p:grpSpPr>
        <p:sp>
          <p:nvSpPr>
            <p:cNvPr id="46" name="Rectangle 46"/>
            <p:cNvSpPr/>
            <p:nvPr/>
          </p:nvSpPr>
          <p:spPr>
            <a:xfrm>
              <a:off x="609600" y="5543550"/>
              <a:ext cx="10972800" cy="7429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1060" y="5737860"/>
              <a:ext cx="87233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真正的能力门槛是</a:t>
              </a:r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「解耦」</a:t>
              </a:r>
              <a:r>
                <a:rPr lang="zh-CN" sz="1200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 xml:space="preserve"> —— 不是会不会配 SAP / Oracle,而是能不能把「连体」干净地拆开、还让业务不停。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0108" y="5996464"/>
              <a:ext cx="51355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「会配软件的供应商很多;做过这种规模分拆的,没几家。」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24" grpId="0"/>
      <p:bldP spid="31" grpId="0"/>
      <p:bldP spid="38" grpId="0"/>
      <p:bldP spid="45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7303056" cy="590550"/>
            <a:chOff x="581025" y="309562"/>
            <a:chExt cx="7303056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730305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第三幕 · 我们做过 —— 麦当劳 / 伊利的同题答卷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4512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不是讲历史,是讲「星巴克现在的风险 = 当年的题,我们这样解的」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52137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同一道题,凯捷已经交过一次卷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麦当劳中国的 ERP 分拆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81150"/>
            <a:ext cx="10972800" cy="457200"/>
            <a:chOff x="609600" y="1581150"/>
            <a:chExt cx="10972800" cy="457200"/>
          </a:xfrm>
        </p:grpSpPr>
        <p:sp>
          <p:nvSpPr>
            <p:cNvPr id="12" name="Rectangle 12"/>
            <p:cNvSpPr/>
            <p:nvPr/>
          </p:nvSpPr>
          <p:spPr>
            <a:xfrm>
              <a:off x="609600" y="1581150"/>
              <a:ext cx="4191000" cy="457200"/>
            </a:xfrm>
            <a:prstGeom prst="roundRect">
              <a:avLst>
                <a:gd name="adj" fmla="val 12500"/>
              </a:avLst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00100" y="16954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28588" y="228600"/>
                  </a:moveTo>
                  <a:lnTo>
                    <a:pt x="100012" y="228600"/>
                  </a:lnTo>
                  <a:lnTo>
                    <a:pt x="0" y="128588"/>
                  </a:lnTo>
                  <a:lnTo>
                    <a:pt x="0" y="100012"/>
                  </a:lnTo>
                  <a:lnTo>
                    <a:pt x="100012" y="0"/>
                  </a:lnTo>
                  <a:lnTo>
                    <a:pt x="128588" y="0"/>
                  </a:lnTo>
                  <a:lnTo>
                    <a:pt x="228600" y="100012"/>
                  </a:lnTo>
                  <a:lnTo>
                    <a:pt x="228600" y="128588"/>
                  </a:lnTo>
                  <a:lnTo>
                    <a:pt x="128588" y="228600"/>
                  </a:lnTo>
                  <a:close/>
                  <a:moveTo>
                    <a:pt x="100012" y="42862"/>
                  </a:moveTo>
                  <a:lnTo>
                    <a:pt x="100012" y="128588"/>
                  </a:lnTo>
                  <a:lnTo>
                    <a:pt x="128588" y="128588"/>
                  </a:lnTo>
                  <a:lnTo>
                    <a:pt x="128588" y="42862"/>
                  </a:lnTo>
                  <a:lnTo>
                    <a:pt x="100012" y="42862"/>
                  </a:lnTo>
                  <a:close/>
                  <a:moveTo>
                    <a:pt x="100012" y="157162"/>
                  </a:moveTo>
                  <a:lnTo>
                    <a:pt x="100012" y="185738"/>
                  </a:lnTo>
                  <a:lnTo>
                    <a:pt x="128588" y="185738"/>
                  </a:lnTo>
                  <a:lnTo>
                    <a:pt x="128588" y="157162"/>
                  </a:lnTo>
                  <a:lnTo>
                    <a:pt x="100012" y="1571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738789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星巴克现在的风险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53000" y="1581150"/>
              <a:ext cx="6629400" cy="457200"/>
            </a:xfrm>
            <a:prstGeom prst="roundRect">
              <a:avLst>
                <a:gd name="adj" fmla="val 125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143500" y="16954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7150" y="0"/>
                  </a:moveTo>
                  <a:lnTo>
                    <a:pt x="171450" y="0"/>
                  </a:lnTo>
                  <a:lnTo>
                    <a:pt x="171450" y="28575"/>
                  </a:lnTo>
                  <a:lnTo>
                    <a:pt x="228600" y="28575"/>
                  </a:lnTo>
                  <a:lnTo>
                    <a:pt x="228600" y="57150"/>
                  </a:lnTo>
                  <a:cubicBezTo>
                    <a:pt x="228600" y="92246"/>
                    <a:pt x="203291" y="121431"/>
                    <a:pt x="169930" y="127450"/>
                  </a:cubicBezTo>
                  <a:cubicBezTo>
                    <a:pt x="165073" y="148071"/>
                    <a:pt x="149047" y="164383"/>
                    <a:pt x="128588" y="169650"/>
                  </a:cubicBezTo>
                  <a:lnTo>
                    <a:pt x="128588" y="200025"/>
                  </a:lnTo>
                  <a:lnTo>
                    <a:pt x="171450" y="200025"/>
                  </a:lnTo>
                  <a:lnTo>
                    <a:pt x="171450" y="228600"/>
                  </a:lnTo>
                  <a:lnTo>
                    <a:pt x="57150" y="228600"/>
                  </a:lnTo>
                  <a:lnTo>
                    <a:pt x="57150" y="200025"/>
                  </a:lnTo>
                  <a:lnTo>
                    <a:pt x="100012" y="200025"/>
                  </a:lnTo>
                  <a:lnTo>
                    <a:pt x="100012" y="169650"/>
                  </a:lnTo>
                  <a:cubicBezTo>
                    <a:pt x="79552" y="164383"/>
                    <a:pt x="63526" y="148071"/>
                    <a:pt x="58670" y="127450"/>
                  </a:cubicBezTo>
                  <a:cubicBezTo>
                    <a:pt x="25308" y="121431"/>
                    <a:pt x="0" y="92246"/>
                    <a:pt x="0" y="57150"/>
                  </a:cubicBezTo>
                  <a:lnTo>
                    <a:pt x="0" y="28575"/>
                  </a:lnTo>
                  <a:lnTo>
                    <a:pt x="57150" y="28575"/>
                  </a:lnTo>
                  <a:lnTo>
                    <a:pt x="57150" y="0"/>
                  </a:lnTo>
                  <a:close/>
                  <a:moveTo>
                    <a:pt x="171450" y="97573"/>
                  </a:moveTo>
                  <a:lnTo>
                    <a:pt x="171450" y="57150"/>
                  </a:lnTo>
                  <a:lnTo>
                    <a:pt x="200025" y="57150"/>
                  </a:lnTo>
                  <a:cubicBezTo>
                    <a:pt x="200025" y="75813"/>
                    <a:pt x="188098" y="91689"/>
                    <a:pt x="171450" y="97573"/>
                  </a:cubicBezTo>
                  <a:close/>
                  <a:moveTo>
                    <a:pt x="57150" y="57150"/>
                  </a:moveTo>
                  <a:lnTo>
                    <a:pt x="28575" y="57150"/>
                  </a:lnTo>
                  <a:cubicBezTo>
                    <a:pt x="28575" y="75813"/>
                    <a:pt x="40502" y="91689"/>
                    <a:pt x="57150" y="97573"/>
                  </a:cubicBezTo>
                  <a:lnTo>
                    <a:pt x="57150" y="571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51158" y="1738789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凯捷做过的同题答卷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2114550"/>
            <a:ext cx="10972800" cy="666750"/>
            <a:chOff x="609600" y="2114550"/>
            <a:chExt cx="10972800" cy="666750"/>
          </a:xfrm>
        </p:grpSpPr>
        <p:sp>
          <p:nvSpPr>
            <p:cNvPr id="19" name="Rectangle 19"/>
            <p:cNvSpPr/>
            <p:nvPr/>
          </p:nvSpPr>
          <p:spPr>
            <a:xfrm>
              <a:off x="609600" y="2114550"/>
              <a:ext cx="4191000" cy="666750"/>
            </a:xfrm>
            <a:prstGeom prst="roundRect">
              <a:avLst>
                <a:gd name="adj" fmla="val 8571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2960" y="2375535"/>
              <a:ext cx="2496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EBS 与北美共用一个 Instance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953000" y="2114550"/>
              <a:ext cx="6629400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DDE0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0" y="2114550"/>
              <a:ext cx="47625" cy="6667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150473" y="2387034"/>
              <a:ext cx="176551" cy="145764"/>
            </a:xfrm>
            <a:custGeom>
              <a:avLst/>
              <a:gdLst/>
              <a:ahLst/>
              <a:cxnLst/>
              <a:rect l="l" t="t" r="r" b="b"/>
              <a:pathLst>
                <a:path w="176551" h="145764">
                  <a:moveTo>
                    <a:pt x="176551" y="33676"/>
                  </a:moveTo>
                  <a:lnTo>
                    <a:pt x="64463" y="145764"/>
                  </a:lnTo>
                  <a:lnTo>
                    <a:pt x="0" y="81301"/>
                  </a:lnTo>
                  <a:lnTo>
                    <a:pt x="33676" y="47625"/>
                  </a:lnTo>
                  <a:lnTo>
                    <a:pt x="64463" y="78412"/>
                  </a:lnTo>
                  <a:lnTo>
                    <a:pt x="142875" y="0"/>
                  </a:lnTo>
                  <a:lnTo>
                    <a:pt x="176551" y="33676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34012" y="2383631"/>
              <a:ext cx="4111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 xml:space="preserve">麦当劳中国从 Global 分拆 —— </a:t>
              </a:r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共用 Instance 的拆分实操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2838450"/>
            <a:ext cx="10972800" cy="666750"/>
            <a:chOff x="609600" y="2838450"/>
            <a:chExt cx="10972800" cy="666750"/>
          </a:xfrm>
        </p:grpSpPr>
        <p:sp>
          <p:nvSpPr>
            <p:cNvPr id="26" name="Rectangle 26"/>
            <p:cNvSpPr/>
            <p:nvPr/>
          </p:nvSpPr>
          <p:spPr>
            <a:xfrm>
              <a:off x="609600" y="2838450"/>
              <a:ext cx="4191000" cy="666750"/>
            </a:xfrm>
            <a:prstGeom prst="roundRect">
              <a:avLst>
                <a:gd name="adj" fmla="val 8571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2960" y="309943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美方只给文档、不给代码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953000" y="2838450"/>
              <a:ext cx="6629400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DDE0E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953000" y="2838450"/>
              <a:ext cx="47625" cy="6667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150473" y="3110934"/>
              <a:ext cx="176551" cy="145764"/>
            </a:xfrm>
            <a:custGeom>
              <a:avLst/>
              <a:gdLst/>
              <a:ahLst/>
              <a:cxnLst/>
              <a:rect l="l" t="t" r="r" b="b"/>
              <a:pathLst>
                <a:path w="176551" h="145764">
                  <a:moveTo>
                    <a:pt x="176551" y="33676"/>
                  </a:moveTo>
                  <a:lnTo>
                    <a:pt x="64463" y="145764"/>
                  </a:lnTo>
                  <a:lnTo>
                    <a:pt x="0" y="81301"/>
                  </a:lnTo>
                  <a:lnTo>
                    <a:pt x="33676" y="47625"/>
                  </a:lnTo>
                  <a:lnTo>
                    <a:pt x="64463" y="78412"/>
                  </a:lnTo>
                  <a:lnTo>
                    <a:pt x="142875" y="0"/>
                  </a:lnTo>
                  <a:lnTo>
                    <a:pt x="176551" y="33676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34012" y="3107531"/>
              <a:ext cx="3405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总部只给接口文档不给源码,凯捷</a:t>
              </a:r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完成本地重建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3562350"/>
            <a:ext cx="10972800" cy="666750"/>
            <a:chOff x="609600" y="3562350"/>
            <a:chExt cx="10972800" cy="666750"/>
          </a:xfrm>
        </p:grpSpPr>
        <p:sp>
          <p:nvSpPr>
            <p:cNvPr id="33" name="Rectangle 33"/>
            <p:cNvSpPr/>
            <p:nvPr/>
          </p:nvSpPr>
          <p:spPr>
            <a:xfrm>
              <a:off x="609600" y="3562350"/>
              <a:ext cx="4191000" cy="666750"/>
            </a:xfrm>
            <a:prstGeom prst="roundRect">
              <a:avLst>
                <a:gd name="adj" fmla="val 8571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2960" y="3823335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前端门店业务切换期不能停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953000" y="3562350"/>
              <a:ext cx="6629400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DDE0E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953000" y="3562350"/>
              <a:ext cx="47625" cy="6667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150473" y="3834834"/>
              <a:ext cx="176551" cy="145764"/>
            </a:xfrm>
            <a:custGeom>
              <a:avLst/>
              <a:gdLst/>
              <a:ahLst/>
              <a:cxnLst/>
              <a:rect l="l" t="t" r="r" b="b"/>
              <a:pathLst>
                <a:path w="176551" h="145764">
                  <a:moveTo>
                    <a:pt x="176551" y="33676"/>
                  </a:moveTo>
                  <a:lnTo>
                    <a:pt x="64463" y="145764"/>
                  </a:lnTo>
                  <a:lnTo>
                    <a:pt x="0" y="81301"/>
                  </a:lnTo>
                  <a:lnTo>
                    <a:pt x="33676" y="47625"/>
                  </a:lnTo>
                  <a:lnTo>
                    <a:pt x="64463" y="78412"/>
                  </a:lnTo>
                  <a:lnTo>
                    <a:pt x="142875" y="0"/>
                  </a:lnTo>
                  <a:lnTo>
                    <a:pt x="176551" y="33676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34012" y="3831431"/>
              <a:ext cx="39965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POS / BOH 在后端切换期间</a:t>
              </a:r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「无感」过渡的过渡层设计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4286250"/>
            <a:ext cx="10972800" cy="666750"/>
            <a:chOff x="609600" y="4286250"/>
            <a:chExt cx="10972800" cy="666750"/>
          </a:xfrm>
        </p:grpSpPr>
        <p:sp>
          <p:nvSpPr>
            <p:cNvPr id="40" name="Rectangle 40"/>
            <p:cNvSpPr/>
            <p:nvPr/>
          </p:nvSpPr>
          <p:spPr>
            <a:xfrm>
              <a:off x="609600" y="4286250"/>
              <a:ext cx="4191000" cy="666750"/>
            </a:xfrm>
            <a:prstGeom prst="roundRect">
              <a:avLst>
                <a:gd name="adj" fmla="val 8571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2960" y="4547235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万店规模、海量交易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953000" y="4286250"/>
              <a:ext cx="6629400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DDE0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953000" y="4286250"/>
              <a:ext cx="47625" cy="6667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5150473" y="4558734"/>
              <a:ext cx="176551" cy="145764"/>
            </a:xfrm>
            <a:custGeom>
              <a:avLst/>
              <a:gdLst/>
              <a:ahLst/>
              <a:cxnLst/>
              <a:rect l="l" t="t" r="r" b="b"/>
              <a:pathLst>
                <a:path w="176551" h="145764">
                  <a:moveTo>
                    <a:pt x="176551" y="33676"/>
                  </a:moveTo>
                  <a:lnTo>
                    <a:pt x="64463" y="145764"/>
                  </a:lnTo>
                  <a:lnTo>
                    <a:pt x="0" y="81301"/>
                  </a:lnTo>
                  <a:lnTo>
                    <a:pt x="33676" y="47625"/>
                  </a:lnTo>
                  <a:lnTo>
                    <a:pt x="64463" y="78412"/>
                  </a:lnTo>
                  <a:lnTo>
                    <a:pt x="142875" y="0"/>
                  </a:lnTo>
                  <a:lnTo>
                    <a:pt x="176551" y="33676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34012" y="4555331"/>
              <a:ext cx="40787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伊利等大型企业本地架构落地;</a:t>
              </a:r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中国区 1000+ 人财务团队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5010150"/>
            <a:ext cx="10972800" cy="666750"/>
            <a:chOff x="609600" y="5010150"/>
            <a:chExt cx="10972800" cy="666750"/>
          </a:xfrm>
        </p:grpSpPr>
        <p:sp>
          <p:nvSpPr>
            <p:cNvPr id="47" name="Rectangle 47"/>
            <p:cNvSpPr/>
            <p:nvPr/>
          </p:nvSpPr>
          <p:spPr>
            <a:xfrm>
              <a:off x="609600" y="5010150"/>
              <a:ext cx="4191000" cy="666750"/>
            </a:xfrm>
            <a:prstGeom prst="roundRect">
              <a:avLst>
                <a:gd name="adj" fmla="val 8571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2960" y="5271135"/>
              <a:ext cx="17142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财务报表 / 预算割裂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953000" y="5010150"/>
              <a:ext cx="6629400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DDE0E4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953000" y="5010150"/>
              <a:ext cx="47625" cy="6667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5150473" y="5282634"/>
              <a:ext cx="176551" cy="145764"/>
            </a:xfrm>
            <a:custGeom>
              <a:avLst/>
              <a:gdLst/>
              <a:ahLst/>
              <a:cxnLst/>
              <a:rect l="l" t="t" r="r" b="b"/>
              <a:pathLst>
                <a:path w="176551" h="145764">
                  <a:moveTo>
                    <a:pt x="176551" y="33676"/>
                  </a:moveTo>
                  <a:lnTo>
                    <a:pt x="64463" y="145764"/>
                  </a:lnTo>
                  <a:lnTo>
                    <a:pt x="0" y="81301"/>
                  </a:lnTo>
                  <a:lnTo>
                    <a:pt x="33676" y="47625"/>
                  </a:lnTo>
                  <a:lnTo>
                    <a:pt x="64463" y="78412"/>
                  </a:lnTo>
                  <a:lnTo>
                    <a:pt x="142875" y="0"/>
                  </a:lnTo>
                  <a:lnTo>
                    <a:pt x="176551" y="33676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34012" y="527923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财务中台、合并报表、全面预算、票税、</a:t>
              </a:r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银企直连全链路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848350"/>
            <a:ext cx="10972800" cy="419100"/>
            <a:chOff x="609600" y="5848350"/>
            <a:chExt cx="10972800" cy="419100"/>
          </a:xfrm>
        </p:grpSpPr>
        <p:sp>
          <p:nvSpPr>
            <p:cNvPr id="54" name="Rectangle 54"/>
            <p:cNvSpPr/>
            <p:nvPr/>
          </p:nvSpPr>
          <p:spPr>
            <a:xfrm>
              <a:off x="609600" y="5848350"/>
              <a:ext cx="10972800" cy="419100"/>
            </a:xfrm>
            <a:prstGeom prst="roundRect">
              <a:avLst>
                <a:gd name="adj" fmla="val 13636"/>
              </a:avLst>
            </a:prstGeom>
            <a:solidFill>
              <a:srgbClr val="C8862E">
                <a:alpha val="12000"/>
              </a:srgbClr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19150" y="5957888"/>
              <a:ext cx="228600" cy="200024"/>
              <a:chOff x="819150" y="5957888"/>
              <a:chExt cx="228600" cy="200024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62012" y="595788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9150" y="6057900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42862" y="0"/>
                    </a:moveTo>
                    <a:cubicBezTo>
                      <a:pt x="19190" y="0"/>
                      <a:pt x="0" y="19190"/>
                      <a:pt x="0" y="42862"/>
                    </a:cubicBezTo>
                    <a:lnTo>
                      <a:pt x="0" y="100012"/>
                    </a:lnTo>
                    <a:lnTo>
                      <a:pt x="114300" y="100012"/>
                    </a:lnTo>
                    <a:lnTo>
                      <a:pt x="114300" y="0"/>
                    </a:lnTo>
                    <a:lnTo>
                      <a:pt x="42862" y="0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62025" y="6057900"/>
                <a:ext cx="857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0012">
                    <a:moveTo>
                      <a:pt x="42862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85725" y="100012"/>
                    </a:lnTo>
                    <a:lnTo>
                      <a:pt x="85725" y="42862"/>
                    </a:lnTo>
                    <a:cubicBezTo>
                      <a:pt x="85725" y="19190"/>
                      <a:pt x="66535" y="0"/>
                      <a:pt x="42862" y="0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62025" y="59721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147762" y="5984081"/>
              <a:ext cx="4807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A6A22"/>
                  </a:solidFill>
                  <a:latin typeface="Arial"/>
                  <a:ea typeface="Microsoft YaHei"/>
                  <a:cs typeface="Arial"/>
                </a:rPr>
                <a:t>本页由具备麦当劳分拆背景的顾问主讲 —— 全场可信度的支点。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62" name="TextBox 62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32" grpId="0"/>
      <p:bldP spid="39" grpId="0"/>
      <p:bldP spid="46" grpId="0"/>
      <p:bldP spid="53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5526084" cy="590550"/>
            <a:chOff x="581025" y="309562"/>
            <a:chExt cx="5526084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55260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第四幕 · 怎么控风险 —— 凯捷的打法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给方法论,但落到具体、可追问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47738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凯捷五大打法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每一条都可落地、可追问,不是口号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4850" y="1562100"/>
            <a:ext cx="10877550" cy="723900"/>
            <a:chOff x="704850" y="1562100"/>
            <a:chExt cx="10877550" cy="723900"/>
          </a:xfrm>
        </p:grpSpPr>
        <p:sp>
          <p:nvSpPr>
            <p:cNvPr id="12" name="Line 12"/>
            <p:cNvSpPr/>
            <p:nvPr/>
          </p:nvSpPr>
          <p:spPr>
            <a:xfrm>
              <a:off x="952500" y="19240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A3A5C"/>
              </a:solidFill>
              <a:custDash>
                <a:ds d="200000" sp="150000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704850" y="1676400"/>
              <a:ext cx="495300" cy="4953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4301" y="18545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71600" y="1562100"/>
              <a:ext cx="10210800" cy="723900"/>
            </a:xfrm>
            <a:prstGeom prst="roundRect">
              <a:avLst>
                <a:gd name="adj" fmla="val 1052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71600" y="15621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66875" y="177165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66675" y="91287"/>
                  </a:moveTo>
                  <a:cubicBezTo>
                    <a:pt x="83495" y="83938"/>
                    <a:pt x="95250" y="67154"/>
                    <a:pt x="95250" y="47625"/>
                  </a:cubicBezTo>
                  <a:cubicBezTo>
                    <a:pt x="95250" y="21322"/>
                    <a:pt x="73928" y="0"/>
                    <a:pt x="47625" y="0"/>
                  </a:cubicBezTo>
                  <a:cubicBezTo>
                    <a:pt x="21322" y="0"/>
                    <a:pt x="0" y="21322"/>
                    <a:pt x="0" y="47625"/>
                  </a:cubicBezTo>
                  <a:cubicBezTo>
                    <a:pt x="0" y="67154"/>
                    <a:pt x="11755" y="83938"/>
                    <a:pt x="28575" y="91287"/>
                  </a:cubicBezTo>
                  <a:lnTo>
                    <a:pt x="28575" y="213512"/>
                  </a:lnTo>
                  <a:cubicBezTo>
                    <a:pt x="11755" y="220862"/>
                    <a:pt x="0" y="237645"/>
                    <a:pt x="0" y="257175"/>
                  </a:cubicBezTo>
                  <a:cubicBezTo>
                    <a:pt x="0" y="283477"/>
                    <a:pt x="21322" y="304800"/>
                    <a:pt x="47625" y="304800"/>
                  </a:cubicBezTo>
                  <a:cubicBezTo>
                    <a:pt x="73928" y="304800"/>
                    <a:pt x="95250" y="283477"/>
                    <a:pt x="95250" y="257175"/>
                  </a:cubicBezTo>
                  <a:cubicBezTo>
                    <a:pt x="95250" y="237645"/>
                    <a:pt x="83495" y="220862"/>
                    <a:pt x="66675" y="213512"/>
                  </a:cubicBezTo>
                  <a:lnTo>
                    <a:pt x="66675" y="171450"/>
                  </a:lnTo>
                  <a:lnTo>
                    <a:pt x="219075" y="171450"/>
                  </a:lnTo>
                  <a:lnTo>
                    <a:pt x="219075" y="91287"/>
                  </a:lnTo>
                  <a:cubicBezTo>
                    <a:pt x="235896" y="83938"/>
                    <a:pt x="247650" y="67154"/>
                    <a:pt x="247650" y="47625"/>
                  </a:cubicBezTo>
                  <a:cubicBezTo>
                    <a:pt x="247650" y="21322"/>
                    <a:pt x="226327" y="0"/>
                    <a:pt x="200025" y="0"/>
                  </a:cubicBezTo>
                  <a:cubicBezTo>
                    <a:pt x="173723" y="0"/>
                    <a:pt x="152400" y="21322"/>
                    <a:pt x="152400" y="47625"/>
                  </a:cubicBezTo>
                  <a:cubicBezTo>
                    <a:pt x="152400" y="67154"/>
                    <a:pt x="164154" y="83938"/>
                    <a:pt x="180975" y="91287"/>
                  </a:cubicBezTo>
                  <a:lnTo>
                    <a:pt x="180975" y="133350"/>
                  </a:lnTo>
                  <a:lnTo>
                    <a:pt x="66675" y="133350"/>
                  </a:lnTo>
                  <a:lnTo>
                    <a:pt x="66675" y="91287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16455" y="1721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分阶段解耦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20265" y="2001202"/>
              <a:ext cx="53863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不一次性切换。并行 → 过渡 → 脱钩,正好对上「两年内继续用 Global」的节奏。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4850" y="2362200"/>
            <a:ext cx="10877550" cy="723900"/>
            <a:chOff x="704850" y="2362200"/>
            <a:chExt cx="10877550" cy="723900"/>
          </a:xfrm>
        </p:grpSpPr>
        <p:sp>
          <p:nvSpPr>
            <p:cNvPr id="21" name="Line 21"/>
            <p:cNvSpPr/>
            <p:nvPr/>
          </p:nvSpPr>
          <p:spPr>
            <a:xfrm>
              <a:off x="952500" y="2724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A3A5C"/>
              </a:solidFill>
              <a:custDash>
                <a:ds d="200000" sp="150000"/>
              </a:custDash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2476500"/>
              <a:ext cx="495300" cy="4953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8423" y="26546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71600" y="2362200"/>
              <a:ext cx="10210800" cy="723900"/>
            </a:xfrm>
            <a:prstGeom prst="roundRect">
              <a:avLst>
                <a:gd name="adj" fmla="val 1052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71600" y="23622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657350" y="2590800"/>
              <a:ext cx="266700" cy="266700"/>
              <a:chOff x="1657350" y="2590800"/>
              <a:chExt cx="266700" cy="2667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657350" y="25908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847850" y="27813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cubicBezTo>
                      <a:pt x="76200" y="59143"/>
                      <a:pt x="59143" y="76200"/>
                      <a:pt x="38100" y="76200"/>
                    </a:cubicBezTo>
                    <a:cubicBezTo>
                      <a:pt x="17057" y="76200"/>
                      <a:pt x="0" y="59143"/>
                      <a:pt x="0" y="38100"/>
                    </a:cubicBezTo>
                    <a:cubicBezTo>
                      <a:pt x="0" y="17057"/>
                      <a:pt x="17057" y="0"/>
                      <a:pt x="38100" y="0"/>
                    </a:cubicBezTo>
                    <a:cubicBezTo>
                      <a:pt x="59143" y="0"/>
                      <a:pt x="76200" y="17057"/>
                      <a:pt x="76200" y="3810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676400" y="25908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133350" y="66675"/>
                    </a:moveTo>
                    <a:cubicBezTo>
                      <a:pt x="133350" y="50893"/>
                      <a:pt x="146143" y="38100"/>
                      <a:pt x="161925" y="38100"/>
                    </a:cubicBezTo>
                    <a:cubicBezTo>
                      <a:pt x="177706" y="38100"/>
                      <a:pt x="190500" y="50893"/>
                      <a:pt x="190500" y="66675"/>
                    </a:cubicBezTo>
                    <a:lnTo>
                      <a:pt x="190500" y="152400"/>
                    </a:lnTo>
                    <a:lnTo>
                      <a:pt x="228600" y="152400"/>
                    </a:lnTo>
                    <a:lnTo>
                      <a:pt x="228600" y="66675"/>
                    </a:lnTo>
                    <a:cubicBezTo>
                      <a:pt x="228600" y="29851"/>
                      <a:pt x="198749" y="0"/>
                      <a:pt x="161925" y="0"/>
                    </a:cubicBezTo>
                    <a:cubicBezTo>
                      <a:pt x="125101" y="0"/>
                      <a:pt x="95250" y="29851"/>
                      <a:pt x="95250" y="66675"/>
                    </a:cubicBezTo>
                    <a:lnTo>
                      <a:pt x="95250" y="200025"/>
                    </a:lnTo>
                    <a:cubicBezTo>
                      <a:pt x="95250" y="215806"/>
                      <a:pt x="82457" y="228600"/>
                      <a:pt x="66675" y="228600"/>
                    </a:cubicBezTo>
                    <a:cubicBezTo>
                      <a:pt x="50893" y="228600"/>
                      <a:pt x="38100" y="215806"/>
                      <a:pt x="38100" y="200025"/>
                    </a:cubicBezTo>
                    <a:lnTo>
                      <a:pt x="38100" y="114300"/>
                    </a:lnTo>
                    <a:lnTo>
                      <a:pt x="0" y="114300"/>
                    </a:lnTo>
                    <a:lnTo>
                      <a:pt x="0" y="200025"/>
                    </a:lnTo>
                    <a:cubicBezTo>
                      <a:pt x="0" y="236849"/>
                      <a:pt x="29851" y="266700"/>
                      <a:pt x="66675" y="266700"/>
                    </a:cubicBezTo>
                    <a:cubicBezTo>
                      <a:pt x="103499" y="266700"/>
                      <a:pt x="133350" y="236849"/>
                      <a:pt x="133350" y="200025"/>
                    </a:cubicBezTo>
                    <a:lnTo>
                      <a:pt x="133350" y="66675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116455" y="25212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系统解耦路线图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20265" y="2801302"/>
              <a:ext cx="49722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 xml:space="preserve">区分「物理拆分」与「逻辑迁移」 —— </a:t>
              </a:r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汉得给不出的硬通货</a:t>
              </a:r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,详见下一节。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04850" y="3162300"/>
            <a:ext cx="10877550" cy="723900"/>
            <a:chOff x="704850" y="3162300"/>
            <a:chExt cx="10877550" cy="723900"/>
          </a:xfrm>
        </p:grpSpPr>
        <p:sp>
          <p:nvSpPr>
            <p:cNvPr id="33" name="Line 33"/>
            <p:cNvSpPr/>
            <p:nvPr/>
          </p:nvSpPr>
          <p:spPr>
            <a:xfrm>
              <a:off x="952500" y="35242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A3A5C"/>
              </a:solidFill>
              <a:custDash>
                <a:ds d="200000" sp="150000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704850" y="3276600"/>
              <a:ext cx="495300" cy="4953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8423" y="34547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371600" y="3162300"/>
              <a:ext cx="10210800" cy="723900"/>
            </a:xfrm>
            <a:prstGeom prst="roundRect">
              <a:avLst>
                <a:gd name="adj" fmla="val 1052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371600" y="31623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1657350" y="3371850"/>
              <a:ext cx="266700" cy="304800"/>
              <a:chOff x="1657350" y="3371850"/>
              <a:chExt cx="266700" cy="304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657350" y="3371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657350" y="3581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657350" y="3505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2116455" y="33213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过渡层设计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20265" y="3601402"/>
              <a:ext cx="40291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接口与主数据缓冲层,前端门店业务无感,业务连续性优先。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04850" y="3962400"/>
            <a:ext cx="10877550" cy="723900"/>
            <a:chOff x="704850" y="3962400"/>
            <a:chExt cx="10877550" cy="723900"/>
          </a:xfrm>
        </p:grpSpPr>
        <p:sp>
          <p:nvSpPr>
            <p:cNvPr id="45" name="Line 45"/>
            <p:cNvSpPr/>
            <p:nvPr/>
          </p:nvSpPr>
          <p:spPr>
            <a:xfrm>
              <a:off x="952500" y="4324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A3A5C"/>
              </a:solidFill>
              <a:custDash>
                <a:ds d="200000" sp="150000"/>
              </a:custDash>
            </a:ln>
          </p:spPr>
        </p:sp>
        <p:sp>
          <p:nvSpPr>
            <p:cNvPr id="46" name="Ellipse 46"/>
            <p:cNvSpPr/>
            <p:nvPr/>
          </p:nvSpPr>
          <p:spPr>
            <a:xfrm>
              <a:off x="704850" y="4076700"/>
              <a:ext cx="495300" cy="4953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8423" y="42548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371600" y="3962400"/>
              <a:ext cx="10210800" cy="723900"/>
            </a:xfrm>
            <a:prstGeom prst="roundRect">
              <a:avLst>
                <a:gd name="adj" fmla="val 1052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371600" y="39624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657350" y="41910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57150"/>
                  </a:moveTo>
                  <a:cubicBezTo>
                    <a:pt x="0" y="25587"/>
                    <a:pt x="25587" y="0"/>
                    <a:pt x="57150" y="0"/>
                  </a:cubicBezTo>
                  <a:lnTo>
                    <a:pt x="266700" y="0"/>
                  </a:lnTo>
                  <a:lnTo>
                    <a:pt x="266700" y="38100"/>
                  </a:lnTo>
                  <a:lnTo>
                    <a:pt x="57150" y="38100"/>
                  </a:lnTo>
                  <a:lnTo>
                    <a:pt x="57150" y="76200"/>
                  </a:lnTo>
                  <a:lnTo>
                    <a:pt x="266700" y="76200"/>
                  </a:lnTo>
                  <a:lnTo>
                    <a:pt x="266700" y="266700"/>
                  </a:lnTo>
                  <a:lnTo>
                    <a:pt x="57150" y="266700"/>
                  </a:lnTo>
                  <a:cubicBezTo>
                    <a:pt x="25587" y="266700"/>
                    <a:pt x="0" y="241114"/>
                    <a:pt x="0" y="209550"/>
                  </a:cubicBezTo>
                  <a:lnTo>
                    <a:pt x="0" y="57150"/>
                  </a:lnTo>
                  <a:close/>
                  <a:moveTo>
                    <a:pt x="209550" y="190500"/>
                  </a:moveTo>
                  <a:cubicBezTo>
                    <a:pt x="220071" y="190500"/>
                    <a:pt x="228600" y="181971"/>
                    <a:pt x="228600" y="171450"/>
                  </a:cubicBezTo>
                  <a:cubicBezTo>
                    <a:pt x="228600" y="160929"/>
                    <a:pt x="220071" y="152400"/>
                    <a:pt x="209550" y="152400"/>
                  </a:cubicBezTo>
                  <a:cubicBezTo>
                    <a:pt x="199029" y="152400"/>
                    <a:pt x="190500" y="160929"/>
                    <a:pt x="190500" y="171450"/>
                  </a:cubicBezTo>
                  <a:cubicBezTo>
                    <a:pt x="190500" y="181971"/>
                    <a:pt x="199029" y="190500"/>
                    <a:pt x="209550" y="190500"/>
                  </a:cubicBez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116455" y="41214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财务侧做减法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20265" y="4401502"/>
              <a:ext cx="5509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Hyperion + Anaplan 走统一平台、统一界面,呼应「消除割裂、避免厂商锁定」。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04850" y="4762500"/>
            <a:ext cx="10877550" cy="723900"/>
            <a:chOff x="704850" y="4762500"/>
            <a:chExt cx="10877550" cy="723900"/>
          </a:xfrm>
        </p:grpSpPr>
        <p:sp>
          <p:nvSpPr>
            <p:cNvPr id="54" name="Line 54"/>
            <p:cNvSpPr/>
            <p:nvPr/>
          </p:nvSpPr>
          <p:spPr>
            <a:xfrm>
              <a:off x="952500" y="51244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A3A5C"/>
              </a:solidFill>
              <a:custDash>
                <a:ds d="200000" sp="150000"/>
              </a:custDash>
            </a:ln>
          </p:spPr>
        </p:sp>
        <p:sp>
          <p:nvSpPr>
            <p:cNvPr id="55" name="Ellipse 55"/>
            <p:cNvSpPr/>
            <p:nvPr/>
          </p:nvSpPr>
          <p:spPr>
            <a:xfrm>
              <a:off x="704850" y="4876800"/>
              <a:ext cx="495300" cy="4953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78423" y="50549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371600" y="4762500"/>
              <a:ext cx="10210800" cy="723900"/>
            </a:xfrm>
            <a:prstGeom prst="roundRect">
              <a:avLst>
                <a:gd name="adj" fmla="val 1052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371600" y="47625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1638300" y="4991100"/>
              <a:ext cx="304800" cy="266700"/>
              <a:chOff x="1638300" y="49911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695450" y="49911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close/>
                  </a:path>
                </a:pathLst>
              </a:custGeom>
              <a:solidFill>
                <a:srgbClr val="1E6B4F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638300" y="5124450"/>
                <a:ext cx="1524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3350">
                    <a:moveTo>
                      <a:pt x="57150" y="0"/>
                    </a:moveTo>
                    <a:cubicBezTo>
                      <a:pt x="25587" y="0"/>
                      <a:pt x="0" y="25587"/>
                      <a:pt x="0" y="57150"/>
                    </a:cubicBezTo>
                    <a:lnTo>
                      <a:pt x="0" y="133350"/>
                    </a:lnTo>
                    <a:lnTo>
                      <a:pt x="152400" y="133350"/>
                    </a:lnTo>
                    <a:lnTo>
                      <a:pt x="15240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1E6B4F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828800" y="51244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133350"/>
                    </a:lnTo>
                    <a:lnTo>
                      <a:pt x="114300" y="133350"/>
                    </a:lnTo>
                    <a:lnTo>
                      <a:pt x="114300" y="57150"/>
                    </a:lnTo>
                    <a:cubicBezTo>
                      <a:pt x="114300" y="25587"/>
                      <a:pt x="88714" y="0"/>
                      <a:pt x="57150" y="0"/>
                    </a:cubicBezTo>
                    <a:close/>
                  </a:path>
                </a:pathLst>
              </a:custGeom>
              <a:solidFill>
                <a:srgbClr val="1E6B4F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828800" y="5010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3" y="76200"/>
                      <a:pt x="76200" y="59142"/>
                      <a:pt x="76200" y="38100"/>
                    </a:cubicBezTo>
                    <a:cubicBezTo>
                      <a:pt x="76200" y="17058"/>
                      <a:pt x="59143" y="0"/>
                      <a:pt x="38100" y="0"/>
                    </a:cubicBezTo>
                    <a:cubicBezTo>
                      <a:pt x="17057" y="0"/>
                      <a:pt x="0" y="17058"/>
                      <a:pt x="0" y="38100"/>
                    </a:cubicBezTo>
                    <a:cubicBezTo>
                      <a:pt x="0" y="59142"/>
                      <a:pt x="17057" y="76200"/>
                      <a:pt x="38100" y="76200"/>
                    </a:cubicBezTo>
                    <a:close/>
                  </a:path>
                </a:pathLst>
              </a:custGeom>
              <a:solidFill>
                <a:srgbClr val="1E6B4F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2116455" y="4921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跨文化协调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20265" y="5201602"/>
              <a:ext cx="4926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凯捷 Global 网络推动美方数据移交谈判,降低本地团队直接交涉的风险。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9600" y="5638800"/>
            <a:ext cx="10972800" cy="628650"/>
            <a:chOff x="609600" y="5638800"/>
            <a:chExt cx="10972800" cy="628650"/>
          </a:xfrm>
        </p:grpSpPr>
        <p:sp>
          <p:nvSpPr>
            <p:cNvPr id="67" name="Rectangle 67"/>
            <p:cNvSpPr/>
            <p:nvPr/>
          </p:nvSpPr>
          <p:spPr>
            <a:xfrm>
              <a:off x="609600" y="5638800"/>
              <a:ext cx="10972800" cy="6286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76300" y="5829300"/>
              <a:ext cx="266700" cy="266700"/>
              <a:chOff x="876300" y="5829300"/>
              <a:chExt cx="266700" cy="2667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942975" y="58959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cubicBezTo>
                      <a:pt x="0" y="103498"/>
                      <a:pt x="29851" y="133350"/>
                      <a:pt x="66675" y="133350"/>
                    </a:cubicBezTo>
                    <a:cubicBezTo>
                      <a:pt x="103498" y="133350"/>
                      <a:pt x="133350" y="103498"/>
                      <a:pt x="133350" y="66675"/>
                    </a:cubicBezTo>
                    <a:cubicBezTo>
                      <a:pt x="133350" y="29851"/>
                      <a:pt x="103498" y="0"/>
                      <a:pt x="66675" y="0"/>
                    </a:cubicBezTo>
                    <a:close/>
                    <a:moveTo>
                      <a:pt x="33338" y="66675"/>
                    </a:moveTo>
                    <a:cubicBezTo>
                      <a:pt x="33338" y="48263"/>
                      <a:pt x="48263" y="33338"/>
                      <a:pt x="66675" y="33338"/>
                    </a:cubicBezTo>
                    <a:cubicBezTo>
                      <a:pt x="85087" y="33338"/>
                      <a:pt x="100012" y="48263"/>
                      <a:pt x="100012" y="66675"/>
                    </a:cubicBezTo>
                    <a:cubicBezTo>
                      <a:pt x="100012" y="85087"/>
                      <a:pt x="85087" y="100012"/>
                      <a:pt x="66675" y="100012"/>
                    </a:cubicBezTo>
                    <a:cubicBezTo>
                      <a:pt x="48263" y="100012"/>
                      <a:pt x="33338" y="85087"/>
                      <a:pt x="33338" y="66675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6300" y="58293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0"/>
                    </a:move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lose/>
                    <a:moveTo>
                      <a:pt x="33338" y="133350"/>
                    </a:moveTo>
                    <a:cubicBezTo>
                      <a:pt x="33338" y="78115"/>
                      <a:pt x="78115" y="33338"/>
                      <a:pt x="133350" y="33338"/>
                    </a:cubicBezTo>
                    <a:cubicBezTo>
                      <a:pt x="188585" y="33338"/>
                      <a:pt x="233362" y="78115"/>
                      <a:pt x="233362" y="133350"/>
                    </a:cubicBezTo>
                    <a:cubicBezTo>
                      <a:pt x="233362" y="188585"/>
                      <a:pt x="188585" y="233362"/>
                      <a:pt x="133350" y="233362"/>
                    </a:cubicBezTo>
                    <a:cubicBezTo>
                      <a:pt x="78115" y="233362"/>
                      <a:pt x="33338" y="188585"/>
                      <a:pt x="33338" y="133350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261110" y="5880735"/>
              <a:ext cx="77682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 xml:space="preserve">选型不表态:Oracle / SAP 双技术栈都有 —— </a:t>
              </a:r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「我们帮你把选型决策做对,而不是替某个厂商站台。」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73" name="TextBox 73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32" grpId="0"/>
      <p:bldP spid="44" grpId="0"/>
      <p:bldP spid="53" grpId="0"/>
      <p:bldP spid="66" grpId="0"/>
      <p:bldP spid="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7596342" cy="590550"/>
            <a:chOff x="581025" y="309562"/>
            <a:chExt cx="7596342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759634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系统解耦路线图 · 总览 —— 三阶段、两条处理路径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本次拜访唯一一张「硬通货」图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990600"/>
            <a:ext cx="3390900" cy="1600200"/>
            <a:chOff x="609600" y="990600"/>
            <a:chExt cx="3390900" cy="1600200"/>
          </a:xfrm>
        </p:grpSpPr>
        <p:sp>
          <p:nvSpPr>
            <p:cNvPr id="8" name="Rectangle 8"/>
            <p:cNvSpPr/>
            <p:nvPr/>
          </p:nvSpPr>
          <p:spPr>
            <a:xfrm>
              <a:off x="609600" y="990600"/>
              <a:ext cx="3390900" cy="16002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90600"/>
              <a:ext cx="3390900" cy="438150"/>
            </a:xfrm>
            <a:prstGeom prst="roundRect">
              <a:avLst>
                <a:gd name="adj" fmla="val 21739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276350"/>
              <a:ext cx="3390900" cy="1524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2005" y="11306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阶段一 · 解耦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37562" y="1161574"/>
              <a:ext cx="12657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交割前 ~ 2026/4/1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5815" y="1658302"/>
              <a:ext cx="17135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建中国区独立 Instance,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5815" y="1886902"/>
              <a:ext cx="15525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与 Global 并行;主数据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5815" y="21155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HUB 本地化;搭过渡层。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057650" y="1695450"/>
            <a:ext cx="190500" cy="190500"/>
            <a:chOff x="4057650" y="1695450"/>
            <a:chExt cx="190500" cy="190500"/>
          </a:xfrm>
        </p:grpSpPr>
        <p:sp>
          <p:nvSpPr>
            <p:cNvPr id="17" name="Polygon 17"/>
            <p:cNvSpPr/>
            <p:nvPr/>
          </p:nvSpPr>
          <p:spPr>
            <a:xfrm>
              <a:off x="4057650" y="16954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333875" y="990600"/>
            <a:ext cx="3390900" cy="1600200"/>
            <a:chOff x="4333875" y="990600"/>
            <a:chExt cx="3390900" cy="1600200"/>
          </a:xfrm>
        </p:grpSpPr>
        <p:sp>
          <p:nvSpPr>
            <p:cNvPr id="19" name="Rectangle 19"/>
            <p:cNvSpPr/>
            <p:nvPr/>
          </p:nvSpPr>
          <p:spPr>
            <a:xfrm>
              <a:off x="4333875" y="990600"/>
              <a:ext cx="3390900" cy="16002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990600"/>
              <a:ext cx="3390900" cy="438150"/>
            </a:xfrm>
            <a:prstGeom prst="roundRect">
              <a:avLst>
                <a:gd name="adj" fmla="val 21739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33875" y="1276350"/>
              <a:ext cx="3390900" cy="15240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26280" y="11306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阶段二 · 过渡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19795" y="1161574"/>
              <a:ext cx="14078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2026/4/1 ~ +24 个月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30090" y="1658302"/>
              <a:ext cx="1744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双轨运行,Global 仍在用;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30090" y="18869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接口逐批从「指向北美」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30090" y="2115502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切到「指向本地」;数据移交。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81925" y="1695450"/>
            <a:ext cx="190500" cy="190500"/>
            <a:chOff x="7781925" y="1695450"/>
            <a:chExt cx="190500" cy="190500"/>
          </a:xfrm>
        </p:grpSpPr>
        <p:sp>
          <p:nvSpPr>
            <p:cNvPr id="28" name="Polygon 28"/>
            <p:cNvSpPr/>
            <p:nvPr/>
          </p:nvSpPr>
          <p:spPr>
            <a:xfrm>
              <a:off x="7781925" y="16954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058150" y="990600"/>
            <a:ext cx="3524250" cy="1600200"/>
            <a:chOff x="8058150" y="990600"/>
            <a:chExt cx="3524250" cy="1600200"/>
          </a:xfrm>
        </p:grpSpPr>
        <p:sp>
          <p:nvSpPr>
            <p:cNvPr id="30" name="Rectangle 30"/>
            <p:cNvSpPr/>
            <p:nvPr/>
          </p:nvSpPr>
          <p:spPr>
            <a:xfrm>
              <a:off x="8058150" y="990600"/>
              <a:ext cx="3524250" cy="16002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58150" y="990600"/>
              <a:ext cx="3524250" cy="438150"/>
            </a:xfrm>
            <a:prstGeom prst="roundRect">
              <a:avLst>
                <a:gd name="adj" fmla="val 21739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58150" y="1276350"/>
              <a:ext cx="3524250" cy="15240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0555" y="11306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阶段三 · 脱钩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04436" y="11615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~ 2028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54365" y="16583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完全脱离 Global;BOH 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54365" y="18869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剩余系统按计划更换,完成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54365" y="21155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中国区独立技术底座。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4360" y="2842260"/>
            <a:ext cx="3756946" cy="243840"/>
            <a:chOff x="594360" y="2842260"/>
            <a:chExt cx="3756946" cy="243840"/>
          </a:xfrm>
        </p:grpSpPr>
        <p:sp>
          <p:nvSpPr>
            <p:cNvPr id="39" name="TextBox 39"/>
            <p:cNvSpPr txBox="1"/>
            <p:nvPr/>
          </p:nvSpPr>
          <p:spPr>
            <a:xfrm>
              <a:off x="594360" y="2842260"/>
              <a:ext cx="3756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每个系统只走两条路径之一 —— 先分类,再排期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3124200"/>
            <a:ext cx="5334000" cy="2362200"/>
            <a:chOff x="609600" y="3124200"/>
            <a:chExt cx="5334000" cy="2362200"/>
          </a:xfrm>
        </p:grpSpPr>
        <p:sp>
          <p:nvSpPr>
            <p:cNvPr id="41" name="Rectangle 41"/>
            <p:cNvSpPr/>
            <p:nvPr/>
          </p:nvSpPr>
          <p:spPr>
            <a:xfrm>
              <a:off x="609600" y="3124200"/>
              <a:ext cx="5334000" cy="23622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9050">
              <a:solidFill>
                <a:srgbClr val="B0392E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312420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" y="3409950"/>
              <a:ext cx="5334000" cy="190500"/>
            </a:xfrm>
            <a:prstGeom prst="rect">
              <a:avLst/>
            </a:prstGeom>
            <a:solidFill>
              <a:srgbClr val="B0392E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34628" y="3238500"/>
              <a:ext cx="232172" cy="247650"/>
              <a:chOff x="834628" y="3238500"/>
              <a:chExt cx="232172" cy="2476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4628" y="3238500"/>
                <a:ext cx="232172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32172" h="247650">
                    <a:moveTo>
                      <a:pt x="79269" y="13600"/>
                    </a:moveTo>
                    <a:cubicBezTo>
                      <a:pt x="94737" y="29068"/>
                      <a:pt x="97011" y="52734"/>
                      <a:pt x="86090" y="70612"/>
                    </a:cubicBezTo>
                    <a:lnTo>
                      <a:pt x="232172" y="216694"/>
                    </a:lnTo>
                    <a:lnTo>
                      <a:pt x="216694" y="232172"/>
                    </a:lnTo>
                    <a:lnTo>
                      <a:pt x="170259" y="232172"/>
                    </a:lnTo>
                    <a:lnTo>
                      <a:pt x="100608" y="162520"/>
                    </a:lnTo>
                    <a:lnTo>
                      <a:pt x="86090" y="177037"/>
                    </a:lnTo>
                    <a:cubicBezTo>
                      <a:pt x="97011" y="194916"/>
                      <a:pt x="94737" y="218582"/>
                      <a:pt x="79269" y="234049"/>
                    </a:cubicBezTo>
                    <a:cubicBezTo>
                      <a:pt x="70202" y="243117"/>
                      <a:pt x="58318" y="247650"/>
                      <a:pt x="46434" y="247650"/>
                    </a:cubicBezTo>
                    <a:lnTo>
                      <a:pt x="43779" y="247650"/>
                    </a:lnTo>
                    <a:cubicBezTo>
                      <a:pt x="19600" y="247650"/>
                      <a:pt x="0" y="228050"/>
                      <a:pt x="0" y="203872"/>
                    </a:cubicBezTo>
                    <a:cubicBezTo>
                      <a:pt x="0" y="192260"/>
                      <a:pt x="4612" y="181125"/>
                      <a:pt x="12823" y="172915"/>
                    </a:cubicBezTo>
                    <a:lnTo>
                      <a:pt x="61912" y="123825"/>
                    </a:lnTo>
                    <a:lnTo>
                      <a:pt x="12823" y="74735"/>
                    </a:lnTo>
                    <a:cubicBezTo>
                      <a:pt x="4612" y="66525"/>
                      <a:pt x="0" y="55390"/>
                      <a:pt x="0" y="43779"/>
                    </a:cubicBezTo>
                    <a:cubicBezTo>
                      <a:pt x="0" y="19600"/>
                      <a:pt x="19600" y="0"/>
                      <a:pt x="43779" y="0"/>
                    </a:cubicBezTo>
                    <a:lnTo>
                      <a:pt x="46434" y="0"/>
                    </a:lnTo>
                    <a:cubicBezTo>
                      <a:pt x="58318" y="0"/>
                      <a:pt x="70202" y="4533"/>
                      <a:pt x="79269" y="13600"/>
                    </a:cubicBezTo>
                    <a:close/>
                    <a:moveTo>
                      <a:pt x="30956" y="46434"/>
                    </a:moveTo>
                    <a:cubicBezTo>
                      <a:pt x="30956" y="54983"/>
                      <a:pt x="37886" y="61913"/>
                      <a:pt x="46434" y="61913"/>
                    </a:cubicBezTo>
                    <a:cubicBezTo>
                      <a:pt x="54983" y="61913"/>
                      <a:pt x="61912" y="54983"/>
                      <a:pt x="61912" y="46434"/>
                    </a:cubicBezTo>
                    <a:cubicBezTo>
                      <a:pt x="61912" y="37886"/>
                      <a:pt x="54983" y="30956"/>
                      <a:pt x="46434" y="30956"/>
                    </a:cubicBezTo>
                    <a:cubicBezTo>
                      <a:pt x="37886" y="30956"/>
                      <a:pt x="30956" y="37886"/>
                      <a:pt x="30956" y="46434"/>
                    </a:cubicBezTo>
                    <a:close/>
                    <a:moveTo>
                      <a:pt x="46434" y="185738"/>
                    </a:moveTo>
                    <a:cubicBezTo>
                      <a:pt x="37886" y="185738"/>
                      <a:pt x="30956" y="192667"/>
                      <a:pt x="30956" y="201216"/>
                    </a:cubicBezTo>
                    <a:cubicBezTo>
                      <a:pt x="30956" y="209764"/>
                      <a:pt x="37886" y="216694"/>
                      <a:pt x="46434" y="216694"/>
                    </a:cubicBezTo>
                    <a:cubicBezTo>
                      <a:pt x="54983" y="216694"/>
                      <a:pt x="61912" y="209764"/>
                      <a:pt x="61912" y="201216"/>
                    </a:cubicBezTo>
                    <a:cubicBezTo>
                      <a:pt x="61912" y="192667"/>
                      <a:pt x="54983" y="185738"/>
                      <a:pt x="46434" y="1857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8453" y="3253978"/>
                <a:ext cx="108347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08347" h="85130">
                    <a:moveTo>
                      <a:pt x="46434" y="0"/>
                    </a:moveTo>
                    <a:lnTo>
                      <a:pt x="0" y="46434"/>
                    </a:lnTo>
                    <a:lnTo>
                      <a:pt x="38695" y="85130"/>
                    </a:lnTo>
                    <a:lnTo>
                      <a:pt x="108347" y="15478"/>
                    </a:lnTo>
                    <a:lnTo>
                      <a:pt x="92869" y="0"/>
                    </a:lnTo>
                    <a:lnTo>
                      <a:pt x="464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163002" y="3284696"/>
              <a:ext cx="178441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路径 A · 物理拆分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2960" y="3832860"/>
              <a:ext cx="2735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必须真拆 —— 重建中国区独立实例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4865" y="4153852"/>
              <a:ext cx="3185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与北美共用 Instance / 承载法定账套或主数据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4865" y="4382452"/>
              <a:ext cx="2503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源头 / 切割后失去美方支持的系统。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" y="4953000"/>
              <a:ext cx="4876800" cy="342900"/>
            </a:xfrm>
            <a:prstGeom prst="roundRect">
              <a:avLst>
                <a:gd name="adj" fmla="val 16667"/>
              </a:avLst>
            </a:prstGeom>
            <a:solidFill>
              <a:srgbClr val="B0392E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15365" y="5058728"/>
              <a:ext cx="3037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成本高、周期长 —— 这是项目的关键路径。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248400" y="3124200"/>
            <a:ext cx="5334000" cy="2362200"/>
            <a:chOff x="6248400" y="3124200"/>
            <a:chExt cx="5334000" cy="2362200"/>
          </a:xfrm>
        </p:grpSpPr>
        <p:sp>
          <p:nvSpPr>
            <p:cNvPr id="54" name="Rectangle 54"/>
            <p:cNvSpPr/>
            <p:nvPr/>
          </p:nvSpPr>
          <p:spPr>
            <a:xfrm>
              <a:off x="6248400" y="3124200"/>
              <a:ext cx="5334000" cy="23622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9050">
              <a:solidFill>
                <a:srgbClr val="1E6B4F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12420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3409950"/>
              <a:ext cx="5334000" cy="19050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457950" y="3284934"/>
              <a:ext cx="247650" cy="154781"/>
            </a:xfrm>
            <a:custGeom>
              <a:avLst/>
              <a:gdLst/>
              <a:ahLst/>
              <a:cxnLst/>
              <a:rect l="l" t="t" r="r" b="b"/>
              <a:pathLst>
                <a:path w="247650" h="154781">
                  <a:moveTo>
                    <a:pt x="92869" y="92869"/>
                  </a:moveTo>
                  <a:lnTo>
                    <a:pt x="92869" y="154781"/>
                  </a:lnTo>
                  <a:lnTo>
                    <a:pt x="77391" y="154781"/>
                  </a:lnTo>
                  <a:lnTo>
                    <a:pt x="0" y="77391"/>
                  </a:lnTo>
                  <a:lnTo>
                    <a:pt x="77391" y="0"/>
                  </a:lnTo>
                  <a:lnTo>
                    <a:pt x="92869" y="0"/>
                  </a:lnTo>
                  <a:lnTo>
                    <a:pt x="92869" y="61912"/>
                  </a:lnTo>
                  <a:lnTo>
                    <a:pt x="154781" y="61912"/>
                  </a:lnTo>
                  <a:lnTo>
                    <a:pt x="154781" y="0"/>
                  </a:lnTo>
                  <a:lnTo>
                    <a:pt x="170259" y="0"/>
                  </a:lnTo>
                  <a:lnTo>
                    <a:pt x="247650" y="77391"/>
                  </a:lnTo>
                  <a:lnTo>
                    <a:pt x="170259" y="154781"/>
                  </a:lnTo>
                  <a:lnTo>
                    <a:pt x="154781" y="154781"/>
                  </a:lnTo>
                  <a:lnTo>
                    <a:pt x="154781" y="92869"/>
                  </a:lnTo>
                  <a:lnTo>
                    <a:pt x="92869" y="928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1802" y="3284696"/>
              <a:ext cx="178441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路径 B · 逻辑迁移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1760" y="3832860"/>
              <a:ext cx="2735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只换归属与连接 —— 业务逻辑不动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3665" y="4153852"/>
              <a:ext cx="28713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通过接口重指向即可解决归属的周边系统,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3665" y="43824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本体不需重建。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953000"/>
              <a:ext cx="4876800" cy="342900"/>
            </a:xfrm>
            <a:prstGeom prst="roundRect">
              <a:avLst>
                <a:gd name="adj" fmla="val 16667"/>
              </a:avLst>
            </a:prstGeom>
            <a:solidFill>
              <a:srgbClr val="1E6B4F">
                <a:alpha val="1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54165" y="5058728"/>
              <a:ext cx="25546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成本低、可分批 —— 用过渡层兜底。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5638800"/>
            <a:ext cx="10972800" cy="457200"/>
            <a:chOff x="609600" y="5638800"/>
            <a:chExt cx="10972800" cy="457200"/>
          </a:xfrm>
        </p:grpSpPr>
        <p:sp>
          <p:nvSpPr>
            <p:cNvPr id="65" name="Rectangle 65"/>
            <p:cNvSpPr/>
            <p:nvPr/>
          </p:nvSpPr>
          <p:spPr>
            <a:xfrm>
              <a:off x="609600" y="5638800"/>
              <a:ext cx="10972800" cy="457200"/>
            </a:xfrm>
            <a:prstGeom prst="roundRect">
              <a:avLst>
                <a:gd name="adj" fmla="val 12500"/>
              </a:avLst>
            </a:prstGeom>
            <a:solidFill>
              <a:srgbClr val="C8862E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19150" y="5753100"/>
              <a:ext cx="228600" cy="228600"/>
              <a:chOff x="819150" y="5753100"/>
              <a:chExt cx="228600" cy="2286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919162" y="58531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14288"/>
                    </a:moveTo>
                    <a:cubicBezTo>
                      <a:pt x="28575" y="22178"/>
                      <a:pt x="22178" y="28575"/>
                      <a:pt x="14288" y="28575"/>
                    </a:cubicBezTo>
                    <a:cubicBezTo>
                      <a:pt x="6397" y="28575"/>
                      <a:pt x="0" y="22178"/>
                      <a:pt x="0" y="14288"/>
                    </a:cubicBez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9150" y="5753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28588" y="22524"/>
                    </a:moveTo>
                    <a:lnTo>
                      <a:pt x="128588" y="0"/>
                    </a:lnTo>
                    <a:lnTo>
                      <a:pt x="100012" y="0"/>
                    </a:lnTo>
                    <a:lnTo>
                      <a:pt x="100012" y="22524"/>
                    </a:lnTo>
                    <a:cubicBezTo>
                      <a:pt x="60163" y="28677"/>
                      <a:pt x="28677" y="60163"/>
                      <a:pt x="22524" y="100012"/>
                    </a:cubicBezTo>
                    <a:lnTo>
                      <a:pt x="0" y="100012"/>
                    </a:lnTo>
                    <a:lnTo>
                      <a:pt x="0" y="128588"/>
                    </a:lnTo>
                    <a:lnTo>
                      <a:pt x="22524" y="128588"/>
                    </a:lnTo>
                    <a:cubicBezTo>
                      <a:pt x="28677" y="168437"/>
                      <a:pt x="60163" y="199924"/>
                      <a:pt x="100012" y="206077"/>
                    </a:cubicBezTo>
                    <a:lnTo>
                      <a:pt x="100012" y="228600"/>
                    </a:lnTo>
                    <a:lnTo>
                      <a:pt x="128588" y="228600"/>
                    </a:lnTo>
                    <a:lnTo>
                      <a:pt x="128588" y="206077"/>
                    </a:lnTo>
                    <a:cubicBezTo>
                      <a:pt x="168437" y="199924"/>
                      <a:pt x="199924" y="168437"/>
                      <a:pt x="206077" y="128588"/>
                    </a:cubicBezTo>
                    <a:lnTo>
                      <a:pt x="228600" y="128588"/>
                    </a:lnTo>
                    <a:lnTo>
                      <a:pt x="228600" y="100012"/>
                    </a:lnTo>
                    <a:lnTo>
                      <a:pt x="206077" y="100012"/>
                    </a:lnTo>
                    <a:cubicBezTo>
                      <a:pt x="199924" y="60163"/>
                      <a:pt x="168437" y="28677"/>
                      <a:pt x="128588" y="22524"/>
                    </a:cubicBezTo>
                    <a:close/>
                    <a:moveTo>
                      <a:pt x="100012" y="51599"/>
                    </a:moveTo>
                    <a:lnTo>
                      <a:pt x="100012" y="71438"/>
                    </a:lnTo>
                    <a:lnTo>
                      <a:pt x="128588" y="71438"/>
                    </a:lnTo>
                    <a:lnTo>
                      <a:pt x="128588" y="51599"/>
                    </a:lnTo>
                    <a:cubicBezTo>
                      <a:pt x="152625" y="57054"/>
                      <a:pt x="171546" y="75975"/>
                      <a:pt x="177001" y="100012"/>
                    </a:cubicBezTo>
                    <a:lnTo>
                      <a:pt x="157162" y="100012"/>
                    </a:lnTo>
                    <a:lnTo>
                      <a:pt x="157162" y="128588"/>
                    </a:lnTo>
                    <a:lnTo>
                      <a:pt x="177001" y="128588"/>
                    </a:lnTo>
                    <a:cubicBezTo>
                      <a:pt x="171546" y="152625"/>
                      <a:pt x="152625" y="171546"/>
                      <a:pt x="128588" y="177001"/>
                    </a:cubicBezTo>
                    <a:lnTo>
                      <a:pt x="128588" y="157162"/>
                    </a:lnTo>
                    <a:lnTo>
                      <a:pt x="100012" y="157162"/>
                    </a:lnTo>
                    <a:lnTo>
                      <a:pt x="100012" y="177001"/>
                    </a:lnTo>
                    <a:cubicBezTo>
                      <a:pt x="75975" y="171546"/>
                      <a:pt x="57054" y="152625"/>
                      <a:pt x="51599" y="128588"/>
                    </a:cubicBezTo>
                    <a:lnTo>
                      <a:pt x="71438" y="128588"/>
                    </a:lnTo>
                    <a:lnTo>
                      <a:pt x="71438" y="100012"/>
                    </a:lnTo>
                    <a:lnTo>
                      <a:pt x="51599" y="100012"/>
                    </a:lnTo>
                    <a:cubicBezTo>
                      <a:pt x="57054" y="75975"/>
                      <a:pt x="75975" y="57054"/>
                      <a:pt x="100012" y="51599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47762" y="5803106"/>
              <a:ext cx="66879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A6A22"/>
                  </a:solidFill>
                  <a:latin typeface="Arial"/>
                  <a:ea typeface="Microsoft YaHei"/>
                  <a:cs typeface="Arial"/>
                </a:rPr>
                <a:t>收敛判断:33 个接口不是 33 个项目 —— 分类后真正高风险的物理拆分项,可能不到 1/3。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71" name="TextBox 71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7" grpId="0"/>
      <p:bldP spid="29" grpId="0"/>
      <p:bldP spid="38" grpId="0"/>
      <p:bldP spid="40" grpId="0"/>
      <p:bldP spid="53" grpId="0"/>
      <p:bldP spid="64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9218045" cy="590550"/>
            <a:chOff x="581025" y="309562"/>
            <a:chExt cx="9218045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92180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系统解耦路线图 · 判断标准 —— 「物理拆 or 逻辑迁」的四问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让分类有章可循,而不是凭感觉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51649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任意一问为「是」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→ 物理拆分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;四问全为「否」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→ 逻辑迁移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600200"/>
            <a:ext cx="10972800" cy="876300"/>
            <a:chOff x="609600" y="1600200"/>
            <a:chExt cx="10972800" cy="876300"/>
          </a:xfrm>
        </p:grpSpPr>
        <p:sp>
          <p:nvSpPr>
            <p:cNvPr id="12" name="Rectangle 12"/>
            <p:cNvSpPr/>
            <p:nvPr/>
          </p:nvSpPr>
          <p:spPr>
            <a:xfrm>
              <a:off x="609600" y="1600200"/>
              <a:ext cx="1981200" cy="876300"/>
            </a:xfrm>
            <a:prstGeom prst="roundRect">
              <a:avLst>
                <a:gd name="adj" fmla="val 8696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3435" y="1770698"/>
              <a:ext cx="36351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008" y="2129314"/>
              <a:ext cx="6189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连体性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705100" y="1600200"/>
              <a:ext cx="4953000" cy="876300"/>
            </a:xfrm>
            <a:prstGeom prst="roundRect">
              <a:avLst>
                <a:gd name="adj" fmla="val 869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18460" y="1985010"/>
              <a:ext cx="3738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是否与北美共用同一 Instance / 共享数据库?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772400" y="1600200"/>
              <a:ext cx="3810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B0392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87665" y="19250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是 → 物理拆分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87665" y="21536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无法靠接口切断,必须真拆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2590800"/>
            <a:ext cx="10972800" cy="876300"/>
            <a:chOff x="609600" y="2590800"/>
            <a:chExt cx="10972800" cy="876300"/>
          </a:xfrm>
        </p:grpSpPr>
        <p:sp>
          <p:nvSpPr>
            <p:cNvPr id="21" name="Rectangle 21"/>
            <p:cNvSpPr/>
            <p:nvPr/>
          </p:nvSpPr>
          <p:spPr>
            <a:xfrm>
              <a:off x="609600" y="2590800"/>
              <a:ext cx="1981200" cy="876300"/>
            </a:xfrm>
            <a:prstGeom prst="roundRect">
              <a:avLst>
                <a:gd name="adj" fmla="val 8696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3435" y="2761298"/>
              <a:ext cx="4382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2008" y="31199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账套源头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705100" y="2590800"/>
              <a:ext cx="4953000" cy="876300"/>
            </a:xfrm>
            <a:prstGeom prst="roundRect">
              <a:avLst>
                <a:gd name="adj" fmla="val 869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18460" y="2975610"/>
              <a:ext cx="39133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是否承载法定财务账套,或是主数据的源头系统?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772400" y="2590800"/>
              <a:ext cx="3810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B0392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87665" y="29156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是 → 物理拆分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87665" y="31442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必须落到中国区独立实例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581400"/>
            <a:ext cx="10972800" cy="876300"/>
            <a:chOff x="609600" y="3581400"/>
            <a:chExt cx="10972800" cy="876300"/>
          </a:xfrm>
        </p:grpSpPr>
        <p:sp>
          <p:nvSpPr>
            <p:cNvPr id="30" name="Rectangle 30"/>
            <p:cNvSpPr/>
            <p:nvPr/>
          </p:nvSpPr>
          <p:spPr>
            <a:xfrm>
              <a:off x="609600" y="3581400"/>
              <a:ext cx="1981200" cy="876300"/>
            </a:xfrm>
            <a:prstGeom prst="roundRect">
              <a:avLst>
                <a:gd name="adj" fmla="val 8696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3435" y="3751898"/>
              <a:ext cx="4382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008" y="41105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支持中断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705100" y="3581400"/>
              <a:ext cx="4953000" cy="876300"/>
            </a:xfrm>
            <a:prstGeom prst="roundRect">
              <a:avLst>
                <a:gd name="adj" fmla="val 869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18460" y="3966210"/>
              <a:ext cx="3471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切割后美方是否不再提供运维 / 升级支持?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772400" y="3581400"/>
              <a:ext cx="3810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B0392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87665" y="39062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是 → 物理拆分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7665" y="41348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不能依赖失去支持的系统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4572000"/>
            <a:ext cx="10972800" cy="876300"/>
            <a:chOff x="609600" y="4572000"/>
            <a:chExt cx="10972800" cy="876300"/>
          </a:xfrm>
        </p:grpSpPr>
        <p:sp>
          <p:nvSpPr>
            <p:cNvPr id="39" name="Rectangle 39"/>
            <p:cNvSpPr/>
            <p:nvPr/>
          </p:nvSpPr>
          <p:spPr>
            <a:xfrm>
              <a:off x="609600" y="4572000"/>
              <a:ext cx="1981200" cy="876300"/>
            </a:xfrm>
            <a:prstGeom prst="roundRect">
              <a:avLst>
                <a:gd name="adj" fmla="val 8696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3435" y="4742498"/>
              <a:ext cx="4382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008" y="51011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接口可解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705100" y="4572000"/>
              <a:ext cx="4953000" cy="876300"/>
            </a:xfrm>
            <a:prstGeom prst="roundRect">
              <a:avLst>
                <a:gd name="adj" fmla="val 8696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918460" y="4956810"/>
              <a:ext cx="36281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是否无法仅靠「接口重指向」解决归属问题?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772400" y="4572000"/>
              <a:ext cx="3810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1E6B4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87665" y="48968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是 → 物理拆分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87665" y="51254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否 → 逻辑迁移即可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5600700"/>
            <a:ext cx="10972800" cy="533400"/>
            <a:chOff x="609600" y="5600700"/>
            <a:chExt cx="10972800" cy="533400"/>
          </a:xfrm>
        </p:grpSpPr>
        <p:sp>
          <p:nvSpPr>
            <p:cNvPr id="48" name="Rectangle 48"/>
            <p:cNvSpPr/>
            <p:nvPr/>
          </p:nvSpPr>
          <p:spPr>
            <a:xfrm>
              <a:off x="609600" y="5600700"/>
              <a:ext cx="10972800" cy="53340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14995" y="5772150"/>
              <a:ext cx="170259" cy="247650"/>
              <a:chOff x="914995" y="5772150"/>
              <a:chExt cx="170259" cy="2476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14995" y="5772150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46434" y="85130"/>
                    </a:moveTo>
                    <a:cubicBezTo>
                      <a:pt x="46434" y="63759"/>
                      <a:pt x="63759" y="46434"/>
                      <a:pt x="85130" y="46434"/>
                    </a:cubicBezTo>
                    <a:cubicBezTo>
                      <a:pt x="106500" y="46434"/>
                      <a:pt x="123825" y="63759"/>
                      <a:pt x="123825" y="85130"/>
                    </a:cubicBezTo>
                    <a:cubicBezTo>
                      <a:pt x="123825" y="106500"/>
                      <a:pt x="106500" y="123825"/>
                      <a:pt x="85130" y="123825"/>
                    </a:cubicBezTo>
                    <a:lnTo>
                      <a:pt x="69652" y="123825"/>
                    </a:lnTo>
                    <a:lnTo>
                      <a:pt x="69652" y="170259"/>
                    </a:lnTo>
                    <a:lnTo>
                      <a:pt x="85130" y="170259"/>
                    </a:ln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59" y="38114"/>
                      <a:pt x="132146" y="0"/>
                      <a:pt x="85130" y="0"/>
                    </a:cubicBezTo>
                    <a:cubicBezTo>
                      <a:pt x="38114" y="0"/>
                      <a:pt x="0" y="38114"/>
                      <a:pt x="0" y="85130"/>
                    </a:cubicBezTo>
                    <a:lnTo>
                      <a:pt x="46434" y="851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84647" y="5973366"/>
                <a:ext cx="46434" cy="46434"/>
              </a:xfrm>
              <a:custGeom>
                <a:avLst/>
                <a:gdLst/>
                <a:ahLst/>
                <a:cxnLst/>
                <a:rect l="l" t="t" r="r" b="b"/>
                <a:pathLst>
                  <a:path w="46434" h="46434">
                    <a:moveTo>
                      <a:pt x="46434" y="0"/>
                    </a:moveTo>
                    <a:lnTo>
                      <a:pt x="0" y="0"/>
                    </a:lnTo>
                    <a:lnTo>
                      <a:pt x="0" y="46434"/>
                    </a:lnTo>
                    <a:lnTo>
                      <a:pt x="46434" y="46434"/>
                    </a:lnTo>
                    <a:lnTo>
                      <a:pt x="464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261110" y="5804535"/>
              <a:ext cx="78054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这套标准让分类「可解释、可追问」 —— 拜访现场被问到任何一个系统,都能当场给出归类逻辑。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54" name="TextBox 54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9" grpId="0"/>
      <p:bldP spid="38" grpId="0"/>
      <p:bldP spid="47" grpId="0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4939510" cy="590550"/>
            <a:chOff x="581025" y="309562"/>
            <a:chExt cx="4939510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493951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系统解耦路线图 · 系统分类清单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45275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基于现有架构图的初步归类 —— 拿到 RFI 后出精确版(初判,待校准)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952500"/>
            <a:ext cx="3505200" cy="4629150"/>
            <a:chOff x="609600" y="952500"/>
            <a:chExt cx="3505200" cy="46291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3505200" cy="462915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09600" y="952500"/>
              <a:ext cx="3505200" cy="590550"/>
            </a:xfrm>
            <a:custGeom>
              <a:avLst/>
              <a:gdLst/>
              <a:ahLst/>
              <a:cxnLst/>
              <a:rect l="l" t="t" r="r" b="b"/>
              <a:pathLst>
                <a:path w="3505200" h="590550">
                  <a:moveTo>
                    <a:pt x="95250" y="0"/>
                  </a:moveTo>
                  <a:lnTo>
                    <a:pt x="3409950" y="0"/>
                  </a:lnTo>
                  <a:cubicBezTo>
                    <a:pt x="3462555" y="0"/>
                    <a:pt x="3505200" y="42645"/>
                    <a:pt x="3505200" y="95250"/>
                  </a:cubicBezTo>
                  <a:lnTo>
                    <a:pt x="3505200" y="590550"/>
                  </a:lnTo>
                  <a:lnTo>
                    <a:pt x="0" y="59055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B0392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54869" y="1123950"/>
              <a:ext cx="250031" cy="266700"/>
              <a:chOff x="854869" y="1123950"/>
              <a:chExt cx="250031" cy="2667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54869" y="1123950"/>
                <a:ext cx="250031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266700">
                    <a:moveTo>
                      <a:pt x="85366" y="14647"/>
                    </a:moveTo>
                    <a:cubicBezTo>
                      <a:pt x="102024" y="31304"/>
                      <a:pt x="104473" y="56790"/>
                      <a:pt x="92713" y="76044"/>
                    </a:cubicBezTo>
                    <a:lnTo>
                      <a:pt x="250031" y="233363"/>
                    </a:lnTo>
                    <a:lnTo>
                      <a:pt x="233362" y="250031"/>
                    </a:lnTo>
                    <a:lnTo>
                      <a:pt x="183356" y="250031"/>
                    </a:lnTo>
                    <a:lnTo>
                      <a:pt x="108347" y="175022"/>
                    </a:lnTo>
                    <a:lnTo>
                      <a:pt x="92713" y="190656"/>
                    </a:lnTo>
                    <a:cubicBezTo>
                      <a:pt x="104473" y="209910"/>
                      <a:pt x="102024" y="235396"/>
                      <a:pt x="85366" y="252053"/>
                    </a:cubicBezTo>
                    <a:cubicBezTo>
                      <a:pt x="75602" y="261818"/>
                      <a:pt x="62804" y="266700"/>
                      <a:pt x="50006" y="266700"/>
                    </a:cubicBezTo>
                    <a:lnTo>
                      <a:pt x="47146" y="266700"/>
                    </a:lnTo>
                    <a:cubicBezTo>
                      <a:pt x="21108" y="266700"/>
                      <a:pt x="0" y="245592"/>
                      <a:pt x="0" y="219554"/>
                    </a:cubicBezTo>
                    <a:cubicBezTo>
                      <a:pt x="0" y="207049"/>
                      <a:pt x="4967" y="195058"/>
                      <a:pt x="13809" y="186217"/>
                    </a:cubicBezTo>
                    <a:lnTo>
                      <a:pt x="66675" y="133350"/>
                    </a:lnTo>
                    <a:lnTo>
                      <a:pt x="13809" y="80484"/>
                    </a:lnTo>
                    <a:cubicBezTo>
                      <a:pt x="4967" y="71642"/>
                      <a:pt x="0" y="59650"/>
                      <a:pt x="0" y="47146"/>
                    </a:cubicBezTo>
                    <a:cubicBezTo>
                      <a:pt x="0" y="21108"/>
                      <a:pt x="21108" y="0"/>
                      <a:pt x="47146" y="0"/>
                    </a:cubicBezTo>
                    <a:lnTo>
                      <a:pt x="50006" y="0"/>
                    </a:lnTo>
                    <a:cubicBezTo>
                      <a:pt x="62804" y="0"/>
                      <a:pt x="75602" y="4882"/>
                      <a:pt x="85366" y="14647"/>
                    </a:cubicBezTo>
                    <a:close/>
                    <a:moveTo>
                      <a:pt x="33338" y="50006"/>
                    </a:moveTo>
                    <a:cubicBezTo>
                      <a:pt x="33338" y="59212"/>
                      <a:pt x="40800" y="66675"/>
                      <a:pt x="50006" y="66675"/>
                    </a:cubicBezTo>
                    <a:cubicBezTo>
                      <a:pt x="59212" y="66675"/>
                      <a:pt x="66675" y="59212"/>
                      <a:pt x="66675" y="50006"/>
                    </a:cubicBezTo>
                    <a:cubicBezTo>
                      <a:pt x="66675" y="40800"/>
                      <a:pt x="59212" y="33338"/>
                      <a:pt x="50006" y="33338"/>
                    </a:cubicBezTo>
                    <a:cubicBezTo>
                      <a:pt x="40800" y="33338"/>
                      <a:pt x="33338" y="40800"/>
                      <a:pt x="33338" y="50006"/>
                    </a:cubicBezTo>
                    <a:close/>
                    <a:moveTo>
                      <a:pt x="50006" y="200025"/>
                    </a:moveTo>
                    <a:cubicBezTo>
                      <a:pt x="40800" y="200025"/>
                      <a:pt x="33338" y="207488"/>
                      <a:pt x="33338" y="216694"/>
                    </a:cubicBezTo>
                    <a:cubicBezTo>
                      <a:pt x="33338" y="225900"/>
                      <a:pt x="40800" y="233363"/>
                      <a:pt x="50006" y="233363"/>
                    </a:cubicBezTo>
                    <a:cubicBezTo>
                      <a:pt x="59212" y="233363"/>
                      <a:pt x="66675" y="225900"/>
                      <a:pt x="66675" y="216694"/>
                    </a:cubicBezTo>
                    <a:cubicBezTo>
                      <a:pt x="66675" y="207488"/>
                      <a:pt x="59212" y="200025"/>
                      <a:pt x="50006" y="2000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8219" y="1140619"/>
                <a:ext cx="116681" cy="9167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1678">
                    <a:moveTo>
                      <a:pt x="50006" y="0"/>
                    </a:moveTo>
                    <a:lnTo>
                      <a:pt x="0" y="50006"/>
                    </a:lnTo>
                    <a:lnTo>
                      <a:pt x="41672" y="91678"/>
                    </a:lnTo>
                    <a:lnTo>
                      <a:pt x="116681" y="16669"/>
                    </a:lnTo>
                    <a:lnTo>
                      <a:pt x="100012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00150" y="11715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路径 A · 物理拆分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5818" y="1704499"/>
              <a:ext cx="21404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必须真拆 · 重建中国区独立实例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57250" y="2076450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3462" y="2040731"/>
              <a:ext cx="15894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Oracle EBS 财务核心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5368" y="2266474"/>
              <a:ext cx="178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GL / AP / AR / FA / PA / CE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57250" y="2714625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462" y="2678906"/>
              <a:ext cx="8829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Oracle HUB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5368" y="290464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主数据分发 Item/Supplier/Store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57250" y="3352800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3462" y="3317081"/>
              <a:ext cx="710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Hyperion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5368" y="3542824"/>
              <a:ext cx="20183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报表合并,建本地独立 Instance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57250" y="3990975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3462" y="3955256"/>
              <a:ext cx="620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Anaplan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5368" y="4180999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全面预算,本地化承接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57250" y="4629150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3462" y="4593431"/>
              <a:ext cx="18441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Oracle MFG / OPM / QA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5368" y="48191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烘焙制造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43400" y="952500"/>
            <a:ext cx="3505200" cy="4629150"/>
            <a:chOff x="4343400" y="952500"/>
            <a:chExt cx="3505200" cy="4629150"/>
          </a:xfrm>
        </p:grpSpPr>
        <p:sp>
          <p:nvSpPr>
            <p:cNvPr id="31" name="Rectangle 31"/>
            <p:cNvSpPr/>
            <p:nvPr/>
          </p:nvSpPr>
          <p:spPr>
            <a:xfrm>
              <a:off x="4343400" y="952500"/>
              <a:ext cx="3505200" cy="462915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343400" y="952500"/>
              <a:ext cx="3505200" cy="590550"/>
            </a:xfrm>
            <a:custGeom>
              <a:avLst/>
              <a:gdLst/>
              <a:ahLst/>
              <a:cxnLst/>
              <a:rect l="l" t="t" r="r" b="b"/>
              <a:pathLst>
                <a:path w="3505200" h="590550">
                  <a:moveTo>
                    <a:pt x="95250" y="0"/>
                  </a:moveTo>
                  <a:lnTo>
                    <a:pt x="3409950" y="0"/>
                  </a:lnTo>
                  <a:cubicBezTo>
                    <a:pt x="3462555" y="0"/>
                    <a:pt x="3505200" y="42645"/>
                    <a:pt x="3505200" y="95250"/>
                  </a:cubicBezTo>
                  <a:lnTo>
                    <a:pt x="3505200" y="590550"/>
                  </a:lnTo>
                  <a:lnTo>
                    <a:pt x="0" y="59055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572000" y="1173956"/>
              <a:ext cx="266700" cy="166688"/>
            </a:xfrm>
            <a:custGeom>
              <a:avLst/>
              <a:gdLst/>
              <a:ahLst/>
              <a:cxnLst/>
              <a:rect l="l" t="t" r="r" b="b"/>
              <a:pathLst>
                <a:path w="266700" h="166688">
                  <a:moveTo>
                    <a:pt x="100013" y="100012"/>
                  </a:moveTo>
                  <a:lnTo>
                    <a:pt x="100013" y="166688"/>
                  </a:lnTo>
                  <a:lnTo>
                    <a:pt x="83344" y="166688"/>
                  </a:lnTo>
                  <a:lnTo>
                    <a:pt x="0" y="83344"/>
                  </a:lnTo>
                  <a:lnTo>
                    <a:pt x="83344" y="0"/>
                  </a:lnTo>
                  <a:lnTo>
                    <a:pt x="100013" y="0"/>
                  </a:lnTo>
                  <a:lnTo>
                    <a:pt x="100013" y="66675"/>
                  </a:lnTo>
                  <a:lnTo>
                    <a:pt x="166688" y="66675"/>
                  </a:lnTo>
                  <a:lnTo>
                    <a:pt x="166688" y="0"/>
                  </a:lnTo>
                  <a:lnTo>
                    <a:pt x="183356" y="0"/>
                  </a:lnTo>
                  <a:lnTo>
                    <a:pt x="266700" y="83344"/>
                  </a:lnTo>
                  <a:lnTo>
                    <a:pt x="183356" y="166688"/>
                  </a:lnTo>
                  <a:lnTo>
                    <a:pt x="166688" y="166688"/>
                  </a:lnTo>
                  <a:lnTo>
                    <a:pt x="166688" y="100012"/>
                  </a:lnTo>
                  <a:lnTo>
                    <a:pt x="100013" y="1000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33950" y="11715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路径 B · 逻辑迁移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9618" y="1704499"/>
              <a:ext cx="1990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只换归属与连接 · 接口重指向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4591050" y="20383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67262" y="2002631"/>
              <a:ext cx="2337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S2P(供应商准入 / 合同 / 付款)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4591050" y="24574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67262" y="2421731"/>
              <a:ext cx="1942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3PL WMS(收货 GR / 拣货)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4591050" y="28765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67262" y="2840831"/>
              <a:ext cx="18277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NGBOH · Control Tower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4591050" y="32956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67262" y="3259931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NGT&amp;E · SUN · SIMS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91050" y="37147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67262" y="3679031"/>
              <a:ext cx="2435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BIP · CDP · TMS · BPM · Vertex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591050" y="41338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67262" y="409813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Blackline · Citi Bank 银企接口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572000" y="4552950"/>
              <a:ext cx="3048000" cy="819150"/>
            </a:xfrm>
            <a:prstGeom prst="roundRect">
              <a:avLst>
                <a:gd name="adj" fmla="val 9302"/>
              </a:avLst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749165" y="47444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大部分周边系统在此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50118" y="50001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本体不重建,成本低、可分批,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50118" y="51906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用过渡层兜底。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77200" y="952500"/>
            <a:ext cx="3505200" cy="4629150"/>
            <a:chOff x="8077200" y="952500"/>
            <a:chExt cx="3505200" cy="4629150"/>
          </a:xfrm>
        </p:grpSpPr>
        <p:sp>
          <p:nvSpPr>
            <p:cNvPr id="53" name="Rectangle 53"/>
            <p:cNvSpPr/>
            <p:nvPr/>
          </p:nvSpPr>
          <p:spPr>
            <a:xfrm>
              <a:off x="8077200" y="952500"/>
              <a:ext cx="3505200" cy="462915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077200" y="952500"/>
              <a:ext cx="3505200" cy="590550"/>
            </a:xfrm>
            <a:custGeom>
              <a:avLst/>
              <a:gdLst/>
              <a:ahLst/>
              <a:cxnLst/>
              <a:rect l="l" t="t" r="r" b="b"/>
              <a:pathLst>
                <a:path w="3505200" h="590550">
                  <a:moveTo>
                    <a:pt x="95250" y="0"/>
                  </a:moveTo>
                  <a:lnTo>
                    <a:pt x="3409950" y="0"/>
                  </a:lnTo>
                  <a:cubicBezTo>
                    <a:pt x="3462555" y="0"/>
                    <a:pt x="3505200" y="42645"/>
                    <a:pt x="3505200" y="95250"/>
                  </a:cubicBezTo>
                  <a:lnTo>
                    <a:pt x="3505200" y="590550"/>
                  </a:lnTo>
                  <a:lnTo>
                    <a:pt x="0" y="59055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5B636E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339138" y="11239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33338" y="100012"/>
                  </a:moveTo>
                  <a:lnTo>
                    <a:pt x="33338" y="66675"/>
                  </a:lnTo>
                  <a:cubicBezTo>
                    <a:pt x="33338" y="29851"/>
                    <a:pt x="63189" y="0"/>
                    <a:pt x="100012" y="0"/>
                  </a:cubicBezTo>
                  <a:cubicBezTo>
                    <a:pt x="136835" y="0"/>
                    <a:pt x="166688" y="29851"/>
                    <a:pt x="166688" y="66675"/>
                  </a:cubicBezTo>
                  <a:lnTo>
                    <a:pt x="166688" y="100012"/>
                  </a:lnTo>
                  <a:lnTo>
                    <a:pt x="200025" y="100012"/>
                  </a:lnTo>
                  <a:lnTo>
                    <a:pt x="200025" y="266700"/>
                  </a:lnTo>
                  <a:lnTo>
                    <a:pt x="0" y="266700"/>
                  </a:lnTo>
                  <a:lnTo>
                    <a:pt x="0" y="100012"/>
                  </a:lnTo>
                  <a:lnTo>
                    <a:pt x="33338" y="100012"/>
                  </a:lnTo>
                  <a:close/>
                  <a:moveTo>
                    <a:pt x="66675" y="66675"/>
                  </a:moveTo>
                  <a:cubicBezTo>
                    <a:pt x="66675" y="48263"/>
                    <a:pt x="81601" y="33338"/>
                    <a:pt x="100012" y="33338"/>
                  </a:cubicBezTo>
                  <a:cubicBezTo>
                    <a:pt x="118424" y="33338"/>
                    <a:pt x="133350" y="48263"/>
                    <a:pt x="133350" y="66675"/>
                  </a:cubicBezTo>
                  <a:lnTo>
                    <a:pt x="133350" y="100012"/>
                  </a:lnTo>
                  <a:lnTo>
                    <a:pt x="66675" y="100012"/>
                  </a:lnTo>
                  <a:lnTo>
                    <a:pt x="66675" y="66675"/>
                  </a:lnTo>
                  <a:close/>
                  <a:moveTo>
                    <a:pt x="83344" y="216694"/>
                  </a:moveTo>
                  <a:lnTo>
                    <a:pt x="83344" y="150019"/>
                  </a:lnTo>
                  <a:lnTo>
                    <a:pt x="116681" y="150019"/>
                  </a:lnTo>
                  <a:lnTo>
                    <a:pt x="116681" y="216694"/>
                  </a:lnTo>
                  <a:lnTo>
                    <a:pt x="83344" y="2166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67750" y="1171575"/>
              <a:ext cx="19128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范围外 · 本次不动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93418" y="1704499"/>
              <a:ext cx="18414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明确边界 · 不纳入本次切割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324850" y="2076450"/>
              <a:ext cx="76200" cy="76200"/>
            </a:xfrm>
            <a:prstGeom prst="ellipse">
              <a:avLst/>
            </a:prstGeom>
            <a:solidFill>
              <a:srgbClr val="5B636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01062" y="2040731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租赁系统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02968" y="22664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本次不纳入切割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324850" y="2781300"/>
              <a:ext cx="76200" cy="76200"/>
            </a:xfrm>
            <a:prstGeom prst="ellipse">
              <a:avLst/>
            </a:prstGeom>
            <a:solidFill>
              <a:srgbClr val="5B636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01062" y="274558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BOH 微软系统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02968" y="29713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2028 年另行更换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324850" y="3486150"/>
              <a:ext cx="76200" cy="76200"/>
            </a:xfrm>
            <a:prstGeom prst="ellipse">
              <a:avLst/>
            </a:prstGeom>
            <a:solidFill>
              <a:srgbClr val="5B636E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01062" y="3450431"/>
              <a:ext cx="1688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Rainbow 销售预测算法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02968" y="367617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Control Tower 团队维护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8324850" y="4191000"/>
              <a:ext cx="76200" cy="76200"/>
            </a:xfrm>
            <a:prstGeom prst="ellipse">
              <a:avLst/>
            </a:prstGeom>
            <a:solidFill>
              <a:srgbClr val="5B636E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501062" y="4155281"/>
              <a:ext cx="1449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Oracle Global 系统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02968" y="43810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交割后两年内继续使用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305800" y="4819650"/>
              <a:ext cx="3048000" cy="552450"/>
            </a:xfrm>
            <a:prstGeom prst="roundRect">
              <a:avLst>
                <a:gd name="adj" fmla="val 13793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5030152"/>
              <a:ext cx="26271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主动讲清不碰什么 = 显专业、不贪大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9600" y="5715000"/>
            <a:ext cx="10972800" cy="419100"/>
            <a:chOff x="609600" y="5715000"/>
            <a:chExt cx="10972800" cy="419100"/>
          </a:xfrm>
        </p:grpSpPr>
        <p:sp>
          <p:nvSpPr>
            <p:cNvPr id="73" name="Rectangle 73"/>
            <p:cNvSpPr/>
            <p:nvPr/>
          </p:nvSpPr>
          <p:spPr>
            <a:xfrm>
              <a:off x="609600" y="5715000"/>
              <a:ext cx="10972800" cy="419100"/>
            </a:xfrm>
            <a:prstGeom prst="roundRect">
              <a:avLst>
                <a:gd name="adj" fmla="val 13636"/>
              </a:avLst>
            </a:prstGeom>
            <a:solidFill>
              <a:srgbClr val="C8862E">
                <a:alpha val="12000"/>
              </a:srgbClr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47725" y="5810250"/>
              <a:ext cx="171451" cy="228600"/>
              <a:chOff x="847725" y="5810250"/>
              <a:chExt cx="171451" cy="2286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47725" y="58102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71438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171450" y="228600"/>
                    </a:lnTo>
                    <a:lnTo>
                      <a:pt x="171450" y="100012"/>
                    </a:lnTo>
                    <a:lnTo>
                      <a:pt x="71438" y="100012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947738" y="5810250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71438"/>
                    </a:lnTo>
                    <a:lnTo>
                      <a:pt x="71438" y="714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148715" y="5858828"/>
              <a:ext cx="83675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6A22"/>
                  </a:solidFill>
                  <a:latin typeface="Arial"/>
                  <a:ea typeface="Microsoft YaHei"/>
                  <a:cs typeface="Arial"/>
                </a:rPr>
                <a:t>注:本表为基于架构图的初判,部分系统归类需 RFI 文档与现场确认 —— 这正是下一步「接口可拆解性评估」要交付的。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79" name="TextBox 79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2" grpId="0"/>
      <p:bldP spid="72" grpId="0"/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6164413" cy="590550"/>
            <a:chOff x="581025" y="309562"/>
            <a:chExt cx="6164413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616441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过渡层设计 —— 让前端门店业务「无感」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3331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业务连续性优先:在高速行驶中换引擎的关键缓冲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40504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后端引擎「分批换」,前端门店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一天都不用停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619250"/>
            <a:ext cx="2857500" cy="3733800"/>
            <a:chOff x="609600" y="1619250"/>
            <a:chExt cx="2857500" cy="3733800"/>
          </a:xfrm>
        </p:grpSpPr>
        <p:sp>
          <p:nvSpPr>
            <p:cNvPr id="12" name="Rectangle 12"/>
            <p:cNvSpPr/>
            <p:nvPr/>
          </p:nvSpPr>
          <p:spPr>
            <a:xfrm>
              <a:off x="609600" y="1619250"/>
              <a:ext cx="2857500" cy="3733800"/>
            </a:xfrm>
            <a:prstGeom prst="roundRect">
              <a:avLst>
                <a:gd name="adj" fmla="val 3333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4600" y="18164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前端 / 门店侧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3615" y="208549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按原协议收发,业务不感知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2400300"/>
              <a:ext cx="2324100" cy="4572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1A3A5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4480" y="2564606"/>
              <a:ext cx="3477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POS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6300" y="2952750"/>
              <a:ext cx="2324100" cy="4572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1A3A5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69593" y="3117056"/>
              <a:ext cx="5375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NGBOH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6300" y="3505200"/>
              <a:ext cx="2324100" cy="4572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1A3A5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79019" y="36695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3PL WMS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4057650"/>
              <a:ext cx="2324100" cy="4572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1A3A5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79819" y="4221956"/>
              <a:ext cx="9170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天猫 / 电商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" y="4610100"/>
              <a:ext cx="2324100" cy="4572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1A3A5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81732" y="4774406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S2P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543300" y="3276600"/>
            <a:ext cx="266700" cy="266700"/>
            <a:chOff x="3543300" y="3276600"/>
            <a:chExt cx="266700" cy="266700"/>
          </a:xfrm>
        </p:grpSpPr>
        <p:sp>
          <p:nvSpPr>
            <p:cNvPr id="26" name="Polygon 26"/>
            <p:cNvSpPr/>
            <p:nvPr/>
          </p:nvSpPr>
          <p:spPr>
            <a:xfrm>
              <a:off x="3543300" y="32766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3924300" y="1619250"/>
            <a:ext cx="4267200" cy="3733800"/>
            <a:chOff x="3924300" y="1619250"/>
            <a:chExt cx="4267200" cy="3733800"/>
          </a:xfrm>
        </p:grpSpPr>
        <p:sp>
          <p:nvSpPr>
            <p:cNvPr id="28" name="Rectangle 28"/>
            <p:cNvSpPr/>
            <p:nvPr/>
          </p:nvSpPr>
          <p:spPr>
            <a:xfrm>
              <a:off x="3924300" y="1619250"/>
              <a:ext cx="4267200" cy="3733800"/>
            </a:xfrm>
            <a:prstGeom prst="roundRect">
              <a:avLst>
                <a:gd name="adj" fmla="val 2551"/>
              </a:avLst>
            </a:prstGeom>
            <a:solidFill>
              <a:srgbClr val="C8862E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780359" y="1809750"/>
              <a:ext cx="250031" cy="285750"/>
              <a:chOff x="4780359" y="1809750"/>
              <a:chExt cx="250031" cy="2857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780359" y="1809750"/>
                <a:ext cx="25003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42875">
                    <a:moveTo>
                      <a:pt x="0" y="89297"/>
                    </a:moveTo>
                    <a:lnTo>
                      <a:pt x="0" y="53578"/>
                    </a:lnTo>
                    <a:lnTo>
                      <a:pt x="125016" y="0"/>
                    </a:lnTo>
                    <a:lnTo>
                      <a:pt x="250031" y="53578"/>
                    </a:lnTo>
                    <a:lnTo>
                      <a:pt x="250031" y="89297"/>
                    </a:lnTo>
                    <a:lnTo>
                      <a:pt x="125016" y="142875"/>
                    </a:lnTo>
                    <a:lnTo>
                      <a:pt x="0" y="892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80359" y="2006203"/>
                <a:ext cx="250031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89297">
                    <a:moveTo>
                      <a:pt x="125016" y="89297"/>
                    </a:moveTo>
                    <a:lnTo>
                      <a:pt x="0" y="35719"/>
                    </a:lnTo>
                    <a:lnTo>
                      <a:pt x="0" y="0"/>
                    </a:lnTo>
                    <a:lnTo>
                      <a:pt x="125016" y="53578"/>
                    </a:lnTo>
                    <a:lnTo>
                      <a:pt x="250031" y="0"/>
                    </a:lnTo>
                    <a:lnTo>
                      <a:pt x="250031" y="35719"/>
                    </a:lnTo>
                    <a:lnTo>
                      <a:pt x="125016" y="892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80359" y="1934766"/>
                <a:ext cx="250031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89297">
                    <a:moveTo>
                      <a:pt x="0" y="35719"/>
                    </a:moveTo>
                    <a:lnTo>
                      <a:pt x="125016" y="89297"/>
                    </a:lnTo>
                    <a:lnTo>
                      <a:pt x="250031" y="35719"/>
                    </a:lnTo>
                    <a:lnTo>
                      <a:pt x="250031" y="0"/>
                    </a:lnTo>
                    <a:lnTo>
                      <a:pt x="125016" y="53578"/>
                    </a:lnTo>
                    <a:lnTo>
                      <a:pt x="0" y="0"/>
                    </a:lnTo>
                    <a:lnTo>
                      <a:pt x="0" y="357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974967" y="1857375"/>
              <a:ext cx="21658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过渡层(缓冲 / 转换)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91000" y="2324100"/>
              <a:ext cx="37338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03408" y="25293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接口缓冲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06265" y="2839402"/>
              <a:ext cx="3178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前端按原协议收发,过渡层做格式与路由转换。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91000" y="3314700"/>
              <a:ext cx="37338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3408" y="351996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主数据双写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06265" y="3830002"/>
              <a:ext cx="2863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新旧实例同步,HUB 切换期数据保持一致。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91000" y="4305300"/>
              <a:ext cx="37338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03408" y="45105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路由开关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06265" y="4820602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接口逐批「指向北美 → 指向本地」,可灰度可回滚。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267700" y="3276600"/>
            <a:ext cx="266700" cy="266700"/>
            <a:chOff x="8267700" y="3276600"/>
            <a:chExt cx="266700" cy="266700"/>
          </a:xfrm>
        </p:grpSpPr>
        <p:sp>
          <p:nvSpPr>
            <p:cNvPr id="44" name="Polygon 44"/>
            <p:cNvSpPr/>
            <p:nvPr/>
          </p:nvSpPr>
          <p:spPr>
            <a:xfrm>
              <a:off x="8267700" y="32766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648700" y="1619250"/>
            <a:ext cx="2933700" cy="3733800"/>
            <a:chOff x="8648700" y="1619250"/>
            <a:chExt cx="2933700" cy="3733800"/>
          </a:xfrm>
        </p:grpSpPr>
        <p:sp>
          <p:nvSpPr>
            <p:cNvPr id="46" name="Rectangle 46"/>
            <p:cNvSpPr/>
            <p:nvPr/>
          </p:nvSpPr>
          <p:spPr>
            <a:xfrm>
              <a:off x="8648700" y="1619250"/>
              <a:ext cx="2933700" cy="3733800"/>
            </a:xfrm>
            <a:prstGeom prst="roundRect">
              <a:avLst>
                <a:gd name="adj" fmla="val 3247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51449" y="1816418"/>
              <a:ext cx="13282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后端 ERP 切换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62373" y="20854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引擎在后端分批替换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15400" y="2438400"/>
              <a:ext cx="24003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B0392E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59420" y="2697956"/>
              <a:ext cx="1512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旧 · 共用 Instance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03498" y="2972752"/>
              <a:ext cx="824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Oracle EBS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23213" y="3228499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与北美连体,逐步退出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9982200" y="3695700"/>
              <a:ext cx="266700" cy="133350"/>
            </a:xfrm>
            <a:custGeom>
              <a:avLst/>
              <a:gdLst/>
              <a:ahLst/>
              <a:cxnLst/>
              <a:rect l="l" t="t" r="r" b="b"/>
              <a:pathLst>
                <a:path w="266700" h="133350">
                  <a:moveTo>
                    <a:pt x="133350" y="0"/>
                  </a:moveTo>
                  <a:lnTo>
                    <a:pt x="0" y="133350"/>
                  </a:lnTo>
                  <a:lnTo>
                    <a:pt x="266700" y="13335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915400" y="3943350"/>
              <a:ext cx="24003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1E6B4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00637" y="4202906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新 · 中国区独立 Instance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46633" y="44777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重建配置,独立运行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91174" y="47334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能独立行军的技术底座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9600" y="5543550"/>
            <a:ext cx="10972800" cy="590550"/>
            <a:chOff x="609600" y="5543550"/>
            <a:chExt cx="10972800" cy="590550"/>
          </a:xfrm>
        </p:grpSpPr>
        <p:sp>
          <p:nvSpPr>
            <p:cNvPr id="59" name="Rectangle 59"/>
            <p:cNvSpPr/>
            <p:nvPr/>
          </p:nvSpPr>
          <p:spPr>
            <a:xfrm>
              <a:off x="609600" y="5543550"/>
              <a:ext cx="10972800" cy="5905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92969" y="57150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61110" y="5766435"/>
              <a:ext cx="70058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 xml:space="preserve">价值:后端引擎可以「分批换」,前端门店一天都不用停 —— </a:t>
              </a:r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这是麦当劳分拆验证过的打法。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63" name="TextBox 63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27" grpId="0"/>
      <p:bldP spid="43" grpId="0"/>
      <p:bldP spid="45" grpId="0"/>
      <p:bldP spid="58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10339435" cy="590550"/>
            <a:chOff x="581025" y="309562"/>
            <a:chExt cx="10339435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1033943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行业参照 · 百胜中国万店启示 —— 从集团分拆、ERP 迁回本地的同题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42055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凯捷团队 20 年陪伴百胜中国,见证 3000 → 15000+ 门店的成长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76969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百胜中国从 YUM 集团分拆独立上市,ERP 从美国迁回中国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和星巴克这次,是同一道题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581150"/>
            <a:ext cx="3505200" cy="1028700"/>
            <a:chOff x="609600" y="1581150"/>
            <a:chExt cx="3505200" cy="1028700"/>
          </a:xfrm>
        </p:grpSpPr>
        <p:sp>
          <p:nvSpPr>
            <p:cNvPr id="12" name="Rectangle 12"/>
            <p:cNvSpPr/>
            <p:nvPr/>
          </p:nvSpPr>
          <p:spPr>
            <a:xfrm>
              <a:off x="609600" y="1581150"/>
              <a:ext cx="3505200" cy="1028700"/>
            </a:xfrm>
            <a:prstGeom prst="roundRect">
              <a:avLst>
                <a:gd name="adj" fmla="val 9259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581150"/>
              <a:ext cx="57150" cy="10287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3915" y="1896428"/>
              <a:ext cx="147254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15,000</a:t>
              </a:r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2965" y="23250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门店规模 · 多品牌运营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43400" y="1581150"/>
            <a:ext cx="3505200" cy="1028700"/>
            <a:chOff x="4343400" y="1581150"/>
            <a:chExt cx="3505200" cy="1028700"/>
          </a:xfrm>
        </p:grpSpPr>
        <p:sp>
          <p:nvSpPr>
            <p:cNvPr id="17" name="Rectangle 17"/>
            <p:cNvSpPr/>
            <p:nvPr/>
          </p:nvSpPr>
          <p:spPr>
            <a:xfrm>
              <a:off x="4343400" y="1581150"/>
              <a:ext cx="3505200" cy="1028700"/>
            </a:xfrm>
            <a:prstGeom prst="roundRect">
              <a:avLst>
                <a:gd name="adj" fmla="val 9259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43400" y="1581150"/>
              <a:ext cx="57150" cy="102870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77715" y="1896428"/>
              <a:ext cx="100328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 xml:space="preserve">20 </a:t>
              </a:r>
              <a:r>
                <a:rPr lang="zh-CN" sz="150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96765" y="232505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IT 规划与系统建设伴随服务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77200" y="1581150"/>
            <a:ext cx="3505200" cy="1028700"/>
            <a:chOff x="8077200" y="1581150"/>
            <a:chExt cx="3505200" cy="1028700"/>
          </a:xfrm>
        </p:grpSpPr>
        <p:sp>
          <p:nvSpPr>
            <p:cNvPr id="22" name="Rectangle 22"/>
            <p:cNvSpPr/>
            <p:nvPr/>
          </p:nvSpPr>
          <p:spPr>
            <a:xfrm>
              <a:off x="8077200" y="1581150"/>
              <a:ext cx="3505200" cy="1028700"/>
            </a:xfrm>
            <a:prstGeom prst="roundRect">
              <a:avLst>
                <a:gd name="adj" fmla="val 9259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1581150"/>
              <a:ext cx="57150" cy="102870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1515" y="1896428"/>
              <a:ext cx="7882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 xml:space="preserve">3 </a:t>
              </a:r>
              <a:r>
                <a:rPr lang="zh-CN" sz="150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30565" y="232505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ERP 大版本升级 + 从美国迁回中国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2819400"/>
            <a:ext cx="5334000" cy="2495550"/>
            <a:chOff x="609600" y="2819400"/>
            <a:chExt cx="5334000" cy="2495550"/>
          </a:xfrm>
        </p:grpSpPr>
        <p:sp>
          <p:nvSpPr>
            <p:cNvPr id="27" name="Rectangle 27"/>
            <p:cNvSpPr/>
            <p:nvPr/>
          </p:nvSpPr>
          <p:spPr>
            <a:xfrm>
              <a:off x="609600" y="2819400"/>
              <a:ext cx="5334000" cy="2495550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281940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105150"/>
              <a:ext cx="5334000" cy="1905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1055" y="297846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2005 – 2017 · 深化应用,管理精细化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7250" y="3638550"/>
              <a:ext cx="76200" cy="762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3462" y="3602831"/>
              <a:ext cx="3733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应用深化:需求预测、多仓采购计划、门店租赁合同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57250" y="4000500"/>
              <a:ext cx="76200" cy="762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3462" y="3964781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固定资产管理增强、水电煤费用管理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57250" y="4362450"/>
              <a:ext cx="76200" cy="762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3462" y="4326731"/>
              <a:ext cx="2583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并购整合:新品牌纳入、供应链扩展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" y="4724400"/>
              <a:ext cx="4876800" cy="400050"/>
            </a:xfrm>
            <a:prstGeom prst="roundRect">
              <a:avLst>
                <a:gd name="adj" fmla="val 14286"/>
              </a:avLst>
            </a:prstGeom>
            <a:solidFill>
              <a:srgbClr val="1A3A5C">
                <a:alpha val="7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5365" y="4858702"/>
              <a:ext cx="31424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阶段特征:把 ERP 用深、用透,覆盖更多业务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48400" y="2819400"/>
            <a:ext cx="5334000" cy="2495550"/>
            <a:chOff x="6248400" y="2819400"/>
            <a:chExt cx="5334000" cy="2495550"/>
          </a:xfrm>
        </p:grpSpPr>
        <p:sp>
          <p:nvSpPr>
            <p:cNvPr id="40" name="Rectangle 40"/>
            <p:cNvSpPr/>
            <p:nvPr/>
          </p:nvSpPr>
          <p:spPr>
            <a:xfrm>
              <a:off x="6248400" y="2819400"/>
              <a:ext cx="5334000" cy="2495550"/>
            </a:xfrm>
            <a:prstGeom prst="roundRect">
              <a:avLst>
                <a:gd name="adj" fmla="val 3817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81940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105150"/>
              <a:ext cx="5334000" cy="19050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59855" y="2978468"/>
              <a:ext cx="41644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2017 – 2023 · ERP 减负,业务向专业系统剥离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6050" y="36385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72262" y="3602831"/>
              <a:ext cx="35611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ERP 减负:发票识别、付款平台、费用与资产系统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96050" y="400050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2262" y="3964781"/>
              <a:ext cx="2747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接口中心统一集成,周边系统逐个剥离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96050" y="43624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2262" y="4326731"/>
              <a:ext cx="3569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自动化、智能化增强:核对核算、智能预测与选址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4724400"/>
              <a:ext cx="4876800" cy="400050"/>
            </a:xfrm>
            <a:prstGeom prst="roundRect">
              <a:avLst>
                <a:gd name="adj" fmla="val 14286"/>
              </a:avLst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4165" y="4858702"/>
              <a:ext cx="34161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阶段特征:ERP 回归后台核心,业务向中前台剥离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" y="5505450"/>
            <a:ext cx="10972800" cy="628650"/>
            <a:chOff x="609600" y="5505450"/>
            <a:chExt cx="10972800" cy="628650"/>
          </a:xfrm>
        </p:grpSpPr>
        <p:sp>
          <p:nvSpPr>
            <p:cNvPr id="53" name="Rectangle 53"/>
            <p:cNvSpPr/>
            <p:nvPr/>
          </p:nvSpPr>
          <p:spPr>
            <a:xfrm>
              <a:off x="609600" y="5505450"/>
              <a:ext cx="10972800" cy="6286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76300" y="56959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66675" y="0"/>
                  </a:moveTo>
                  <a:lnTo>
                    <a:pt x="200025" y="0"/>
                  </a:lnTo>
                  <a:lnTo>
                    <a:pt x="200025" y="33338"/>
                  </a:lnTo>
                  <a:lnTo>
                    <a:pt x="266700" y="33338"/>
                  </a:lnTo>
                  <a:lnTo>
                    <a:pt x="266700" y="66675"/>
                  </a:lnTo>
                  <a:cubicBezTo>
                    <a:pt x="266700" y="107620"/>
                    <a:pt x="237173" y="141669"/>
                    <a:pt x="198251" y="148692"/>
                  </a:cubicBezTo>
                  <a:cubicBezTo>
                    <a:pt x="192586" y="172750"/>
                    <a:pt x="173888" y="191781"/>
                    <a:pt x="150019" y="197925"/>
                  </a:cubicBezTo>
                  <a:lnTo>
                    <a:pt x="150019" y="233362"/>
                  </a:lnTo>
                  <a:lnTo>
                    <a:pt x="200025" y="233362"/>
                  </a:lnTo>
                  <a:lnTo>
                    <a:pt x="200025" y="266700"/>
                  </a:lnTo>
                  <a:lnTo>
                    <a:pt x="66675" y="266700"/>
                  </a:lnTo>
                  <a:lnTo>
                    <a:pt x="66675" y="233362"/>
                  </a:lnTo>
                  <a:lnTo>
                    <a:pt x="116681" y="233362"/>
                  </a:lnTo>
                  <a:lnTo>
                    <a:pt x="116681" y="197925"/>
                  </a:lnTo>
                  <a:cubicBezTo>
                    <a:pt x="92811" y="191781"/>
                    <a:pt x="74114" y="172750"/>
                    <a:pt x="68449" y="148692"/>
                  </a:cubicBezTo>
                  <a:cubicBezTo>
                    <a:pt x="29526" y="141669"/>
                    <a:pt x="0" y="107620"/>
                    <a:pt x="0" y="66675"/>
                  </a:cubicBezTo>
                  <a:lnTo>
                    <a:pt x="0" y="33338"/>
                  </a:lnTo>
                  <a:lnTo>
                    <a:pt x="66675" y="33338"/>
                  </a:lnTo>
                  <a:lnTo>
                    <a:pt x="66675" y="0"/>
                  </a:lnTo>
                  <a:close/>
                  <a:moveTo>
                    <a:pt x="200025" y="113836"/>
                  </a:moveTo>
                  <a:lnTo>
                    <a:pt x="200025" y="66675"/>
                  </a:lnTo>
                  <a:lnTo>
                    <a:pt x="233362" y="66675"/>
                  </a:lnTo>
                  <a:cubicBezTo>
                    <a:pt x="233362" y="88448"/>
                    <a:pt x="219447" y="106971"/>
                    <a:pt x="200025" y="113836"/>
                  </a:cubicBezTo>
                  <a:close/>
                  <a:moveTo>
                    <a:pt x="66675" y="66675"/>
                  </a:moveTo>
                  <a:lnTo>
                    <a:pt x="33338" y="66675"/>
                  </a:lnTo>
                  <a:cubicBezTo>
                    <a:pt x="33338" y="88448"/>
                    <a:pt x="47253" y="106971"/>
                    <a:pt x="66675" y="113836"/>
                  </a:cubicBezTo>
                  <a:lnTo>
                    <a:pt x="66675" y="66675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61110" y="5747385"/>
              <a:ext cx="81187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 xml:space="preserve">对星巴克的启示:carve-out 不是一次性事件,是 </a:t>
              </a:r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长期演进的起点</a:t>
              </a:r>
              <a:r>
                <a:rPr lang="zh-CN" sz="1200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 xml:space="preserve"> —— 先把核心拆对,再逐步给 ERP 减负。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57" name="TextBox 57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30863" y="6521291"/>
              <a:ext cx="12620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39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9304306" cy="590550"/>
            <a:chOff x="581025" y="309562"/>
            <a:chExt cx="9304306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930430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行业规律 · ERP 定位演进 —— 「后台核心回归、中前台剥离」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24726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给 EBS「三位一体」减负的行业方向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688551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餐饮零售头部的共同路径: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ERP 回归后台核心,业务能力向中前台专业系统剥离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657350"/>
            <a:ext cx="4762500" cy="3524250"/>
            <a:chOff x="609600" y="1657350"/>
            <a:chExt cx="4762500" cy="3524250"/>
          </a:xfrm>
        </p:grpSpPr>
        <p:sp>
          <p:nvSpPr>
            <p:cNvPr id="12" name="Rectangle 12"/>
            <p:cNvSpPr/>
            <p:nvPr/>
          </p:nvSpPr>
          <p:spPr>
            <a:xfrm>
              <a:off x="609600" y="1657350"/>
              <a:ext cx="4762500" cy="3524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9050">
              <a:solidFill>
                <a:srgbClr val="B0392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657350"/>
              <a:ext cx="4762500" cy="476250"/>
            </a:xfrm>
            <a:prstGeom prst="roundRect">
              <a:avLst>
                <a:gd name="adj" fmla="val 20000"/>
              </a:avLst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1943100"/>
              <a:ext cx="4762500" cy="190500"/>
            </a:xfrm>
            <a:prstGeom prst="rect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19150" y="177165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139303" y="247650"/>
                  </a:moveTo>
                  <a:lnTo>
                    <a:pt x="108347" y="247650"/>
                  </a:lnTo>
                  <a:lnTo>
                    <a:pt x="0" y="139303"/>
                  </a:lnTo>
                  <a:lnTo>
                    <a:pt x="0" y="108347"/>
                  </a:lnTo>
                  <a:lnTo>
                    <a:pt x="108347" y="0"/>
                  </a:lnTo>
                  <a:lnTo>
                    <a:pt x="139303" y="0"/>
                  </a:lnTo>
                  <a:lnTo>
                    <a:pt x="247650" y="108347"/>
                  </a:lnTo>
                  <a:lnTo>
                    <a:pt x="247650" y="139303"/>
                  </a:lnTo>
                  <a:lnTo>
                    <a:pt x="139303" y="247650"/>
                  </a:lnTo>
                  <a:close/>
                  <a:moveTo>
                    <a:pt x="108347" y="46434"/>
                  </a:moveTo>
                  <a:lnTo>
                    <a:pt x="108347" y="139303"/>
                  </a:lnTo>
                  <a:lnTo>
                    <a:pt x="139303" y="139303"/>
                  </a:lnTo>
                  <a:lnTo>
                    <a:pt x="139303" y="46434"/>
                  </a:lnTo>
                  <a:lnTo>
                    <a:pt x="108347" y="46434"/>
                  </a:lnTo>
                  <a:close/>
                  <a:moveTo>
                    <a:pt x="108347" y="170259"/>
                  </a:moveTo>
                  <a:lnTo>
                    <a:pt x="108347" y="201216"/>
                  </a:lnTo>
                  <a:lnTo>
                    <a:pt x="139303" y="201216"/>
                  </a:lnTo>
                  <a:lnTo>
                    <a:pt x="139303" y="170259"/>
                  </a:lnTo>
                  <a:lnTo>
                    <a:pt x="108347" y="170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63002" y="1817846"/>
              <a:ext cx="180626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现状 · 过载的 ERP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960" y="2366010"/>
              <a:ext cx="20455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EBS 一个系统背了四件事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57250" y="2800350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462" y="2764631"/>
              <a:ext cx="21152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财务核心 —— 法定账套与核算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57250" y="3162300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3462" y="3126581"/>
              <a:ext cx="2345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集成枢纽 —— 33 条接口全靠它串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57250" y="3524250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3462" y="3488531"/>
              <a:ext cx="2107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主数据中心 —— HUB 分发源头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57250" y="3886200"/>
              <a:ext cx="76200" cy="76200"/>
            </a:xfrm>
            <a:prstGeom prst="ellipse">
              <a:avLst/>
            </a:prstGeom>
            <a:solidFill>
              <a:srgbClr val="B039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3462" y="3850481"/>
              <a:ext cx="26985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塞满业务流程 —— 费用、资产、对账…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8200" y="4248150"/>
              <a:ext cx="4305300" cy="723900"/>
            </a:xfrm>
            <a:prstGeom prst="roundRect">
              <a:avLst>
                <a:gd name="adj" fmla="val 7895"/>
              </a:avLst>
            </a:prstGeom>
            <a:solidFill>
              <a:srgbClr val="B0392E">
                <a:alpha val="8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44396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结果:臃肿、难拆、难升级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5368" y="4676299"/>
              <a:ext cx="22319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每一次动 ERP,都牵动整张蜘蛛网。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00700" y="2923699"/>
            <a:ext cx="457200" cy="724376"/>
            <a:chOff x="5600700" y="2923699"/>
            <a:chExt cx="457200" cy="724376"/>
          </a:xfrm>
        </p:grpSpPr>
        <p:sp>
          <p:nvSpPr>
            <p:cNvPr id="30" name="Polygon 30"/>
            <p:cNvSpPr/>
            <p:nvPr/>
          </p:nvSpPr>
          <p:spPr>
            <a:xfrm>
              <a:off x="5600700" y="31908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57200" y="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67399" y="29236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减负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657350"/>
            <a:ext cx="5295900" cy="3524250"/>
            <a:chOff x="6286500" y="1657350"/>
            <a:chExt cx="5295900" cy="3524250"/>
          </a:xfrm>
        </p:grpSpPr>
        <p:sp>
          <p:nvSpPr>
            <p:cNvPr id="33" name="Rectangle 33"/>
            <p:cNvSpPr/>
            <p:nvPr/>
          </p:nvSpPr>
          <p:spPr>
            <a:xfrm>
              <a:off x="6286500" y="1657350"/>
              <a:ext cx="5295900" cy="3524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9050">
              <a:solidFill>
                <a:srgbClr val="1E6B4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1657350"/>
              <a:ext cx="5295900" cy="476250"/>
            </a:xfrm>
            <a:prstGeom prst="roundRect">
              <a:avLst>
                <a:gd name="adj" fmla="val 2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86500" y="1943100"/>
              <a:ext cx="5295900" cy="19050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511528" y="1771650"/>
              <a:ext cx="216694" cy="247650"/>
            </a:xfrm>
            <a:custGeom>
              <a:avLst/>
              <a:gdLst/>
              <a:ahLst/>
              <a:cxnLst/>
              <a:rect l="l" t="t" r="r" b="b"/>
              <a:pathLst>
                <a:path w="216694" h="247650">
                  <a:moveTo>
                    <a:pt x="108347" y="247650"/>
                  </a:moveTo>
                  <a:lnTo>
                    <a:pt x="51853" y="207297"/>
                  </a:lnTo>
                  <a:cubicBezTo>
                    <a:pt x="19313" y="184053"/>
                    <a:pt x="0" y="146526"/>
                    <a:pt x="0" y="106537"/>
                  </a:cubicBezTo>
                  <a:lnTo>
                    <a:pt x="0" y="46434"/>
                  </a:lnTo>
                  <a:lnTo>
                    <a:pt x="108347" y="0"/>
                  </a:lnTo>
                  <a:lnTo>
                    <a:pt x="216694" y="46434"/>
                  </a:lnTo>
                  <a:lnTo>
                    <a:pt x="216694" y="106537"/>
                  </a:lnTo>
                  <a:cubicBezTo>
                    <a:pt x="216694" y="146526"/>
                    <a:pt x="197382" y="184053"/>
                    <a:pt x="164840" y="207297"/>
                  </a:cubicBezTo>
                  <a:lnTo>
                    <a:pt x="108347" y="247650"/>
                  </a:lnTo>
                  <a:close/>
                  <a:moveTo>
                    <a:pt x="173465" y="88335"/>
                  </a:moveTo>
                  <a:lnTo>
                    <a:pt x="151576" y="66446"/>
                  </a:lnTo>
                  <a:lnTo>
                    <a:pt x="92869" y="125153"/>
                  </a:lnTo>
                  <a:lnTo>
                    <a:pt x="65118" y="97402"/>
                  </a:lnTo>
                  <a:lnTo>
                    <a:pt x="43229" y="119292"/>
                  </a:lnTo>
                  <a:lnTo>
                    <a:pt x="92869" y="168931"/>
                  </a:lnTo>
                  <a:lnTo>
                    <a:pt x="173465" y="883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39902" y="1817846"/>
              <a:ext cx="20247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 · 减负后的 ERP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99860" y="2366010"/>
              <a:ext cx="23307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ERP 专注后台核心,其余剥离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34150" y="28003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0362" y="2764631"/>
              <a:ext cx="3355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 xml:space="preserve">后台核心:财务总账、核心主数据 —— </a:t>
              </a:r>
              <a:r>
                <a:rPr lang="zh-CN" sz="1125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物理拆分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34150" y="316230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10362" y="3126581"/>
              <a:ext cx="3076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业务能力:预测、计划、费用、资产、对账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34150" y="352425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10362" y="3488531"/>
              <a:ext cx="2747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 xml:space="preserve">→ 剥离到中前台专业系统 —— </a:t>
              </a:r>
              <a:r>
                <a:rPr lang="zh-CN" sz="112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逻辑迁移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34150" y="3886200"/>
              <a:ext cx="76200" cy="762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10362" y="3850481"/>
              <a:ext cx="2747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接口中心统一集成,替代点对点蜘蛛网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515100" y="4248150"/>
              <a:ext cx="4838700" cy="723900"/>
            </a:xfrm>
            <a:prstGeom prst="roundRect">
              <a:avLst>
                <a:gd name="adj" fmla="val 7895"/>
              </a:avLst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11315" y="4439602"/>
              <a:ext cx="2691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结果:核心更稳、周边更活、升级更轻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2268" y="4676299"/>
              <a:ext cx="28015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ERP 不再是单点风险,而是干净的后台底座。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9600" y="5353050"/>
            <a:ext cx="10972800" cy="533400"/>
            <a:chOff x="609600" y="5353050"/>
            <a:chExt cx="10972800" cy="533400"/>
          </a:xfrm>
        </p:grpSpPr>
        <p:sp>
          <p:nvSpPr>
            <p:cNvPr id="51" name="Rectangle 51"/>
            <p:cNvSpPr/>
            <p:nvPr/>
          </p:nvSpPr>
          <p:spPr>
            <a:xfrm>
              <a:off x="609600" y="5353050"/>
              <a:ext cx="10972800" cy="53340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91778" y="5520928"/>
              <a:ext cx="216693" cy="216694"/>
              <a:chOff x="891778" y="5520928"/>
              <a:chExt cx="216693" cy="21669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91778" y="552092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30956"/>
                    </a:moveTo>
                    <a:cubicBezTo>
                      <a:pt x="61912" y="48053"/>
                      <a:pt x="48053" y="61912"/>
                      <a:pt x="30956" y="61912"/>
                    </a:cubicBezTo>
                    <a:cubicBezTo>
                      <a:pt x="13860" y="61912"/>
                      <a:pt x="0" y="48053"/>
                      <a:pt x="0" y="30956"/>
                    </a:cubicBez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46559" y="567570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30956"/>
                    </a:moveTo>
                    <a:cubicBezTo>
                      <a:pt x="61912" y="48053"/>
                      <a:pt x="48053" y="61912"/>
                      <a:pt x="30956" y="61912"/>
                    </a:cubicBezTo>
                    <a:cubicBezTo>
                      <a:pt x="13859" y="61912"/>
                      <a:pt x="0" y="48053"/>
                      <a:pt x="0" y="30956"/>
                    </a:cubicBezTo>
                    <a:cubicBezTo>
                      <a:pt x="0" y="13859"/>
                      <a:pt x="13859" y="0"/>
                      <a:pt x="30956" y="0"/>
                    </a:cubicBezTo>
                    <a:cubicBezTo>
                      <a:pt x="48053" y="0"/>
                      <a:pt x="61912" y="13859"/>
                      <a:pt x="61912" y="309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07256" y="5520928"/>
                <a:ext cx="185738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16694">
                    <a:moveTo>
                      <a:pt x="108347" y="54173"/>
                    </a:moveTo>
                    <a:cubicBezTo>
                      <a:pt x="108347" y="41351"/>
                      <a:pt x="118742" y="30956"/>
                      <a:pt x="131564" y="30956"/>
                    </a:cubicBezTo>
                    <a:cubicBezTo>
                      <a:pt x="144386" y="30956"/>
                      <a:pt x="154781" y="41351"/>
                      <a:pt x="154781" y="54173"/>
                    </a:cubicBezTo>
                    <a:lnTo>
                      <a:pt x="154781" y="123825"/>
                    </a:lnTo>
                    <a:lnTo>
                      <a:pt x="185738" y="123825"/>
                    </a:lnTo>
                    <a:lnTo>
                      <a:pt x="185738" y="54173"/>
                    </a:lnTo>
                    <a:cubicBezTo>
                      <a:pt x="185738" y="24254"/>
                      <a:pt x="161483" y="0"/>
                      <a:pt x="131564" y="0"/>
                    </a:cubicBezTo>
                    <a:cubicBezTo>
                      <a:pt x="101645" y="0"/>
                      <a:pt x="77391" y="24254"/>
                      <a:pt x="77391" y="54173"/>
                    </a:cubicBezTo>
                    <a:lnTo>
                      <a:pt x="77391" y="162520"/>
                    </a:lnTo>
                    <a:cubicBezTo>
                      <a:pt x="77391" y="175342"/>
                      <a:pt x="66996" y="185738"/>
                      <a:pt x="54173" y="185738"/>
                    </a:cubicBezTo>
                    <a:cubicBezTo>
                      <a:pt x="41351" y="185738"/>
                      <a:pt x="30956" y="175342"/>
                      <a:pt x="30956" y="162520"/>
                    </a:cubicBezTo>
                    <a:lnTo>
                      <a:pt x="30956" y="92869"/>
                    </a:lnTo>
                    <a:lnTo>
                      <a:pt x="0" y="92869"/>
                    </a:lnTo>
                    <a:lnTo>
                      <a:pt x="0" y="162520"/>
                    </a:lnTo>
                    <a:cubicBezTo>
                      <a:pt x="0" y="192440"/>
                      <a:pt x="24254" y="216694"/>
                      <a:pt x="54173" y="216694"/>
                    </a:cubicBezTo>
                    <a:cubicBezTo>
                      <a:pt x="84093" y="216694"/>
                      <a:pt x="108347" y="192440"/>
                      <a:pt x="108347" y="162520"/>
                    </a:cubicBezTo>
                    <a:lnTo>
                      <a:pt x="108347" y="541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61110" y="5547360"/>
              <a:ext cx="63332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这正是星巴克解耦路线图的方法论根基 —— 物理拆分留核心,逻辑迁移走周边。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58" name="TextBox 58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2" grpId="0"/>
      <p:bldP spid="50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7717107" cy="590550"/>
            <a:chOff x="581025" y="309562"/>
            <a:chExt cx="7717107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771710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门店侧参照 · BOH 与 ERP 的分工 —— 门店不背 ERP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45275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餐饮零售的成熟做法,可直接参照到星巴克 NGBOH 与新 ERP 的边界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60252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门店操作全部在 BOH 完成,ERP 退到后台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门店侧切换时几乎无感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1657350"/>
            <a:ext cx="3505200" cy="3028950"/>
            <a:chOff x="609600" y="1657350"/>
            <a:chExt cx="3505200" cy="3028950"/>
          </a:xfrm>
        </p:grpSpPr>
        <p:sp>
          <p:nvSpPr>
            <p:cNvPr id="12" name="Rectangle 12"/>
            <p:cNvSpPr/>
            <p:nvPr/>
          </p:nvSpPr>
          <p:spPr>
            <a:xfrm>
              <a:off x="609600" y="1657350"/>
              <a:ext cx="3505200" cy="3028950"/>
            </a:xfrm>
            <a:prstGeom prst="roundRect">
              <a:avLst>
                <a:gd name="adj" fmla="val 3145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6573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19162" y="1962150"/>
              <a:ext cx="257175" cy="342900"/>
              <a:chOff x="919162" y="1962150"/>
              <a:chExt cx="257175" cy="342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919162" y="2099310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238682" y="10934"/>
                    </a:moveTo>
                    <a:cubicBezTo>
                      <a:pt x="244711" y="7919"/>
                      <a:pt x="251009" y="4282"/>
                      <a:pt x="257175" y="0"/>
                    </a:cubicBezTo>
                    <a:lnTo>
                      <a:pt x="257175" y="34290"/>
                    </a:lnTo>
                    <a:cubicBezTo>
                      <a:pt x="257175" y="69798"/>
                      <a:pt x="199604" y="98584"/>
                      <a:pt x="128588" y="98584"/>
                    </a:cubicBezTo>
                    <a:cubicBezTo>
                      <a:pt x="57571" y="98584"/>
                      <a:pt x="0" y="69798"/>
                      <a:pt x="0" y="34290"/>
                    </a:cubicBezTo>
                    <a:lnTo>
                      <a:pt x="0" y="0"/>
                    </a:lnTo>
                    <a:cubicBezTo>
                      <a:pt x="6166" y="4282"/>
                      <a:pt x="12464" y="7919"/>
                      <a:pt x="18494" y="10934"/>
                    </a:cubicBezTo>
                    <a:cubicBezTo>
                      <a:pt x="48884" y="26129"/>
                      <a:pt x="87868" y="34290"/>
                      <a:pt x="128588" y="34290"/>
                    </a:cubicBezTo>
                    <a:cubicBezTo>
                      <a:pt x="169307" y="34290"/>
                      <a:pt x="208290" y="26129"/>
                      <a:pt x="238682" y="10934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19162" y="2206466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0" y="0"/>
                    </a:moveTo>
                    <a:lnTo>
                      <a:pt x="0" y="34290"/>
                    </a:lnTo>
                    <a:cubicBezTo>
                      <a:pt x="0" y="69799"/>
                      <a:pt x="57571" y="98584"/>
                      <a:pt x="128588" y="98584"/>
                    </a:cubicBezTo>
                    <a:cubicBezTo>
                      <a:pt x="199604" y="98584"/>
                      <a:pt x="257175" y="69799"/>
                      <a:pt x="257175" y="34290"/>
                    </a:cubicBezTo>
                    <a:lnTo>
                      <a:pt x="257175" y="0"/>
                    </a:lnTo>
                    <a:cubicBezTo>
                      <a:pt x="251009" y="4282"/>
                      <a:pt x="244711" y="7919"/>
                      <a:pt x="238682" y="10934"/>
                    </a:cubicBezTo>
                    <a:cubicBezTo>
                      <a:pt x="208290" y="26129"/>
                      <a:pt x="169307" y="34290"/>
                      <a:pt x="128588" y="34290"/>
                    </a:cubicBezTo>
                    <a:cubicBezTo>
                      <a:pt x="87868" y="34290"/>
                      <a:pt x="48884" y="26129"/>
                      <a:pt x="18494" y="10934"/>
                    </a:cubicBezTo>
                    <a:cubicBezTo>
                      <a:pt x="12464" y="7919"/>
                      <a:pt x="6166" y="4282"/>
                      <a:pt x="0" y="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19162" y="1962150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128588" y="0"/>
                    </a:moveTo>
                    <a:cubicBezTo>
                      <a:pt x="199604" y="0"/>
                      <a:pt x="257175" y="28785"/>
                      <a:pt x="257175" y="64294"/>
                    </a:cubicBezTo>
                    <a:cubicBezTo>
                      <a:pt x="257175" y="99802"/>
                      <a:pt x="199604" y="128588"/>
                      <a:pt x="128588" y="128588"/>
                    </a:cubicBezTo>
                    <a:cubicBezTo>
                      <a:pt x="57571" y="128588"/>
                      <a:pt x="0" y="99802"/>
                      <a:pt x="0" y="64294"/>
                    </a:cubicBezTo>
                    <a:cubicBezTo>
                      <a:pt x="0" y="28785"/>
                      <a:pt x="57571" y="0"/>
                      <a:pt x="128588" y="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57250" y="2543175"/>
              <a:ext cx="145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门店只用 BOH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012" y="2888456"/>
              <a:ext cx="2246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门店不直连 ERP,要货、收货、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2012" y="31361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盘点、日结全部在 BOH 完成,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2012" y="3383756"/>
              <a:ext cx="1663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操作下沉、ERP 减负。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" y="3962400"/>
              <a:ext cx="2971800" cy="495300"/>
            </a:xfrm>
            <a:prstGeom prst="roundRect">
              <a:avLst>
                <a:gd name="adj" fmla="val 11538"/>
              </a:avLst>
            </a:prstGeom>
            <a:solidFill>
              <a:srgbClr val="1A3A5C">
                <a:alpha val="7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3465" y="4153852"/>
              <a:ext cx="17173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切换 ERP,门店界面不变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43400" y="1657350"/>
            <a:ext cx="3505200" cy="3028950"/>
            <a:chOff x="4343400" y="1657350"/>
            <a:chExt cx="3505200" cy="3028950"/>
          </a:xfrm>
        </p:grpSpPr>
        <p:sp>
          <p:nvSpPr>
            <p:cNvPr id="25" name="Rectangle 25"/>
            <p:cNvSpPr/>
            <p:nvPr/>
          </p:nvSpPr>
          <p:spPr>
            <a:xfrm>
              <a:off x="4343400" y="1657350"/>
              <a:ext cx="3505200" cy="3028950"/>
            </a:xfrm>
            <a:prstGeom prst="roundRect">
              <a:avLst>
                <a:gd name="adj" fmla="val 3145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43400" y="16573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610100" y="2026444"/>
              <a:ext cx="342900" cy="214312"/>
            </a:xfrm>
            <a:custGeom>
              <a:avLst/>
              <a:gdLst/>
              <a:ahLst/>
              <a:cxnLst/>
              <a:rect l="l" t="t" r="r" b="b"/>
              <a:pathLst>
                <a:path w="342900" h="214312">
                  <a:moveTo>
                    <a:pt x="128588" y="128588"/>
                  </a:moveTo>
                  <a:lnTo>
                    <a:pt x="128588" y="214312"/>
                  </a:lnTo>
                  <a:lnTo>
                    <a:pt x="107156" y="214312"/>
                  </a:lnTo>
                  <a:lnTo>
                    <a:pt x="0" y="107156"/>
                  </a:lnTo>
                  <a:lnTo>
                    <a:pt x="107156" y="0"/>
                  </a:lnTo>
                  <a:lnTo>
                    <a:pt x="128588" y="0"/>
                  </a:lnTo>
                  <a:lnTo>
                    <a:pt x="128588" y="85725"/>
                  </a:lnTo>
                  <a:lnTo>
                    <a:pt x="214313" y="85725"/>
                  </a:lnTo>
                  <a:lnTo>
                    <a:pt x="214313" y="0"/>
                  </a:lnTo>
                  <a:lnTo>
                    <a:pt x="235744" y="0"/>
                  </a:lnTo>
                  <a:lnTo>
                    <a:pt x="342900" y="107156"/>
                  </a:lnTo>
                  <a:lnTo>
                    <a:pt x="235744" y="214312"/>
                  </a:lnTo>
                  <a:lnTo>
                    <a:pt x="214313" y="214312"/>
                  </a:lnTo>
                  <a:lnTo>
                    <a:pt x="214313" y="128588"/>
                  </a:lnTo>
                  <a:lnTo>
                    <a:pt x="128588" y="128588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91050" y="2543175"/>
              <a:ext cx="20968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BOH ↔ ERP 实时接口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95812" y="2888456"/>
              <a:ext cx="2419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要货、配送、收货差异实时同步,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5812" y="3136106"/>
              <a:ext cx="2090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超时单据自动收货,门店差异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5812" y="33837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系统自动处理。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610100" y="3962400"/>
              <a:ext cx="2971800" cy="495300"/>
            </a:xfrm>
            <a:prstGeom prst="roundRect">
              <a:avLst>
                <a:gd name="adj" fmla="val 11538"/>
              </a:avLst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87265" y="4153852"/>
              <a:ext cx="15644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日清日结,不拖累月结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77200" y="1657350"/>
            <a:ext cx="3505200" cy="3028950"/>
            <a:chOff x="8077200" y="1657350"/>
            <a:chExt cx="3505200" cy="3028950"/>
          </a:xfrm>
        </p:grpSpPr>
        <p:sp>
          <p:nvSpPr>
            <p:cNvPr id="35" name="Rectangle 35"/>
            <p:cNvSpPr/>
            <p:nvPr/>
          </p:nvSpPr>
          <p:spPr>
            <a:xfrm>
              <a:off x="8077200" y="1657350"/>
              <a:ext cx="3505200" cy="3028950"/>
            </a:xfrm>
            <a:prstGeom prst="roundRect">
              <a:avLst>
                <a:gd name="adj" fmla="val 3145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77200" y="16573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365331" y="1983581"/>
              <a:ext cx="300038" cy="300038"/>
            </a:xfrm>
            <a:custGeom>
              <a:avLst/>
              <a:gdLst/>
              <a:ahLst/>
              <a:cxnLst/>
              <a:rect l="l" t="t" r="r" b="b"/>
              <a:pathLst>
                <a:path w="300038" h="300038">
                  <a:moveTo>
                    <a:pt x="0" y="64294"/>
                  </a:moveTo>
                  <a:cubicBezTo>
                    <a:pt x="0" y="28785"/>
                    <a:pt x="28785" y="0"/>
                    <a:pt x="64294" y="0"/>
                  </a:cubicBezTo>
                  <a:lnTo>
                    <a:pt x="300038" y="0"/>
                  </a:lnTo>
                  <a:lnTo>
                    <a:pt x="300038" y="42862"/>
                  </a:lnTo>
                  <a:lnTo>
                    <a:pt x="64294" y="42862"/>
                  </a:lnTo>
                  <a:lnTo>
                    <a:pt x="64294" y="85725"/>
                  </a:lnTo>
                  <a:lnTo>
                    <a:pt x="300038" y="85725"/>
                  </a:lnTo>
                  <a:lnTo>
                    <a:pt x="300038" y="300038"/>
                  </a:lnTo>
                  <a:lnTo>
                    <a:pt x="64294" y="300038"/>
                  </a:lnTo>
                  <a:cubicBezTo>
                    <a:pt x="28785" y="300038"/>
                    <a:pt x="0" y="271253"/>
                    <a:pt x="0" y="235744"/>
                  </a:cubicBezTo>
                  <a:lnTo>
                    <a:pt x="0" y="64294"/>
                  </a:lnTo>
                  <a:close/>
                  <a:moveTo>
                    <a:pt x="235744" y="214312"/>
                  </a:moveTo>
                  <a:cubicBezTo>
                    <a:pt x="247580" y="214312"/>
                    <a:pt x="257175" y="204718"/>
                    <a:pt x="257175" y="192881"/>
                  </a:cubicBezTo>
                  <a:cubicBezTo>
                    <a:pt x="257175" y="181045"/>
                    <a:pt x="247580" y="171450"/>
                    <a:pt x="235744" y="171450"/>
                  </a:cubicBezTo>
                  <a:cubicBezTo>
                    <a:pt x="223907" y="171450"/>
                    <a:pt x="214312" y="181045"/>
                    <a:pt x="214312" y="192881"/>
                  </a:cubicBezTo>
                  <a:cubicBezTo>
                    <a:pt x="214312" y="204718"/>
                    <a:pt x="223907" y="214312"/>
                    <a:pt x="235744" y="214312"/>
                  </a:cubicBez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24850" y="25431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门店日利润表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9612" y="2888456"/>
              <a:ext cx="2254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按门店、按天的收入成本利润,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9612" y="3136106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成本核算精细到品项,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9612" y="33837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店长可经营、可决策。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43900" y="3962400"/>
              <a:ext cx="2971800" cy="495300"/>
            </a:xfrm>
            <a:prstGeom prst="roundRect">
              <a:avLst>
                <a:gd name="adj" fmla="val 11538"/>
              </a:avLst>
            </a:prstGeom>
            <a:solidFill>
              <a:srgbClr val="C8862E">
                <a:alpha val="12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21065" y="415385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6A22"/>
                  </a:solidFill>
                  <a:latin typeface="Arial"/>
                  <a:ea typeface="Microsoft YaHei"/>
                  <a:cs typeface="Arial"/>
                </a:rPr>
                <a:t>管理颗粒度从「月」到「日」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4876800"/>
            <a:ext cx="10972800" cy="1009650"/>
            <a:chOff x="609600" y="4876800"/>
            <a:chExt cx="10972800" cy="1009650"/>
          </a:xfrm>
        </p:grpSpPr>
        <p:sp>
          <p:nvSpPr>
            <p:cNvPr id="45" name="Rectangle 45"/>
            <p:cNvSpPr/>
            <p:nvPr/>
          </p:nvSpPr>
          <p:spPr>
            <a:xfrm>
              <a:off x="609600" y="4876800"/>
              <a:ext cx="10972800" cy="1009650"/>
            </a:xfrm>
            <a:prstGeom prst="roundRect">
              <a:avLst>
                <a:gd name="adj" fmla="val 9434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76300" y="5179219"/>
              <a:ext cx="285750" cy="214312"/>
            </a:xfrm>
            <a:custGeom>
              <a:avLst/>
              <a:gdLst/>
              <a:ahLst/>
              <a:cxnLst/>
              <a:rect l="l" t="t" r="r" b="b"/>
              <a:pathLst>
                <a:path w="285750" h="214312">
                  <a:moveTo>
                    <a:pt x="0" y="107156"/>
                  </a:moveTo>
                  <a:lnTo>
                    <a:pt x="54997" y="41160"/>
                  </a:lnTo>
                  <a:cubicBezTo>
                    <a:pt x="76731" y="15079"/>
                    <a:pt x="108926" y="0"/>
                    <a:pt x="142875" y="0"/>
                  </a:cubicBezTo>
                  <a:cubicBezTo>
                    <a:pt x="176824" y="0"/>
                    <a:pt x="209019" y="15079"/>
                    <a:pt x="230754" y="41160"/>
                  </a:cubicBezTo>
                  <a:lnTo>
                    <a:pt x="285750" y="107156"/>
                  </a:lnTo>
                  <a:lnTo>
                    <a:pt x="230754" y="173152"/>
                  </a:lnTo>
                  <a:cubicBezTo>
                    <a:pt x="209019" y="199234"/>
                    <a:pt x="176824" y="214312"/>
                    <a:pt x="142875" y="214312"/>
                  </a:cubicBezTo>
                  <a:cubicBezTo>
                    <a:pt x="108926" y="214312"/>
                    <a:pt x="76731" y="199234"/>
                    <a:pt x="54997" y="173152"/>
                  </a:cubicBezTo>
                  <a:lnTo>
                    <a:pt x="0" y="107156"/>
                  </a:lnTo>
                  <a:close/>
                  <a:moveTo>
                    <a:pt x="142875" y="160734"/>
                  </a:moveTo>
                  <a:cubicBezTo>
                    <a:pt x="172465" y="160734"/>
                    <a:pt x="196453" y="136747"/>
                    <a:pt x="196453" y="107156"/>
                  </a:cubicBezTo>
                  <a:cubicBezTo>
                    <a:pt x="196453" y="77566"/>
                    <a:pt x="172465" y="53578"/>
                    <a:pt x="142875" y="53578"/>
                  </a:cubicBezTo>
                  <a:cubicBezTo>
                    <a:pt x="113285" y="53578"/>
                    <a:pt x="89297" y="77566"/>
                    <a:pt x="89297" y="107156"/>
                  </a:cubicBezTo>
                  <a:cubicBezTo>
                    <a:pt x="89297" y="136747"/>
                    <a:pt x="113285" y="160734"/>
                    <a:pt x="142875" y="160734"/>
                  </a:cubicBez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80160" y="51282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对星巴克的参照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81112" y="5422106"/>
              <a:ext cx="6116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星巴克 NGBOH 与新 ERP 的边界可直接套用这套成熟分工 —— 门店侧走「逻辑迁移」,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1112" y="5650706"/>
              <a:ext cx="36104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后端 ERP 切换时,门店业务连续性天然得到保护。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51" name="TextBox 51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34" grpId="0"/>
      <p:bldP spid="44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8976515" cy="590550"/>
            <a:chOff x="581025" y="309562"/>
            <a:chExt cx="8976515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897651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财务侧深化 · 数智化财务管理体系 —— 三项工作、五大能力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4941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凯捷财务数智化方法论,落到星巴克就是 Hyperion + Anaplan 的目标定位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60349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三项工作递进、五大能力支撑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财务从「记账」走向「经营大脑」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1676400"/>
            <a:ext cx="3505200" cy="2095500"/>
            <a:chOff x="609600" y="1676400"/>
            <a:chExt cx="35052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09600" y="16764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6764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81050" y="1905000"/>
              <a:ext cx="419100" cy="4191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2401" y="20450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5402" y="19226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财务会计数智化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1118" y="21997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把核算「可以做好的」全做好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965" y="2648902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核算自动化、标准化、流程化;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965" y="2877502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主数据治理,统一核算口径;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2965" y="31061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业财数据线上打通。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3333750"/>
              <a:ext cx="2971800" cy="304800"/>
            </a:xfrm>
            <a:prstGeom prst="roundRect">
              <a:avLst>
                <a:gd name="adj" fmla="val 18750"/>
              </a:avLst>
            </a:prstGeom>
            <a:solidFill>
              <a:srgbClr val="1A3A5C">
                <a:alpha val="7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6318" y="3428524"/>
              <a:ext cx="1303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基础:业财数据中心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43400" y="1676400"/>
            <a:ext cx="3505200" cy="2095500"/>
            <a:chOff x="4343400" y="1676400"/>
            <a:chExt cx="35052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4343400" y="16764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43400" y="16764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514850" y="1905000"/>
              <a:ext cx="419100" cy="419100"/>
            </a:xfrm>
            <a:prstGeom prst="ellipse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50323" y="20450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49202" y="19226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管理会计数智化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54918" y="21997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财务内部职能全面扩展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6765" y="264890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预算推演、成本费用精细化;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6765" y="2877502"/>
              <a:ext cx="1644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现金流预测、司库管理;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6765" y="31061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多维经营分析体系。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10100" y="3333750"/>
              <a:ext cx="2971800" cy="304800"/>
            </a:xfrm>
            <a:prstGeom prst="roundRect">
              <a:avLst>
                <a:gd name="adj" fmla="val 18750"/>
              </a:avLst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50118" y="3428524"/>
              <a:ext cx="1452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扩展:数智化驱动职能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77200" y="1676400"/>
            <a:ext cx="3505200" cy="2095500"/>
            <a:chOff x="8077200" y="1676400"/>
            <a:chExt cx="3505200" cy="2095500"/>
          </a:xfrm>
        </p:grpSpPr>
        <p:sp>
          <p:nvSpPr>
            <p:cNvPr id="36" name="Rectangle 36"/>
            <p:cNvSpPr/>
            <p:nvPr/>
          </p:nvSpPr>
          <p:spPr>
            <a:xfrm>
              <a:off x="8077200" y="16764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77200" y="16764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248650" y="1905000"/>
              <a:ext cx="419100" cy="419100"/>
            </a:xfrm>
            <a:prstGeom prst="ellipse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84123" y="20450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83002" y="19226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决策支持数智化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88718" y="2199799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突破财务领域,赋能经营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0565" y="264890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数据资产沉淀,多维透视分析;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0565" y="287750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打通业财链路,支持业务决策;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30565" y="31061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洞察机会、预警风险。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43900" y="3333750"/>
              <a:ext cx="2971800" cy="304800"/>
            </a:xfrm>
            <a:prstGeom prst="roundRect">
              <a:avLst>
                <a:gd name="adj" fmla="val 18750"/>
              </a:avLst>
            </a:prstGeom>
            <a:solidFill>
              <a:srgbClr val="C8862E">
                <a:alpha val="12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83918" y="3428524"/>
              <a:ext cx="1303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A6A22"/>
                  </a:solidFill>
                  <a:latin typeface="Arial"/>
                  <a:ea typeface="Microsoft YaHei"/>
                  <a:cs typeface="Arial"/>
                </a:rPr>
                <a:t>目标:企业经营大脑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94360" y="4042410"/>
            <a:ext cx="10988040" cy="1082040"/>
            <a:chOff x="594360" y="4042410"/>
            <a:chExt cx="10988040" cy="1082040"/>
          </a:xfrm>
        </p:grpSpPr>
        <p:sp>
          <p:nvSpPr>
            <p:cNvPr id="48" name="TextBox 48"/>
            <p:cNvSpPr txBox="1"/>
            <p:nvPr/>
          </p:nvSpPr>
          <p:spPr>
            <a:xfrm>
              <a:off x="594360" y="4042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五大能力支撑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4305300"/>
              <a:ext cx="2057400" cy="819150"/>
            </a:xfrm>
            <a:prstGeom prst="roundRect">
              <a:avLst>
                <a:gd name="adj" fmla="val 93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414129" y="45691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核算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6842" y="48477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标准化 · 自动化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819400" y="4305300"/>
              <a:ext cx="2057400" cy="819150"/>
            </a:xfrm>
            <a:prstGeom prst="roundRect">
              <a:avLst>
                <a:gd name="adj" fmla="val 93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23929" y="45691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预算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26642" y="48477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推演 · 全面预算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029200" y="4305300"/>
              <a:ext cx="2057400" cy="819150"/>
            </a:xfrm>
            <a:prstGeom prst="roundRect">
              <a:avLst>
                <a:gd name="adj" fmla="val 93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33729" y="45691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成本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89521" y="48477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精细化核算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239000" y="4305300"/>
              <a:ext cx="2057400" cy="819150"/>
            </a:xfrm>
            <a:prstGeom prst="roundRect">
              <a:avLst>
                <a:gd name="adj" fmla="val 93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43529" y="45691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资金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17441" y="4847749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现金流 · 司库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448800" y="4305300"/>
              <a:ext cx="2133600" cy="819150"/>
            </a:xfrm>
            <a:prstGeom prst="roundRect">
              <a:avLst>
                <a:gd name="adj" fmla="val 9302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291429" y="45691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风控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94142" y="48477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预警 · 合规管控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9600" y="5334000"/>
            <a:ext cx="10972800" cy="552450"/>
            <a:chOff x="609600" y="5334000"/>
            <a:chExt cx="10972800" cy="552450"/>
          </a:xfrm>
        </p:grpSpPr>
        <p:sp>
          <p:nvSpPr>
            <p:cNvPr id="65" name="Rectangle 65"/>
            <p:cNvSpPr/>
            <p:nvPr/>
          </p:nvSpPr>
          <p:spPr>
            <a:xfrm>
              <a:off x="609600" y="5334000"/>
              <a:ext cx="10972800" cy="55245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91778" y="5520928"/>
              <a:ext cx="216694" cy="216694"/>
            </a:xfrm>
            <a:custGeom>
              <a:avLst/>
              <a:gdLst/>
              <a:ahLst/>
              <a:cxnLst/>
              <a:rect l="l" t="t" r="r" b="b"/>
              <a:pathLst>
                <a:path w="216694" h="216694">
                  <a:moveTo>
                    <a:pt x="0" y="46434"/>
                  </a:moveTo>
                  <a:cubicBezTo>
                    <a:pt x="0" y="20789"/>
                    <a:pt x="20789" y="0"/>
                    <a:pt x="46434" y="0"/>
                  </a:cubicBezTo>
                  <a:lnTo>
                    <a:pt x="216694" y="0"/>
                  </a:lnTo>
                  <a:lnTo>
                    <a:pt x="216694" y="30956"/>
                  </a:lnTo>
                  <a:lnTo>
                    <a:pt x="46434" y="30956"/>
                  </a:lnTo>
                  <a:lnTo>
                    <a:pt x="46434" y="61912"/>
                  </a:lnTo>
                  <a:lnTo>
                    <a:pt x="216694" y="61912"/>
                  </a:lnTo>
                  <a:lnTo>
                    <a:pt x="216694" y="216694"/>
                  </a:lnTo>
                  <a:lnTo>
                    <a:pt x="46434" y="216694"/>
                  </a:lnTo>
                  <a:cubicBezTo>
                    <a:pt x="20789" y="216694"/>
                    <a:pt x="0" y="195905"/>
                    <a:pt x="0" y="170259"/>
                  </a:cubicBezTo>
                  <a:lnTo>
                    <a:pt x="0" y="46434"/>
                  </a:lnTo>
                  <a:close/>
                  <a:moveTo>
                    <a:pt x="170259" y="154781"/>
                  </a:moveTo>
                  <a:cubicBezTo>
                    <a:pt x="178808" y="154781"/>
                    <a:pt x="185738" y="147852"/>
                    <a:pt x="185738" y="139303"/>
                  </a:cubicBezTo>
                  <a:cubicBezTo>
                    <a:pt x="185738" y="130755"/>
                    <a:pt x="178808" y="123825"/>
                    <a:pt x="170259" y="123825"/>
                  </a:cubicBezTo>
                  <a:cubicBezTo>
                    <a:pt x="161711" y="123825"/>
                    <a:pt x="154781" y="130755"/>
                    <a:pt x="154781" y="139303"/>
                  </a:cubicBezTo>
                  <a:cubicBezTo>
                    <a:pt x="154781" y="147852"/>
                    <a:pt x="161711" y="154781"/>
                    <a:pt x="170259" y="1547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61110" y="5547360"/>
              <a:ext cx="76122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星巴克本次的 Hyperion + Anaplan 本地化,正是这套体系里「管理会计 + 决策支持」的落点。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69" name="TextBox 69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  <p:bldP spid="35" grpId="0"/>
      <p:bldP spid="47" grpId="0"/>
      <p:bldP spid="64" grpId="0"/>
      <p:bldP spid="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10063401" cy="590550"/>
            <a:chOff x="581025" y="309562"/>
            <a:chExt cx="10063401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100634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星巴克财务侧目标蓝图 —— 报表合并 + 全面预算 + 对账的统一平台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3791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把三个各自为政的财务系统,整合为统一入口、统一口径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56439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做减法、统一界面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呼应星巴克「消除割裂、避免厂商锁定」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657350"/>
            <a:ext cx="10972800" cy="742950"/>
            <a:chOff x="609600" y="1657350"/>
            <a:chExt cx="10972800" cy="742950"/>
          </a:xfrm>
        </p:grpSpPr>
        <p:sp>
          <p:nvSpPr>
            <p:cNvPr id="12" name="Rectangle 12"/>
            <p:cNvSpPr/>
            <p:nvPr/>
          </p:nvSpPr>
          <p:spPr>
            <a:xfrm>
              <a:off x="609600" y="1657350"/>
              <a:ext cx="10972800" cy="742950"/>
            </a:xfrm>
            <a:prstGeom prst="roundRect">
              <a:avLst>
                <a:gd name="adj" fmla="val 12821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98922" y="1847850"/>
              <a:ext cx="316706" cy="361950"/>
              <a:chOff x="898922" y="1847850"/>
              <a:chExt cx="316706" cy="3619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98922" y="1847850"/>
                <a:ext cx="316706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80975">
                    <a:moveTo>
                      <a:pt x="0" y="113109"/>
                    </a:moveTo>
                    <a:lnTo>
                      <a:pt x="0" y="67866"/>
                    </a:lnTo>
                    <a:lnTo>
                      <a:pt x="158353" y="0"/>
                    </a:lnTo>
                    <a:lnTo>
                      <a:pt x="316706" y="67866"/>
                    </a:lnTo>
                    <a:lnTo>
                      <a:pt x="316706" y="113109"/>
                    </a:lnTo>
                    <a:lnTo>
                      <a:pt x="158353" y="180975"/>
                    </a:lnTo>
                    <a:lnTo>
                      <a:pt x="0" y="113109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98922" y="2096691"/>
                <a:ext cx="316706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13109">
                    <a:moveTo>
                      <a:pt x="158353" y="113109"/>
                    </a:moveTo>
                    <a:lnTo>
                      <a:pt x="0" y="45244"/>
                    </a:lnTo>
                    <a:lnTo>
                      <a:pt x="0" y="0"/>
                    </a:lnTo>
                    <a:lnTo>
                      <a:pt x="158353" y="67866"/>
                    </a:lnTo>
                    <a:lnTo>
                      <a:pt x="316706" y="0"/>
                    </a:lnTo>
                    <a:lnTo>
                      <a:pt x="316706" y="45244"/>
                    </a:lnTo>
                    <a:lnTo>
                      <a:pt x="158353" y="113109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8922" y="2006203"/>
                <a:ext cx="316706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13109">
                    <a:moveTo>
                      <a:pt x="0" y="45244"/>
                    </a:moveTo>
                    <a:lnTo>
                      <a:pt x="158353" y="113109"/>
                    </a:lnTo>
                    <a:lnTo>
                      <a:pt x="316706" y="45244"/>
                    </a:lnTo>
                    <a:lnTo>
                      <a:pt x="316706" y="0"/>
                    </a:lnTo>
                    <a:lnTo>
                      <a:pt x="158353" y="67866"/>
                    </a:lnTo>
                    <a:lnTo>
                      <a:pt x="0" y="0"/>
                    </a:lnTo>
                    <a:lnTo>
                      <a:pt x="0" y="45244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71600" y="1819275"/>
              <a:ext cx="26029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统一财务平台 · 统一入口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7315" y="2115502"/>
              <a:ext cx="53249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一套界面、一致口径,消除「报表、预算、对账三个系统无统一入口」的割裂感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628900"/>
            <a:ext cx="3505200" cy="2095500"/>
            <a:chOff x="609600" y="2628900"/>
            <a:chExt cx="35052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609600" y="26289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262890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2914650"/>
              <a:ext cx="3505200" cy="17145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2008" y="27865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报表合并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84559" y="2827020"/>
              <a:ext cx="913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替代 Hyperion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269456"/>
              <a:ext cx="21764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建中国区本地独立 Instance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5633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合并报表、集团抵销、多准则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4865" y="379190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折算,脱离 Global 后独立出表。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" y="4152900"/>
              <a:ext cx="3048000" cy="381000"/>
            </a:xfrm>
            <a:prstGeom prst="roundRect">
              <a:avLst>
                <a:gd name="adj" fmla="val 15000"/>
              </a:avLst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8218" y="4285774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物理拆分 · 关键路径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343400" y="2628900"/>
            <a:ext cx="3505200" cy="2095500"/>
            <a:chOff x="4343400" y="2628900"/>
            <a:chExt cx="3505200" cy="2095500"/>
          </a:xfrm>
        </p:grpSpPr>
        <p:sp>
          <p:nvSpPr>
            <p:cNvPr id="31" name="Rectangle 31"/>
            <p:cNvSpPr/>
            <p:nvPr/>
          </p:nvSpPr>
          <p:spPr>
            <a:xfrm>
              <a:off x="4343400" y="26289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3400" y="262890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43400" y="2914650"/>
              <a:ext cx="3505200" cy="17145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55808" y="27865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全面预算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4268" y="2827020"/>
              <a:ext cx="837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Anaplan 承接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57712" y="3269456"/>
              <a:ext cx="18486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本地化承接,与后端打通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58665" y="356330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预算编制、推演、滚动预测,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58665" y="37919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与核算实际数闭环对比。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4152900"/>
              <a:ext cx="3048000" cy="381000"/>
            </a:xfrm>
            <a:prstGeom prst="roundRect">
              <a:avLst>
                <a:gd name="adj" fmla="val 15000"/>
              </a:avLst>
            </a:prstGeom>
            <a:solidFill>
              <a:srgbClr val="1E6B4F">
                <a:alpha val="8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12018" y="4285774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物理拆分 · 本地独立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077200" y="2628900"/>
            <a:ext cx="3505200" cy="2095500"/>
            <a:chOff x="8077200" y="2628900"/>
            <a:chExt cx="3505200" cy="2095500"/>
          </a:xfrm>
        </p:grpSpPr>
        <p:sp>
          <p:nvSpPr>
            <p:cNvPr id="42" name="Rectangle 42"/>
            <p:cNvSpPr/>
            <p:nvPr/>
          </p:nvSpPr>
          <p:spPr>
            <a:xfrm>
              <a:off x="8077200" y="2628900"/>
              <a:ext cx="35052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77200" y="262890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5B636E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77200" y="2914650"/>
              <a:ext cx="3505200" cy="171450"/>
            </a:xfrm>
            <a:prstGeom prst="rect">
              <a:avLst/>
            </a:prstGeom>
            <a:solidFill>
              <a:srgbClr val="5B636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89608" y="27865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对账核算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45258" y="2827020"/>
              <a:ext cx="919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DDE0E4"/>
                  </a:solidFill>
                  <a:latin typeface="Arial"/>
                  <a:ea typeface="Microsoft YaHei"/>
                  <a:cs typeface="Arial"/>
                </a:rPr>
                <a:t>Blackline 衔接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91512" y="3269456"/>
              <a:ext cx="1676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逻辑迁移,接口重指向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2465" y="35633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账户对账、调节表,本体不重建,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92465" y="3791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切换接口归属即可。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305800" y="4152900"/>
              <a:ext cx="3048000" cy="381000"/>
            </a:xfrm>
            <a:prstGeom prst="roundRect">
              <a:avLst>
                <a:gd name="adj" fmla="val 15000"/>
              </a:avLst>
            </a:prstGeom>
            <a:solidFill>
              <a:srgbClr val="5B636E">
                <a:alpha val="1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45818" y="4285774"/>
              <a:ext cx="12433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逻辑迁移 · 可分批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9600" y="4895850"/>
            <a:ext cx="10972800" cy="533400"/>
            <a:chOff x="609600" y="4895850"/>
            <a:chExt cx="10972800" cy="533400"/>
          </a:xfrm>
        </p:grpSpPr>
        <p:sp>
          <p:nvSpPr>
            <p:cNvPr id="53" name="Rectangle 53"/>
            <p:cNvSpPr/>
            <p:nvPr/>
          </p:nvSpPr>
          <p:spPr>
            <a:xfrm>
              <a:off x="609600" y="4895850"/>
              <a:ext cx="10972800" cy="533400"/>
            </a:xfrm>
            <a:prstGeom prst="roundRect">
              <a:avLst>
                <a:gd name="adj" fmla="val 17857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01303" y="5029200"/>
              <a:ext cx="216694" cy="266700"/>
            </a:xfrm>
            <a:custGeom>
              <a:avLst/>
              <a:gdLst/>
              <a:ahLst/>
              <a:cxnLst/>
              <a:rect l="l" t="t" r="r" b="b"/>
              <a:pathLst>
                <a:path w="216694" h="266700">
                  <a:moveTo>
                    <a:pt x="60672" y="78770"/>
                  </a:moveTo>
                  <a:cubicBezTo>
                    <a:pt x="74133" y="71862"/>
                    <a:pt x="83344" y="57843"/>
                    <a:pt x="83344" y="41672"/>
                  </a:cubicBezTo>
                  <a:cubicBezTo>
                    <a:pt x="83344" y="18657"/>
                    <a:pt x="64687" y="0"/>
                    <a:pt x="41672" y="0"/>
                  </a:cubicBezTo>
                  <a:cubicBezTo>
                    <a:pt x="18657" y="0"/>
                    <a:pt x="0" y="18657"/>
                    <a:pt x="0" y="41672"/>
                  </a:cubicBezTo>
                  <a:cubicBezTo>
                    <a:pt x="0" y="58760"/>
                    <a:pt x="10285" y="73446"/>
                    <a:pt x="25003" y="79876"/>
                  </a:cubicBezTo>
                  <a:lnTo>
                    <a:pt x="25003" y="186823"/>
                  </a:lnTo>
                  <a:cubicBezTo>
                    <a:pt x="10285" y="193254"/>
                    <a:pt x="0" y="207939"/>
                    <a:pt x="0" y="225028"/>
                  </a:cubicBezTo>
                  <a:cubicBezTo>
                    <a:pt x="0" y="248043"/>
                    <a:pt x="18657" y="266700"/>
                    <a:pt x="41672" y="266700"/>
                  </a:cubicBezTo>
                  <a:cubicBezTo>
                    <a:pt x="64687" y="266700"/>
                    <a:pt x="83344" y="248043"/>
                    <a:pt x="83344" y="225028"/>
                  </a:cubicBezTo>
                  <a:cubicBezTo>
                    <a:pt x="83344" y="207939"/>
                    <a:pt x="73058" y="193254"/>
                    <a:pt x="58341" y="186823"/>
                  </a:cubicBezTo>
                  <a:lnTo>
                    <a:pt x="58341" y="123586"/>
                  </a:lnTo>
                  <a:lnTo>
                    <a:pt x="93108" y="158353"/>
                  </a:lnTo>
                  <a:lnTo>
                    <a:pt x="136817" y="158353"/>
                  </a:lnTo>
                  <a:cubicBezTo>
                    <a:pt x="143248" y="173072"/>
                    <a:pt x="157933" y="183356"/>
                    <a:pt x="175022" y="183356"/>
                  </a:cubicBezTo>
                  <a:cubicBezTo>
                    <a:pt x="198036" y="183356"/>
                    <a:pt x="216694" y="164699"/>
                    <a:pt x="216694" y="141684"/>
                  </a:cubicBezTo>
                  <a:cubicBezTo>
                    <a:pt x="216694" y="118670"/>
                    <a:pt x="198036" y="100012"/>
                    <a:pt x="175022" y="100012"/>
                  </a:cubicBezTo>
                  <a:cubicBezTo>
                    <a:pt x="157933" y="100012"/>
                    <a:pt x="143248" y="110298"/>
                    <a:pt x="136817" y="125016"/>
                  </a:cubicBezTo>
                  <a:lnTo>
                    <a:pt x="106917" y="125016"/>
                  </a:lnTo>
                  <a:lnTo>
                    <a:pt x="60672" y="78770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61110" y="509016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业财一体数据底座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25165" y="5106352"/>
              <a:ext cx="42515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统一主数据与核算口径,财务数据可实时钻取到对应业务数据。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562600"/>
            <a:ext cx="10972800" cy="457200"/>
            <a:chOff x="609600" y="5562600"/>
            <a:chExt cx="10972800" cy="457200"/>
          </a:xfrm>
        </p:grpSpPr>
        <p:sp>
          <p:nvSpPr>
            <p:cNvPr id="58" name="Rectangle 58"/>
            <p:cNvSpPr/>
            <p:nvPr/>
          </p:nvSpPr>
          <p:spPr>
            <a:xfrm>
              <a:off x="609600" y="5562600"/>
              <a:ext cx="10972800" cy="457200"/>
            </a:xfrm>
            <a:prstGeom prst="roundRect">
              <a:avLst>
                <a:gd name="adj" fmla="val 12500"/>
              </a:avLst>
            </a:prstGeom>
            <a:solidFill>
              <a:srgbClr val="C8862E">
                <a:alpha val="12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27518" y="5706701"/>
              <a:ext cx="211861" cy="174917"/>
            </a:xfrm>
            <a:custGeom>
              <a:avLst/>
              <a:gdLst/>
              <a:ahLst/>
              <a:cxnLst/>
              <a:rect l="l" t="t" r="r" b="b"/>
              <a:pathLst>
                <a:path w="211861" h="174917">
                  <a:moveTo>
                    <a:pt x="211861" y="40411"/>
                  </a:moveTo>
                  <a:lnTo>
                    <a:pt x="77356" y="174917"/>
                  </a:lnTo>
                  <a:lnTo>
                    <a:pt x="0" y="97561"/>
                  </a:lnTo>
                  <a:lnTo>
                    <a:pt x="40411" y="57150"/>
                  </a:lnTo>
                  <a:lnTo>
                    <a:pt x="77356" y="94094"/>
                  </a:lnTo>
                  <a:lnTo>
                    <a:pt x="171450" y="0"/>
                  </a:lnTo>
                  <a:lnTo>
                    <a:pt x="211861" y="40411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47762" y="5726906"/>
              <a:ext cx="6204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A6A22"/>
                  </a:solidFill>
                  <a:latin typeface="Arial"/>
                  <a:ea typeface="Microsoft YaHei"/>
                  <a:cs typeface="Arial"/>
                </a:rPr>
                <a:t>这一页就是第四幕「财务侧做减法」的目标图 —— 三个系统,一个平台,一致口径。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62" name="TextBox 62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30" grpId="0"/>
      <p:bldP spid="41" grpId="0"/>
      <p:bldP spid="52" grpId="0"/>
      <p:bldP spid="57" grpId="0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7199543" cy="590550"/>
            <a:chOff x="581025" y="309562"/>
            <a:chExt cx="7199543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719954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财务职能转型 —— 从「核算」走向「价值创造」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33544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财务共享 + 数智化,让财务从对账核算中解放出来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63967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本地化不只是「换系统」,更是财务职能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从价值守护走向价值创造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的契机。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676400"/>
            <a:ext cx="3390900" cy="1619250"/>
            <a:chOff x="609600" y="1676400"/>
            <a:chExt cx="3390900" cy="1619250"/>
          </a:xfrm>
        </p:grpSpPr>
        <p:sp>
          <p:nvSpPr>
            <p:cNvPr id="12" name="Rectangle 12"/>
            <p:cNvSpPr/>
            <p:nvPr/>
          </p:nvSpPr>
          <p:spPr>
            <a:xfrm>
              <a:off x="609600" y="1676400"/>
              <a:ext cx="3390900" cy="16192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676400"/>
              <a:ext cx="3390900" cy="57150"/>
            </a:xfrm>
            <a:prstGeom prst="roundRect">
              <a:avLst>
                <a:gd name="adj" fmla="val 50000"/>
              </a:avLst>
            </a:prstGeom>
            <a:solidFill>
              <a:srgbClr val="5B636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150" y="19526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价值守护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3912" y="2316956"/>
              <a:ext cx="2090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标准化、流程化的核算服务,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3912" y="2545556"/>
              <a:ext cx="1269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内嵌系统控制点,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7741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筑牢风险管控关口。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114800" y="2352675"/>
            <a:ext cx="228600" cy="266700"/>
            <a:chOff x="4114800" y="2352675"/>
            <a:chExt cx="228600" cy="266700"/>
          </a:xfrm>
        </p:grpSpPr>
        <p:sp>
          <p:nvSpPr>
            <p:cNvPr id="19" name="Polygon 19"/>
            <p:cNvSpPr/>
            <p:nvPr/>
          </p:nvSpPr>
          <p:spPr>
            <a:xfrm>
              <a:off x="4114800" y="2352675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0" y="133350"/>
                  </a:moveTo>
                  <a:lnTo>
                    <a:pt x="228600" y="0"/>
                  </a:lnTo>
                  <a:lnTo>
                    <a:pt x="228600" y="2667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457700" y="1676400"/>
            <a:ext cx="3390900" cy="1619250"/>
            <a:chOff x="4457700" y="1676400"/>
            <a:chExt cx="33909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4457700" y="1676400"/>
              <a:ext cx="3390900" cy="16192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288">
              <a:solidFill>
                <a:srgbClr val="DDE0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57700" y="1676400"/>
              <a:ext cx="3390900" cy="571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67250" y="19526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价值挖掘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2012" y="2316956"/>
              <a:ext cx="1762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整合沉淀多维业财数据,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72012" y="2545556"/>
              <a:ext cx="1433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规范数据流转标准,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2012" y="27741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盘活数据资产价值。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62900" y="2352675"/>
            <a:ext cx="228600" cy="266700"/>
            <a:chOff x="7962900" y="2352675"/>
            <a:chExt cx="228600" cy="266700"/>
          </a:xfrm>
        </p:grpSpPr>
        <p:sp>
          <p:nvSpPr>
            <p:cNvPr id="28" name="Polygon 28"/>
            <p:cNvSpPr/>
            <p:nvPr/>
          </p:nvSpPr>
          <p:spPr>
            <a:xfrm>
              <a:off x="7962900" y="2352675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0" y="133350"/>
                  </a:moveTo>
                  <a:lnTo>
                    <a:pt x="228600" y="0"/>
                  </a:lnTo>
                  <a:lnTo>
                    <a:pt x="228600" y="2667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8305800" y="1676400"/>
            <a:ext cx="3276600" cy="1619250"/>
            <a:chOff x="8305800" y="1676400"/>
            <a:chExt cx="3276600" cy="1619250"/>
          </a:xfrm>
        </p:grpSpPr>
        <p:sp>
          <p:nvSpPr>
            <p:cNvPr id="30" name="Rectangle 30"/>
            <p:cNvSpPr/>
            <p:nvPr/>
          </p:nvSpPr>
          <p:spPr>
            <a:xfrm>
              <a:off x="8305800" y="1676400"/>
              <a:ext cx="3276600" cy="16192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9050">
              <a:solidFill>
                <a:srgbClr val="C8862E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05800" y="1676400"/>
              <a:ext cx="3276600" cy="5715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15350" y="19526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价值创造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0112" y="2316956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财务深入业务价值链,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20112" y="25455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支持经营决策、洞察机会、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20112" y="27741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预警风险。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3524250"/>
            <a:ext cx="3505200" cy="1524000"/>
            <a:chOff x="609600" y="3524250"/>
            <a:chExt cx="3505200" cy="1524000"/>
          </a:xfrm>
        </p:grpSpPr>
        <p:sp>
          <p:nvSpPr>
            <p:cNvPr id="37" name="Rectangle 37"/>
            <p:cNvSpPr/>
            <p:nvPr/>
          </p:nvSpPr>
          <p:spPr>
            <a:xfrm>
              <a:off x="609600" y="3524250"/>
              <a:ext cx="3505200" cy="1524000"/>
            </a:xfrm>
            <a:prstGeom prst="roundRect">
              <a:avLst>
                <a:gd name="adj" fmla="val 6250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" y="352425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85365" y="3766085"/>
              <a:ext cx="229516" cy="189494"/>
            </a:xfrm>
            <a:custGeom>
              <a:avLst/>
              <a:gdLst/>
              <a:ahLst/>
              <a:cxnLst/>
              <a:rect l="l" t="t" r="r" b="b"/>
              <a:pathLst>
                <a:path w="229516" h="189494">
                  <a:moveTo>
                    <a:pt x="229516" y="43779"/>
                  </a:moveTo>
                  <a:lnTo>
                    <a:pt x="83802" y="189494"/>
                  </a:lnTo>
                  <a:lnTo>
                    <a:pt x="0" y="105691"/>
                  </a:lnTo>
                  <a:lnTo>
                    <a:pt x="43779" y="61912"/>
                  </a:lnTo>
                  <a:lnTo>
                    <a:pt x="83802" y="101936"/>
                  </a:lnTo>
                  <a:lnTo>
                    <a:pt x="185738" y="0"/>
                  </a:lnTo>
                  <a:lnTo>
                    <a:pt x="229516" y="43779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9155" y="4121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财务提效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2965" y="44396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核算自动化减少人工处理,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2965" y="46682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财务精力转向业务支持。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343400" y="3524250"/>
            <a:ext cx="3505200" cy="1524000"/>
            <a:chOff x="4343400" y="3524250"/>
            <a:chExt cx="3505200" cy="1524000"/>
          </a:xfrm>
        </p:grpSpPr>
        <p:sp>
          <p:nvSpPr>
            <p:cNvPr id="44" name="Rectangle 44"/>
            <p:cNvSpPr/>
            <p:nvPr/>
          </p:nvSpPr>
          <p:spPr>
            <a:xfrm>
              <a:off x="4343400" y="3524250"/>
              <a:ext cx="3505200" cy="1524000"/>
            </a:xfrm>
            <a:prstGeom prst="roundRect">
              <a:avLst>
                <a:gd name="adj" fmla="val 6250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343400" y="352425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4633317" y="3733800"/>
              <a:ext cx="201216" cy="247650"/>
            </a:xfrm>
            <a:custGeom>
              <a:avLst/>
              <a:gdLst/>
              <a:ahLst/>
              <a:cxnLst/>
              <a:rect l="l" t="t" r="r" b="b"/>
              <a:pathLst>
                <a:path w="201216" h="247650">
                  <a:moveTo>
                    <a:pt x="56338" y="73144"/>
                  </a:moveTo>
                  <a:cubicBezTo>
                    <a:pt x="68838" y="66729"/>
                    <a:pt x="77391" y="53711"/>
                    <a:pt x="77391" y="38695"/>
                  </a:cubicBezTo>
                  <a:cubicBezTo>
                    <a:pt x="77391" y="17325"/>
                    <a:pt x="60066" y="0"/>
                    <a:pt x="38695" y="0"/>
                  </a:cubicBezTo>
                  <a:cubicBezTo>
                    <a:pt x="17325" y="0"/>
                    <a:pt x="0" y="17325"/>
                    <a:pt x="0" y="38695"/>
                  </a:cubicBezTo>
                  <a:cubicBezTo>
                    <a:pt x="0" y="54563"/>
                    <a:pt x="9551" y="68200"/>
                    <a:pt x="23217" y="74171"/>
                  </a:cubicBezTo>
                  <a:lnTo>
                    <a:pt x="23217" y="173479"/>
                  </a:lnTo>
                  <a:cubicBezTo>
                    <a:pt x="9551" y="179450"/>
                    <a:pt x="0" y="193087"/>
                    <a:pt x="0" y="208955"/>
                  </a:cubicBezTo>
                  <a:cubicBezTo>
                    <a:pt x="0" y="230325"/>
                    <a:pt x="17325" y="247650"/>
                    <a:pt x="38695" y="247650"/>
                  </a:cubicBezTo>
                  <a:cubicBezTo>
                    <a:pt x="60066" y="247650"/>
                    <a:pt x="77391" y="230325"/>
                    <a:pt x="77391" y="208955"/>
                  </a:cubicBezTo>
                  <a:cubicBezTo>
                    <a:pt x="77391" y="193087"/>
                    <a:pt x="67840" y="179450"/>
                    <a:pt x="54173" y="173479"/>
                  </a:cubicBezTo>
                  <a:lnTo>
                    <a:pt x="54173" y="114758"/>
                  </a:lnTo>
                  <a:lnTo>
                    <a:pt x="86458" y="147042"/>
                  </a:lnTo>
                  <a:lnTo>
                    <a:pt x="127045" y="147042"/>
                  </a:lnTo>
                  <a:cubicBezTo>
                    <a:pt x="133016" y="160709"/>
                    <a:pt x="146652" y="170259"/>
                    <a:pt x="162520" y="170259"/>
                  </a:cubicBezTo>
                  <a:cubicBezTo>
                    <a:pt x="183891" y="170259"/>
                    <a:pt x="201216" y="152935"/>
                    <a:pt x="201216" y="131564"/>
                  </a:cubicBezTo>
                  <a:cubicBezTo>
                    <a:pt x="201216" y="110193"/>
                    <a:pt x="183891" y="92869"/>
                    <a:pt x="162520" y="92869"/>
                  </a:cubicBezTo>
                  <a:cubicBezTo>
                    <a:pt x="146652" y="92869"/>
                    <a:pt x="133016" y="102420"/>
                    <a:pt x="127045" y="116086"/>
                  </a:cubicBezTo>
                  <a:lnTo>
                    <a:pt x="99280" y="116086"/>
                  </a:lnTo>
                  <a:lnTo>
                    <a:pt x="56338" y="73144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92955" y="4121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口径统一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96765" y="4439602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主数据治理 + 业财集成,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96765" y="46682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统一核算口径与数据标准。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524250"/>
            <a:ext cx="3505200" cy="1524000"/>
            <a:chOff x="8077200" y="3524250"/>
            <a:chExt cx="3505200" cy="1524000"/>
          </a:xfrm>
        </p:grpSpPr>
        <p:sp>
          <p:nvSpPr>
            <p:cNvPr id="51" name="Rectangle 51"/>
            <p:cNvSpPr/>
            <p:nvPr/>
          </p:nvSpPr>
          <p:spPr>
            <a:xfrm>
              <a:off x="8077200" y="3524250"/>
              <a:ext cx="3505200" cy="1524000"/>
            </a:xfrm>
            <a:prstGeom prst="roundRect">
              <a:avLst>
                <a:gd name="adj" fmla="val 6250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77200" y="352425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359378" y="3733800"/>
              <a:ext cx="216694" cy="247650"/>
            </a:xfrm>
            <a:custGeom>
              <a:avLst/>
              <a:gdLst/>
              <a:ahLst/>
              <a:cxnLst/>
              <a:rect l="l" t="t" r="r" b="b"/>
              <a:pathLst>
                <a:path w="216694" h="247650">
                  <a:moveTo>
                    <a:pt x="108347" y="247650"/>
                  </a:moveTo>
                  <a:lnTo>
                    <a:pt x="51853" y="207297"/>
                  </a:lnTo>
                  <a:cubicBezTo>
                    <a:pt x="19313" y="184053"/>
                    <a:pt x="0" y="146526"/>
                    <a:pt x="0" y="106537"/>
                  </a:cubicBezTo>
                  <a:lnTo>
                    <a:pt x="0" y="46434"/>
                  </a:lnTo>
                  <a:lnTo>
                    <a:pt x="108347" y="0"/>
                  </a:lnTo>
                  <a:lnTo>
                    <a:pt x="216694" y="46434"/>
                  </a:lnTo>
                  <a:lnTo>
                    <a:pt x="216694" y="106537"/>
                  </a:lnTo>
                  <a:cubicBezTo>
                    <a:pt x="216694" y="146526"/>
                    <a:pt x="197382" y="184053"/>
                    <a:pt x="164840" y="207297"/>
                  </a:cubicBezTo>
                  <a:lnTo>
                    <a:pt x="108347" y="247650"/>
                  </a:lnTo>
                  <a:close/>
                  <a:moveTo>
                    <a:pt x="173465" y="88335"/>
                  </a:moveTo>
                  <a:lnTo>
                    <a:pt x="151576" y="66446"/>
                  </a:lnTo>
                  <a:lnTo>
                    <a:pt x="92869" y="125153"/>
                  </a:lnTo>
                  <a:lnTo>
                    <a:pt x="65118" y="97402"/>
                  </a:lnTo>
                  <a:lnTo>
                    <a:pt x="43229" y="119292"/>
                  </a:lnTo>
                  <a:lnTo>
                    <a:pt x="92869" y="168931"/>
                  </a:lnTo>
                  <a:lnTo>
                    <a:pt x="173465" y="88335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26755" y="4121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风险可控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0565" y="443960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规则梳理、控制点内嵌系统,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0565" y="4668202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脱离 Global 后合规不掉线。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5257800"/>
            <a:ext cx="10972800" cy="628650"/>
            <a:chOff x="609600" y="5257800"/>
            <a:chExt cx="10972800" cy="628650"/>
          </a:xfrm>
        </p:grpSpPr>
        <p:sp>
          <p:nvSpPr>
            <p:cNvPr id="58" name="Rectangle 58"/>
            <p:cNvSpPr/>
            <p:nvPr/>
          </p:nvSpPr>
          <p:spPr>
            <a:xfrm>
              <a:off x="609600" y="5257800"/>
              <a:ext cx="10972800" cy="628650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76300" y="5464969"/>
              <a:ext cx="266700" cy="233362"/>
              <a:chOff x="876300" y="5464969"/>
              <a:chExt cx="266700" cy="23336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26306" y="5464969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83344" y="41672"/>
                    </a:moveTo>
                    <a:cubicBezTo>
                      <a:pt x="83344" y="64687"/>
                      <a:pt x="64687" y="83344"/>
                      <a:pt x="41672" y="83344"/>
                    </a:cubicBez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6300" y="5581650"/>
                <a:ext cx="133350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6681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116681"/>
                    </a:lnTo>
                    <a:lnTo>
                      <a:pt x="133350" y="116681"/>
                    </a:lnTo>
                    <a:lnTo>
                      <a:pt x="133350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042988" y="5581650"/>
                <a:ext cx="10001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6681">
                    <a:moveTo>
                      <a:pt x="50006" y="0"/>
                    </a:moveTo>
                    <a:lnTo>
                      <a:pt x="0" y="0"/>
                    </a:lnTo>
                    <a:lnTo>
                      <a:pt x="0" y="116681"/>
                    </a:lnTo>
                    <a:lnTo>
                      <a:pt x="100012" y="116681"/>
                    </a:lnTo>
                    <a:lnTo>
                      <a:pt x="100012" y="50006"/>
                    </a:lnTo>
                    <a:cubicBezTo>
                      <a:pt x="100012" y="22389"/>
                      <a:pt x="77625" y="0"/>
                      <a:pt x="500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42988" y="54816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50" y="66675"/>
                      <a:pt x="66675" y="51749"/>
                      <a:pt x="66675" y="33338"/>
                    </a:cubicBezTo>
                    <a:cubicBezTo>
                      <a:pt x="66675" y="14926"/>
                      <a:pt x="51750" y="0"/>
                      <a:pt x="33338" y="0"/>
                    </a:cubicBezTo>
                    <a:cubicBezTo>
                      <a:pt x="14925" y="0"/>
                      <a:pt x="0" y="14926"/>
                      <a:pt x="0" y="33338"/>
                    </a:cubicBezTo>
                    <a:cubicBezTo>
                      <a:pt x="0" y="51749"/>
                      <a:pt x="14925" y="66675"/>
                      <a:pt x="33338" y="666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61110" y="5499735"/>
              <a:ext cx="66377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对星巴克的意义:这次切割,是中国区财务</a:t>
              </a:r>
              <a:r>
                <a:rPr lang="zh-CN" sz="120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 xml:space="preserve"> 建立独立能力、而非简单复刻 </a:t>
              </a: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的一次机会。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0" grpId="0"/>
      <p:bldP spid="27" grpId="0"/>
      <p:bldP spid="29" grpId="0"/>
      <p:bldP spid="36" grpId="0"/>
      <p:bldP spid="43" grpId="0"/>
      <p:bldP spid="50" grpId="0"/>
      <p:bldP spid="57" grpId="0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6009144" cy="590550"/>
            <a:chOff x="581025" y="309562"/>
            <a:chExt cx="6009144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60091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项目预期收益 —— 渐进式改造,专家引领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稳健分期、对标行业最佳实践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952500"/>
            <a:ext cx="10972800" cy="476250"/>
            <a:chOff x="609600" y="952500"/>
            <a:chExt cx="10972800" cy="476250"/>
          </a:xfrm>
        </p:grpSpPr>
        <p:sp>
          <p:nvSpPr>
            <p:cNvPr id="8" name="Rectangle 8"/>
            <p:cNvSpPr/>
            <p:nvPr/>
          </p:nvSpPr>
          <p:spPr>
            <a:xfrm>
              <a:off x="609600" y="952500"/>
              <a:ext cx="10972800" cy="476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52500"/>
              <a:ext cx="57150" cy="4762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08" y="1110139"/>
              <a:ext cx="45783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一次做对的事,成本最低 —— </a:t>
              </a:r>
              <a:r>
                <a:rPr lang="zh-CN" sz="127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稳健分期、螺旋式上升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657350"/>
            <a:ext cx="5334000" cy="1504950"/>
            <a:chOff x="609600" y="1657350"/>
            <a:chExt cx="5334000" cy="1504950"/>
          </a:xfrm>
        </p:grpSpPr>
        <p:sp>
          <p:nvSpPr>
            <p:cNvPr id="12" name="Rectangle 12"/>
            <p:cNvSpPr/>
            <p:nvPr/>
          </p:nvSpPr>
          <p:spPr>
            <a:xfrm>
              <a:off x="609600" y="1657350"/>
              <a:ext cx="5334000" cy="1504950"/>
            </a:xfrm>
            <a:prstGeom prst="roundRect">
              <a:avLst>
                <a:gd name="adj" fmla="val 6329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657350"/>
              <a:ext cx="57150" cy="150495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94159" y="186690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25016" y="285750"/>
                  </a:moveTo>
                  <a:lnTo>
                    <a:pt x="59831" y="239189"/>
                  </a:lnTo>
                  <a:cubicBezTo>
                    <a:pt x="22284" y="212369"/>
                    <a:pt x="0" y="169069"/>
                    <a:pt x="0" y="122927"/>
                  </a:cubicBezTo>
                  <a:lnTo>
                    <a:pt x="0" y="53578"/>
                  </a:lnTo>
                  <a:lnTo>
                    <a:pt x="125016" y="0"/>
                  </a:lnTo>
                  <a:lnTo>
                    <a:pt x="250031" y="53578"/>
                  </a:lnTo>
                  <a:lnTo>
                    <a:pt x="250031" y="122927"/>
                  </a:lnTo>
                  <a:cubicBezTo>
                    <a:pt x="250031" y="169069"/>
                    <a:pt x="227748" y="212369"/>
                    <a:pt x="190201" y="239189"/>
                  </a:cubicBezTo>
                  <a:lnTo>
                    <a:pt x="125016" y="285750"/>
                  </a:lnTo>
                  <a:close/>
                  <a:moveTo>
                    <a:pt x="200152" y="101925"/>
                  </a:moveTo>
                  <a:lnTo>
                    <a:pt x="174895" y="76668"/>
                  </a:lnTo>
                  <a:lnTo>
                    <a:pt x="107156" y="144407"/>
                  </a:lnTo>
                  <a:lnTo>
                    <a:pt x="75136" y="112387"/>
                  </a:lnTo>
                  <a:lnTo>
                    <a:pt x="49879" y="137644"/>
                  </a:lnTo>
                  <a:lnTo>
                    <a:pt x="107156" y="194921"/>
                  </a:lnTo>
                  <a:lnTo>
                    <a:pt x="200152" y="101925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77302" y="1922621"/>
              <a:ext cx="11288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业务连续性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2965" y="238220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分期切换、过渡层兜底,门店与前端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2965" y="261080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业务在后端切换期间不停业,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965" y="28394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交割节点平稳渡过。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48400" y="1657350"/>
            <a:ext cx="5334000" cy="1504950"/>
            <a:chOff x="6248400" y="1657350"/>
            <a:chExt cx="5334000" cy="1504950"/>
          </a:xfrm>
        </p:grpSpPr>
        <p:sp>
          <p:nvSpPr>
            <p:cNvPr id="20" name="Rectangle 20"/>
            <p:cNvSpPr/>
            <p:nvPr/>
          </p:nvSpPr>
          <p:spPr>
            <a:xfrm>
              <a:off x="6248400" y="1657350"/>
              <a:ext cx="5334000" cy="1504950"/>
            </a:xfrm>
            <a:prstGeom prst="roundRect">
              <a:avLst>
                <a:gd name="adj" fmla="val 6329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1657350"/>
              <a:ext cx="57150" cy="1504950"/>
            </a:xfrm>
            <a:prstGeom prst="roundRect">
              <a:avLst>
                <a:gd name="adj" fmla="val 50000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541889" y="1866900"/>
              <a:ext cx="232172" cy="285750"/>
            </a:xfrm>
            <a:custGeom>
              <a:avLst/>
              <a:gdLst/>
              <a:ahLst/>
              <a:cxnLst/>
              <a:rect l="l" t="t" r="r" b="b"/>
              <a:pathLst>
                <a:path w="232172" h="285750">
                  <a:moveTo>
                    <a:pt x="65005" y="84397"/>
                  </a:moveTo>
                  <a:cubicBezTo>
                    <a:pt x="79428" y="76995"/>
                    <a:pt x="89297" y="61974"/>
                    <a:pt x="89297" y="44648"/>
                  </a:cubicBezTo>
                  <a:cubicBezTo>
                    <a:pt x="89297" y="19990"/>
                    <a:pt x="69307" y="0"/>
                    <a:pt x="44648" y="0"/>
                  </a:cubicBezTo>
                  <a:cubicBezTo>
                    <a:pt x="19990" y="0"/>
                    <a:pt x="0" y="19990"/>
                    <a:pt x="0" y="44648"/>
                  </a:cubicBezTo>
                  <a:cubicBezTo>
                    <a:pt x="0" y="62957"/>
                    <a:pt x="11020" y="78692"/>
                    <a:pt x="26789" y="85582"/>
                  </a:cubicBezTo>
                  <a:lnTo>
                    <a:pt x="26789" y="200168"/>
                  </a:lnTo>
                  <a:cubicBezTo>
                    <a:pt x="11020" y="207058"/>
                    <a:pt x="0" y="222792"/>
                    <a:pt x="0" y="241102"/>
                  </a:cubicBezTo>
                  <a:cubicBezTo>
                    <a:pt x="0" y="265760"/>
                    <a:pt x="19990" y="285750"/>
                    <a:pt x="44648" y="285750"/>
                  </a:cubicBezTo>
                  <a:cubicBezTo>
                    <a:pt x="69307" y="285750"/>
                    <a:pt x="89297" y="265760"/>
                    <a:pt x="89297" y="241102"/>
                  </a:cubicBezTo>
                  <a:cubicBezTo>
                    <a:pt x="89297" y="222792"/>
                    <a:pt x="78277" y="207058"/>
                    <a:pt x="62508" y="200168"/>
                  </a:cubicBezTo>
                  <a:lnTo>
                    <a:pt x="62508" y="132413"/>
                  </a:lnTo>
                  <a:lnTo>
                    <a:pt x="99759" y="169664"/>
                  </a:lnTo>
                  <a:lnTo>
                    <a:pt x="146590" y="169664"/>
                  </a:lnTo>
                  <a:cubicBezTo>
                    <a:pt x="153480" y="185434"/>
                    <a:pt x="169214" y="196453"/>
                    <a:pt x="187523" y="196453"/>
                  </a:cubicBezTo>
                  <a:cubicBezTo>
                    <a:pt x="212182" y="196453"/>
                    <a:pt x="232172" y="176463"/>
                    <a:pt x="232172" y="151805"/>
                  </a:cubicBezTo>
                  <a:cubicBezTo>
                    <a:pt x="232172" y="127146"/>
                    <a:pt x="212182" y="107156"/>
                    <a:pt x="187523" y="107156"/>
                  </a:cubicBezTo>
                  <a:cubicBezTo>
                    <a:pt x="169214" y="107156"/>
                    <a:pt x="153480" y="118176"/>
                    <a:pt x="146590" y="133945"/>
                  </a:cubicBezTo>
                  <a:lnTo>
                    <a:pt x="114554" y="133945"/>
                  </a:lnTo>
                  <a:lnTo>
                    <a:pt x="65005" y="84397"/>
                  </a:lnTo>
                  <a:close/>
                </a:path>
              </a:pathLst>
            </a:custGeom>
            <a:solidFill>
              <a:srgbClr val="1E6B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16102" y="1922621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数据资产打通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1765" y="238220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统一主数据与核算口径,业财一体,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1765" y="2610802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财务数据可实时钻取业务数据,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1765" y="28394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为决策提供完整依据。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333750"/>
            <a:ext cx="5334000" cy="1504950"/>
            <a:chOff x="609600" y="3333750"/>
            <a:chExt cx="5334000" cy="1504950"/>
          </a:xfrm>
        </p:grpSpPr>
        <p:sp>
          <p:nvSpPr>
            <p:cNvPr id="28" name="Rectangle 28"/>
            <p:cNvSpPr/>
            <p:nvPr/>
          </p:nvSpPr>
          <p:spPr>
            <a:xfrm>
              <a:off x="609600" y="3333750"/>
              <a:ext cx="5334000" cy="1504950"/>
            </a:xfrm>
            <a:prstGeom prst="roundRect">
              <a:avLst>
                <a:gd name="adj" fmla="val 6329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333750"/>
              <a:ext cx="57150" cy="150495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94159" y="3561159"/>
              <a:ext cx="250032" cy="250032"/>
              <a:chOff x="894159" y="3561159"/>
              <a:chExt cx="250032" cy="25003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94159" y="356115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72753" y="3739753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1" y="71438"/>
                      <a:pt x="0" y="55446"/>
                      <a:pt x="0" y="35719"/>
                    </a:cubicBezTo>
                    <a:cubicBezTo>
                      <a:pt x="0" y="15991"/>
                      <a:pt x="15991" y="0"/>
                      <a:pt x="35719" y="0"/>
                    </a:cubicBezTo>
                    <a:cubicBezTo>
                      <a:pt x="55446" y="0"/>
                      <a:pt x="71438" y="15991"/>
                      <a:pt x="71438" y="35719"/>
                    </a:cubicBez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12019" y="3561159"/>
                <a:ext cx="21431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50031">
                    <a:moveTo>
                      <a:pt x="125016" y="62508"/>
                    </a:moveTo>
                    <a:cubicBezTo>
                      <a:pt x="125016" y="47713"/>
                      <a:pt x="137009" y="35719"/>
                      <a:pt x="151805" y="35719"/>
                    </a:cubicBezTo>
                    <a:cubicBezTo>
                      <a:pt x="166599" y="35719"/>
                      <a:pt x="178594" y="47713"/>
                      <a:pt x="178594" y="62508"/>
                    </a:cubicBezTo>
                    <a:lnTo>
                      <a:pt x="178594" y="142875"/>
                    </a:lnTo>
                    <a:lnTo>
                      <a:pt x="214312" y="142875"/>
                    </a:lnTo>
                    <a:lnTo>
                      <a:pt x="214312" y="62508"/>
                    </a:lnTo>
                    <a:cubicBezTo>
                      <a:pt x="214312" y="27986"/>
                      <a:pt x="186327" y="0"/>
                      <a:pt x="151805" y="0"/>
                    </a:cubicBezTo>
                    <a:cubicBezTo>
                      <a:pt x="117283" y="0"/>
                      <a:pt x="89297" y="27986"/>
                      <a:pt x="89297" y="62508"/>
                    </a:cubicBezTo>
                    <a:lnTo>
                      <a:pt x="89297" y="187523"/>
                    </a:lnTo>
                    <a:cubicBezTo>
                      <a:pt x="89297" y="202318"/>
                      <a:pt x="77303" y="214312"/>
                      <a:pt x="62508" y="214312"/>
                    </a:cubicBezTo>
                    <a:cubicBezTo>
                      <a:pt x="47713" y="214312"/>
                      <a:pt x="35719" y="202318"/>
                      <a:pt x="35719" y="187523"/>
                    </a:cubicBezTo>
                    <a:lnTo>
                      <a:pt x="35719" y="107156"/>
                    </a:lnTo>
                    <a:lnTo>
                      <a:pt x="0" y="107156"/>
                    </a:lnTo>
                    <a:lnTo>
                      <a:pt x="0" y="187523"/>
                    </a:lnTo>
                    <a:cubicBezTo>
                      <a:pt x="0" y="222046"/>
                      <a:pt x="27986" y="250031"/>
                      <a:pt x="62508" y="250031"/>
                    </a:cubicBezTo>
                    <a:cubicBezTo>
                      <a:pt x="97030" y="250031"/>
                      <a:pt x="125016" y="222046"/>
                      <a:pt x="125016" y="187523"/>
                    </a:cubicBezTo>
                    <a:lnTo>
                      <a:pt x="125016" y="62508"/>
                    </a:lnTo>
                    <a:close/>
                  </a:path>
                </a:pathLst>
              </a:custGeom>
              <a:solidFill>
                <a:srgbClr val="C8862E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277302" y="3599021"/>
              <a:ext cx="11288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渐进式演进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2965" y="4058602"/>
              <a:ext cx="2257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不追求一次到位,重点突出、层次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2965" y="428720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分明、迭代演进,兼顾成本与效率,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965" y="45158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风险始终可控。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48400" y="3333750"/>
            <a:ext cx="5334000" cy="1504950"/>
            <a:chOff x="6248400" y="3333750"/>
            <a:chExt cx="5334000" cy="1504950"/>
          </a:xfrm>
        </p:grpSpPr>
        <p:sp>
          <p:nvSpPr>
            <p:cNvPr id="39" name="Rectangle 39"/>
            <p:cNvSpPr/>
            <p:nvPr/>
          </p:nvSpPr>
          <p:spPr>
            <a:xfrm>
              <a:off x="6248400" y="3333750"/>
              <a:ext cx="5334000" cy="1504950"/>
            </a:xfrm>
            <a:prstGeom prst="roundRect">
              <a:avLst>
                <a:gd name="adj" fmla="val 6329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333750"/>
              <a:ext cx="57150" cy="150495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515100" y="3561159"/>
              <a:ext cx="285750" cy="250032"/>
              <a:chOff x="6515100" y="3561159"/>
              <a:chExt cx="285750" cy="25003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68678" y="3561159"/>
                <a:ext cx="89297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89297" h="89297">
                    <a:moveTo>
                      <a:pt x="89297" y="44648"/>
                    </a:moveTo>
                    <a:cubicBezTo>
                      <a:pt x="89297" y="69307"/>
                      <a:pt x="69307" y="89297"/>
                      <a:pt x="44648" y="89297"/>
                    </a:cubicBezTo>
                    <a:cubicBezTo>
                      <a:pt x="19990" y="89297"/>
                      <a:pt x="0" y="69307"/>
                      <a:pt x="0" y="44648"/>
                    </a:cubicBezTo>
                    <a:cubicBezTo>
                      <a:pt x="0" y="19990"/>
                      <a:pt x="19990" y="0"/>
                      <a:pt x="44648" y="0"/>
                    </a:cubicBezTo>
                    <a:cubicBezTo>
                      <a:pt x="69307" y="0"/>
                      <a:pt x="89297" y="19990"/>
                      <a:pt x="89297" y="44648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15100" y="3686175"/>
                <a:ext cx="142875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5016">
                    <a:moveTo>
                      <a:pt x="53578" y="0"/>
                    </a:moveTo>
                    <a:cubicBezTo>
                      <a:pt x="23988" y="0"/>
                      <a:pt x="0" y="23988"/>
                      <a:pt x="0" y="53578"/>
                    </a:cubicBezTo>
                    <a:lnTo>
                      <a:pt x="0" y="125016"/>
                    </a:lnTo>
                    <a:lnTo>
                      <a:pt x="142875" y="125016"/>
                    </a:lnTo>
                    <a:lnTo>
                      <a:pt x="142875" y="0"/>
                    </a:lnTo>
                    <a:lnTo>
                      <a:pt x="53578" y="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93694" y="3686175"/>
                <a:ext cx="107156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25016">
                    <a:moveTo>
                      <a:pt x="53578" y="0"/>
                    </a:moveTo>
                    <a:lnTo>
                      <a:pt x="0" y="0"/>
                    </a:lnTo>
                    <a:lnTo>
                      <a:pt x="0" y="125016"/>
                    </a:lnTo>
                    <a:lnTo>
                      <a:pt x="107156" y="125016"/>
                    </a:lnTo>
                    <a:lnTo>
                      <a:pt x="107156" y="53578"/>
                    </a:lnTo>
                    <a:cubicBezTo>
                      <a:pt x="107156" y="23988"/>
                      <a:pt x="83169" y="0"/>
                      <a:pt x="53578" y="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93694" y="357901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35719" y="71438"/>
                    </a:move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1" y="0"/>
                      <a:pt x="0" y="15992"/>
                      <a:pt x="0" y="35719"/>
                    </a:cubicBezTo>
                    <a:cubicBezTo>
                      <a:pt x="0" y="55446"/>
                      <a:pt x="15991" y="71438"/>
                      <a:pt x="35719" y="71438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16102" y="3599021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专家引领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01765" y="4058602"/>
              <a:ext cx="21275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凯捷餐饮零售 + 分拆专家团队,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1765" y="4287202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对标百胜、麦当劳等头部经验,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01765" y="45158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把方法论变现为可落地的方案。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5029200"/>
            <a:ext cx="10972800" cy="857250"/>
            <a:chOff x="609600" y="5029200"/>
            <a:chExt cx="10972800" cy="857250"/>
          </a:xfrm>
        </p:grpSpPr>
        <p:sp>
          <p:nvSpPr>
            <p:cNvPr id="51" name="Rectangle 51"/>
            <p:cNvSpPr/>
            <p:nvPr/>
          </p:nvSpPr>
          <p:spPr>
            <a:xfrm>
              <a:off x="609600" y="5029200"/>
              <a:ext cx="10972800" cy="8572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76300" y="52959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lnTo>
                    <a:pt x="228600" y="38100"/>
                  </a:lnTo>
                  <a:lnTo>
                    <a:pt x="304800" y="38100"/>
                  </a:lnTo>
                  <a:lnTo>
                    <a:pt x="304800" y="76200"/>
                  </a:lnTo>
                  <a:cubicBezTo>
                    <a:pt x="304800" y="122995"/>
                    <a:pt x="271055" y="161908"/>
                    <a:pt x="226573" y="169933"/>
                  </a:cubicBezTo>
                  <a:cubicBezTo>
                    <a:pt x="220098" y="197428"/>
                    <a:pt x="198730" y="219178"/>
                    <a:pt x="171450" y="226200"/>
                  </a:cubicBezTo>
                  <a:lnTo>
                    <a:pt x="171450" y="266700"/>
                  </a:lnTo>
                  <a:lnTo>
                    <a:pt x="228600" y="266700"/>
                  </a:lnTo>
                  <a:lnTo>
                    <a:pt x="228600" y="304800"/>
                  </a:lnTo>
                  <a:lnTo>
                    <a:pt x="76200" y="304800"/>
                  </a:lnTo>
                  <a:lnTo>
                    <a:pt x="76200" y="266700"/>
                  </a:lnTo>
                  <a:lnTo>
                    <a:pt x="133350" y="266700"/>
                  </a:lnTo>
                  <a:lnTo>
                    <a:pt x="133350" y="226200"/>
                  </a:lnTo>
                  <a:cubicBezTo>
                    <a:pt x="106070" y="219178"/>
                    <a:pt x="84702" y="197428"/>
                    <a:pt x="78227" y="169933"/>
                  </a:cubicBezTo>
                  <a:cubicBezTo>
                    <a:pt x="33744" y="161908"/>
                    <a:pt x="0" y="122995"/>
                    <a:pt x="0" y="76200"/>
                  </a:cubicBezTo>
                  <a:lnTo>
                    <a:pt x="0" y="38100"/>
                  </a:lnTo>
                  <a:lnTo>
                    <a:pt x="76200" y="38100"/>
                  </a:lnTo>
                  <a:lnTo>
                    <a:pt x="76200" y="0"/>
                  </a:lnTo>
                  <a:close/>
                  <a:moveTo>
                    <a:pt x="228600" y="130098"/>
                  </a:moveTo>
                  <a:lnTo>
                    <a:pt x="228600" y="76200"/>
                  </a:lnTo>
                  <a:lnTo>
                    <a:pt x="266700" y="76200"/>
                  </a:lnTo>
                  <a:cubicBezTo>
                    <a:pt x="266700" y="101083"/>
                    <a:pt x="250797" y="122253"/>
                    <a:pt x="228600" y="130098"/>
                  </a:cubicBezTo>
                  <a:close/>
                  <a:moveTo>
                    <a:pt x="76200" y="76200"/>
                  </a:moveTo>
                  <a:lnTo>
                    <a:pt x="38100" y="76200"/>
                  </a:lnTo>
                  <a:cubicBezTo>
                    <a:pt x="38100" y="101083"/>
                    <a:pt x="54003" y="122253"/>
                    <a:pt x="76200" y="130098"/>
                  </a:cubicBezTo>
                  <a:lnTo>
                    <a:pt x="76200" y="7620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17308" y="52535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收益的本质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19212" y="5555456"/>
              <a:ext cx="63625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不是某个百分比的降本,而是星巴克中国拿到一台</a:t>
              </a:r>
              <a:r>
                <a:rPr lang="zh-CN" sz="112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能独立行军、可持续演进的技术底座</a:t>
              </a:r>
              <a:r>
                <a:rPr lang="zh-CN" sz="112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56" name="TextBox 56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  <p:bldP spid="38" grpId="0"/>
      <p:bldP spid="50" grpId="0"/>
      <p:bldP spid="5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81025" y="309562"/>
            <a:ext cx="6906256" cy="590550"/>
            <a:chOff x="581025" y="309562"/>
            <a:chExt cx="6906256" cy="590550"/>
          </a:xfrm>
        </p:grpSpPr>
        <p:sp>
          <p:nvSpPr>
            <p:cNvPr id="5" name="TextBox 5"/>
            <p:cNvSpPr txBox="1"/>
            <p:nvPr/>
          </p:nvSpPr>
          <p:spPr>
            <a:xfrm>
              <a:off x="581025" y="309562"/>
              <a:ext cx="690625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第五幕 · 下一步 —— 一个具体、低成本的承诺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265" y="686752"/>
              <a:ext cx="3285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让会议有下文:不空谈,给一个 2 周可交付的钩子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990600"/>
            <a:ext cx="10972800" cy="1790700"/>
            <a:chOff x="609600" y="990600"/>
            <a:chExt cx="10972800" cy="1790700"/>
          </a:xfrm>
        </p:grpSpPr>
        <p:sp>
          <p:nvSpPr>
            <p:cNvPr id="8" name="Rectangle 8"/>
            <p:cNvSpPr/>
            <p:nvPr/>
          </p:nvSpPr>
          <p:spPr>
            <a:xfrm>
              <a:off x="609600" y="990600"/>
              <a:ext cx="10972800" cy="1790700"/>
            </a:xfrm>
            <a:prstGeom prst="roundRect">
              <a:avLst>
                <a:gd name="adj" fmla="val 5319"/>
              </a:avLst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990600"/>
              <a:ext cx="57150" cy="179070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32259" y="1294209"/>
              <a:ext cx="250031" cy="267891"/>
            </a:xfrm>
            <a:custGeom>
              <a:avLst/>
              <a:gdLst/>
              <a:ahLst/>
              <a:cxnLst/>
              <a:rect l="l" t="t" r="r" b="b"/>
              <a:pathLst>
                <a:path w="250031" h="267891">
                  <a:moveTo>
                    <a:pt x="0" y="0"/>
                  </a:moveTo>
                  <a:lnTo>
                    <a:pt x="0" y="267891"/>
                  </a:lnTo>
                  <a:lnTo>
                    <a:pt x="35719" y="267891"/>
                  </a:lnTo>
                  <a:lnTo>
                    <a:pt x="35719" y="160734"/>
                  </a:lnTo>
                  <a:lnTo>
                    <a:pt x="107156" y="160734"/>
                  </a:lnTo>
                  <a:lnTo>
                    <a:pt x="142875" y="196453"/>
                  </a:lnTo>
                  <a:lnTo>
                    <a:pt x="250031" y="196453"/>
                  </a:lnTo>
                  <a:lnTo>
                    <a:pt x="250031" y="35719"/>
                  </a:lnTo>
                  <a:lnTo>
                    <a:pt x="142875" y="35719"/>
                  </a:lnTo>
                  <a:lnTo>
                    <a:pt x="1071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0162" y="137398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承诺动作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9635" y="1751648"/>
              <a:ext cx="53424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星巴克提供 RFI 文档后,凯捷 </a:t>
              </a:r>
              <a:r>
                <a:rPr lang="zh-CN" sz="195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2 周内</a:t>
              </a:r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160" y="2232660"/>
              <a:ext cx="65589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EE6"/>
                  </a:solidFill>
                  <a:latin typeface="Arial"/>
                  <a:ea typeface="Microsoft YaHei"/>
                  <a:cs typeface="Arial"/>
                </a:rPr>
                <a:t>《接口可拆解性评估 + 风险分级清单》 —— 把 33 个接口按「物理拆 / 逻辑迁」分类,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160" y="248031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EE6"/>
                  </a:solidFill>
                  <a:latin typeface="Arial"/>
                  <a:ea typeface="Microsoft YaHei"/>
                  <a:cs typeface="Arial"/>
                </a:rPr>
                <a:t>标出真正高风险的关键路径项。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3009900"/>
            <a:ext cx="1016698" cy="300038"/>
            <a:chOff x="609600" y="3009900"/>
            <a:chExt cx="1016698" cy="300038"/>
          </a:xfrm>
        </p:grpSpPr>
        <p:sp>
          <p:nvSpPr>
            <p:cNvPr id="16" name="Rectangle 16"/>
            <p:cNvSpPr/>
            <p:nvPr/>
          </p:nvSpPr>
          <p:spPr>
            <a:xfrm>
              <a:off x="609600" y="3009900"/>
              <a:ext cx="47625" cy="20955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3905" y="30356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后续配合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333750"/>
            <a:ext cx="3524250" cy="1809750"/>
            <a:chOff x="609600" y="3333750"/>
            <a:chExt cx="3524250" cy="1809750"/>
          </a:xfrm>
        </p:grpSpPr>
        <p:sp>
          <p:nvSpPr>
            <p:cNvPr id="19" name="Rectangle 19"/>
            <p:cNvSpPr/>
            <p:nvPr/>
          </p:nvSpPr>
          <p:spPr>
            <a:xfrm>
              <a:off x="609600" y="3333750"/>
              <a:ext cx="3524250" cy="1809750"/>
            </a:xfrm>
            <a:prstGeom prst="roundRect">
              <a:avLst>
                <a:gd name="adj" fmla="val 5263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333750"/>
              <a:ext cx="3524250" cy="457200"/>
            </a:xfrm>
            <a:prstGeom prst="roundRect">
              <a:avLst>
                <a:gd name="adj" fmla="val 20833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3600450"/>
              <a:ext cx="3524250" cy="1905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47725" y="3448050"/>
              <a:ext cx="171451" cy="228600"/>
              <a:chOff x="847725" y="3448050"/>
              <a:chExt cx="171451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47725" y="34480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71438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171450" y="228600"/>
                    </a:lnTo>
                    <a:lnTo>
                      <a:pt x="171450" y="100012"/>
                    </a:lnTo>
                    <a:lnTo>
                      <a:pt x="71438" y="100012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47738" y="3448050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71438"/>
                    </a:lnTo>
                    <a:lnTo>
                      <a:pt x="71438" y="714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126808" y="35009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案例材料包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403955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整理 Oracle / SAP 餐饮零售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4865" y="42872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实施实例,加上从 Global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4865" y="4534852"/>
              <a:ext cx="2242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Instance 分拆的成功项目复盘。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43400" y="3333750"/>
            <a:ext cx="3505200" cy="1809750"/>
            <a:chOff x="4343400" y="3333750"/>
            <a:chExt cx="3505200" cy="1809750"/>
          </a:xfrm>
        </p:grpSpPr>
        <p:sp>
          <p:nvSpPr>
            <p:cNvPr id="30" name="Rectangle 30"/>
            <p:cNvSpPr/>
            <p:nvPr/>
          </p:nvSpPr>
          <p:spPr>
            <a:xfrm>
              <a:off x="4343400" y="3333750"/>
              <a:ext cx="3505200" cy="1809750"/>
            </a:xfrm>
            <a:prstGeom prst="roundRect">
              <a:avLst>
                <a:gd name="adj" fmla="val 5263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43400" y="333375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3400" y="3600450"/>
              <a:ext cx="3505200" cy="1905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4552950" y="3462338"/>
              <a:ext cx="228600" cy="200024"/>
              <a:chOff x="4552950" y="3462338"/>
              <a:chExt cx="228600" cy="20002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95812" y="34623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552950" y="3562350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42862" y="0"/>
                    </a:moveTo>
                    <a:cubicBezTo>
                      <a:pt x="19190" y="0"/>
                      <a:pt x="0" y="19190"/>
                      <a:pt x="0" y="42862"/>
                    </a:cubicBezTo>
                    <a:lnTo>
                      <a:pt x="0" y="100012"/>
                    </a:lnTo>
                    <a:lnTo>
                      <a:pt x="114300" y="100012"/>
                    </a:lnTo>
                    <a:lnTo>
                      <a:pt x="114300" y="0"/>
                    </a:lnTo>
                    <a:lnTo>
                      <a:pt x="428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695825" y="3562350"/>
                <a:ext cx="857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0012">
                    <a:moveTo>
                      <a:pt x="42862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85725" y="100012"/>
                    </a:lnTo>
                    <a:lnTo>
                      <a:pt x="85725" y="42862"/>
                    </a:lnTo>
                    <a:cubicBezTo>
                      <a:pt x="85725" y="19190"/>
                      <a:pt x="66535" y="0"/>
                      <a:pt x="428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695825" y="34766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4860608" y="35009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专家资源对接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58665" y="403955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技术、数据、财务三维度专家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58665" y="42872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按需参与后续会议,接得住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58665" y="45348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现场追问。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077200" y="3333750"/>
            <a:ext cx="3505200" cy="1809750"/>
            <a:chOff x="8077200" y="3333750"/>
            <a:chExt cx="350520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077200" y="3333750"/>
              <a:ext cx="3505200" cy="1809750"/>
            </a:xfrm>
            <a:prstGeom prst="roundRect">
              <a:avLst>
                <a:gd name="adj" fmla="val 5263"/>
              </a:avLst>
            </a:prstGeom>
            <a:solidFill>
              <a:srgbClr val="F1F3F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77200" y="333375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77200" y="3600450"/>
              <a:ext cx="3505200" cy="1905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286750" y="34480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00012" y="42862"/>
                  </a:moveTo>
                  <a:lnTo>
                    <a:pt x="100012" y="120218"/>
                  </a:lnTo>
                  <a:lnTo>
                    <a:pt x="147060" y="167265"/>
                  </a:lnTo>
                  <a:lnTo>
                    <a:pt x="167265" y="147060"/>
                  </a:lnTo>
                  <a:lnTo>
                    <a:pt x="128588" y="108382"/>
                  </a:lnTo>
                  <a:lnTo>
                    <a:pt x="128588" y="42862"/>
                  </a:lnTo>
                  <a:lnTo>
                    <a:pt x="100012" y="428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94408" y="35009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商务节奏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2465" y="403955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今天不谈商务;采购流程按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92465" y="428720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星巴克节奏推进,凯捷不催。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5334000"/>
            <a:ext cx="10972800" cy="762000"/>
            <a:chOff x="609600" y="5334000"/>
            <a:chExt cx="10972800" cy="762000"/>
          </a:xfrm>
        </p:grpSpPr>
        <p:sp>
          <p:nvSpPr>
            <p:cNvPr id="51" name="Rectangle 51"/>
            <p:cNvSpPr/>
            <p:nvPr/>
          </p:nvSpPr>
          <p:spPr>
            <a:xfrm>
              <a:off x="609600" y="5334000"/>
              <a:ext cx="10972800" cy="762000"/>
            </a:xfrm>
            <a:prstGeom prst="roundRect">
              <a:avLst>
                <a:gd name="adj" fmla="val 12500"/>
              </a:avLst>
            </a:prstGeom>
            <a:solidFill>
              <a:srgbClr val="C8862E">
                <a:alpha val="12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86063" y="5616418"/>
              <a:ext cx="247171" cy="204070"/>
            </a:xfrm>
            <a:custGeom>
              <a:avLst/>
              <a:gdLst/>
              <a:ahLst/>
              <a:cxnLst/>
              <a:rect l="l" t="t" r="r" b="b"/>
              <a:pathLst>
                <a:path w="247171" h="204070">
                  <a:moveTo>
                    <a:pt x="247171" y="47146"/>
                  </a:moveTo>
                  <a:lnTo>
                    <a:pt x="90248" y="204070"/>
                  </a:lnTo>
                  <a:lnTo>
                    <a:pt x="0" y="113821"/>
                  </a:lnTo>
                  <a:lnTo>
                    <a:pt x="47146" y="66675"/>
                  </a:lnTo>
                  <a:lnTo>
                    <a:pt x="90248" y="109777"/>
                  </a:lnTo>
                  <a:lnTo>
                    <a:pt x="200025" y="0"/>
                  </a:lnTo>
                  <a:lnTo>
                    <a:pt x="247171" y="47146"/>
                  </a:lnTo>
                  <a:close/>
                </a:path>
              </a:pathLst>
            </a:custGeom>
            <a:solidFill>
              <a:srgbClr val="C8862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80160" y="55473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A6A22"/>
                  </a:solidFill>
                  <a:latin typeface="Arial"/>
                  <a:ea typeface="Microsoft YaHei"/>
                  <a:cs typeface="Arial"/>
                </a:rPr>
                <a:t>为什么这个承诺有效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81112" y="5822156"/>
              <a:ext cx="64036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低成本、可验证、直击星巴克最大单点风险(接口靠文档反推) —— 一次就建立专业信任。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9122" y="6521291"/>
            <a:ext cx="10993756" cy="167640"/>
            <a:chOff x="599122" y="6521291"/>
            <a:chExt cx="10993756" cy="167640"/>
          </a:xfrm>
        </p:grpSpPr>
        <p:sp>
          <p:nvSpPr>
            <p:cNvPr id="56" name="TextBox 56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00740" y="65212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9" grpId="0"/>
      <p:bldP spid="42" grpId="0"/>
      <p:bldP spid="50" grpId="0"/>
      <p:bldP spid="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90500" y="-762000"/>
            <a:ext cx="12382500" cy="7620000"/>
            <a:chOff x="-190500" y="-762000"/>
            <a:chExt cx="12382500" cy="7620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E6B4F">
                    <a:alpha val="28000"/>
                  </a:srgbClr>
                </a:gs>
                <a:gs pos="100000">
                  <a:srgbClr val="1E6B4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90500" y="-762000"/>
              <a:ext cx="3810000" cy="3810000"/>
            </a:xfrm>
            <a:prstGeom prst="ellipse">
              <a:avLst/>
            </a:pr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43000" y="1695450"/>
            <a:ext cx="8630591" cy="3281362"/>
            <a:chOff x="1143000" y="1695450"/>
            <a:chExt cx="8630591" cy="3281362"/>
          </a:xfrm>
        </p:grpSpPr>
        <p:sp>
          <p:nvSpPr>
            <p:cNvPr id="7" name="Rectangle 7"/>
            <p:cNvSpPr/>
            <p:nvPr/>
          </p:nvSpPr>
          <p:spPr>
            <a:xfrm>
              <a:off x="1143000" y="1695450"/>
              <a:ext cx="133350" cy="3162300"/>
            </a:xfrm>
            <a:prstGeom prst="rect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90675" y="2024062"/>
              <a:ext cx="71477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「汉得强在『配软件』,凯捷强在『懂分拆』。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5438" y="2826544"/>
              <a:ext cx="405943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万店规模的餐饮零售 ERP 切换 ——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4960" y="3251835"/>
              <a:ext cx="36087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稳,永远比快值钱。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5438" y="4102894"/>
              <a:ext cx="604480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9D6E3"/>
                  </a:solidFill>
                  <a:latin typeface="Arial"/>
                  <a:ea typeface="Microsoft YaHei"/>
                  <a:cs typeface="Arial"/>
                </a:rPr>
                <a:t>我们要交付给星巴克的,不是一套 SAP 或 Oracle,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90675" y="4519612"/>
              <a:ext cx="818291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是博裕入主后,星巴克中国能独立行军的技术底座。」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04962" y="5334000"/>
            <a:ext cx="5105638" cy="488156"/>
            <a:chOff x="1604962" y="5334000"/>
            <a:chExt cx="5105638" cy="488156"/>
          </a:xfrm>
        </p:grpSpPr>
        <p:sp>
          <p:nvSpPr>
            <p:cNvPr id="14" name="Rectangle 14"/>
            <p:cNvSpPr/>
            <p:nvPr/>
          </p:nvSpPr>
          <p:spPr>
            <a:xfrm>
              <a:off x="1619250" y="5334000"/>
              <a:ext cx="3048000" cy="28575"/>
            </a:xfrm>
            <a:prstGeom prst="rect">
              <a:avLst/>
            </a:prstGeom>
            <a:solidFill>
              <a:srgbClr val="1E6B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04962" y="5593556"/>
              <a:ext cx="5105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FB0C2"/>
                  </a:solidFill>
                  <a:latin typeface="Arial"/>
                  <a:ea typeface="Microsoft YaHei"/>
                  <a:cs typeface="Arial"/>
                </a:rPr>
                <a:t>凯捷 Capgemini · 星巴克中国 ERP 本地化拆分项目 · 5月18日拜访汇报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361950"/>
            <a:ext cx="10972800" cy="647700"/>
            <a:chOff x="609600" y="361950"/>
            <a:chExt cx="10972800" cy="647700"/>
          </a:xfrm>
        </p:grpSpPr>
        <p:sp>
          <p:nvSpPr>
            <p:cNvPr id="5" name="Rectangle 5"/>
            <p:cNvSpPr/>
            <p:nvPr/>
          </p:nvSpPr>
          <p:spPr>
            <a:xfrm>
              <a:off x="609600" y="381000"/>
              <a:ext cx="47625" cy="5334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404812"/>
              <a:ext cx="39043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附 · 汇报节奏与现场分工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6765" y="762952"/>
              <a:ext cx="47345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36E"/>
                  </a:solidFill>
                  <a:latin typeface="Arial"/>
                  <a:ea typeface="Microsoft YaHei"/>
                  <a:cs typeface="Arial"/>
                </a:rPr>
                <a:t>首轮轻量面谈 · 听众:IT 负责人 / PS 团队 / 财务关键用户 / 上级主管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0" y="361950"/>
              <a:ext cx="1676400" cy="647700"/>
            </a:xfrm>
            <a:prstGeom prst="roundRect">
              <a:avLst>
                <a:gd name="adj" fmla="val 17647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49817" y="500062"/>
              <a:ext cx="9887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35</a:t>
              </a: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43949" y="8253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总时长</a:t>
              </a:r>
            </a:p>
          </p:txBody>
        </p:sp>
      </p:grpSp>
      <p:sp>
        <p:nvSpPr>
          <p:cNvPr id="12" name="Line 12"/>
          <p:cNvSpPr/>
          <p:nvPr/>
        </p:nvSpPr>
        <p:spPr>
          <a:xfrm>
            <a:off x="1143000" y="1485900"/>
            <a:ext cx="9525" cy="4076700"/>
          </a:xfrm>
          <a:custGeom>
            <a:avLst/>
            <a:gdLst/>
            <a:ahLst/>
            <a:cxnLst/>
            <a:rect l="l" t="t" r="r" b="b"/>
            <a:pathLst>
              <a:path w="9525" h="4076700">
                <a:moveTo>
                  <a:pt x="0" y="0"/>
                </a:moveTo>
                <a:lnTo>
                  <a:pt x="0" y="4076700"/>
                </a:lnTo>
              </a:path>
            </a:pathLst>
          </a:custGeom>
          <a:noFill/>
          <a:ln w="28575" cap="rnd">
            <a:gradFill>
              <a:gsLst>
                <a:gs pos="0">
                  <a:srgbClr val="1A3A5C"/>
                </a:gs>
                <a:gs pos="100000">
                  <a:srgbClr val="1E6B4F"/>
                </a:gs>
              </a:gsLst>
              <a:lin ang="5400000" scaled="1"/>
            </a:gradFill>
          </a:ln>
        </p:spPr>
      </p:sp>
      <p:grpSp>
        <p:nvGrpSpPr>
          <p:cNvPr id="19" name="Group 19"/>
          <p:cNvGrpSpPr/>
          <p:nvPr/>
        </p:nvGrpSpPr>
        <p:grpSpPr>
          <a:xfrm>
            <a:off x="933450" y="1485900"/>
            <a:ext cx="10306050" cy="511969"/>
            <a:chOff x="933450" y="1485900"/>
            <a:chExt cx="10306050" cy="511969"/>
          </a:xfrm>
        </p:grpSpPr>
        <p:sp>
          <p:nvSpPr>
            <p:cNvPr id="13" name="Ellipse 13"/>
            <p:cNvSpPr/>
            <p:nvPr/>
          </p:nvSpPr>
          <p:spPr>
            <a:xfrm>
              <a:off x="933450" y="14859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A3A5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5391" y="1640681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58302" y="1503521"/>
              <a:ext cx="25929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开场定调 —— 抛出核心主张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4018" y="1799749"/>
              <a:ext cx="944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主讲 · 负责人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0" y="15240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1A3A5C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33987" y="1629728"/>
              <a:ext cx="4775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0 – 2′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3450" y="2209800"/>
            <a:ext cx="10306050" cy="511969"/>
            <a:chOff x="933450" y="2209800"/>
            <a:chExt cx="10306050" cy="511969"/>
          </a:xfrm>
        </p:grpSpPr>
        <p:sp>
          <p:nvSpPr>
            <p:cNvPr id="20" name="Ellipse 20"/>
            <p:cNvSpPr/>
            <p:nvPr/>
          </p:nvSpPr>
          <p:spPr>
            <a:xfrm>
              <a:off x="933450" y="22098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A3A5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3826" y="23645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58302" y="2227421"/>
              <a:ext cx="37183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第一、二幕 —— 读懂处境 + 点破真难点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4018" y="2523649"/>
              <a:ext cx="1093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主讲 · 资深顾问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06000" y="22479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1A3A5C">
                <a:alpha val="8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09834" y="2353628"/>
              <a:ext cx="525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2 – 12′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2914650"/>
            <a:ext cx="10325100" cy="531019"/>
            <a:chOff x="914400" y="2914650"/>
            <a:chExt cx="10325100" cy="531019"/>
          </a:xfrm>
        </p:grpSpPr>
        <p:sp>
          <p:nvSpPr>
            <p:cNvPr id="27" name="Ellipse 27"/>
            <p:cNvSpPr/>
            <p:nvPr/>
          </p:nvSpPr>
          <p:spPr>
            <a:xfrm>
              <a:off x="914400" y="2914650"/>
              <a:ext cx="457200" cy="457200"/>
            </a:xfrm>
            <a:prstGeom prst="ellipse">
              <a:avLst/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3826" y="30884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58302" y="2951321"/>
              <a:ext cx="43411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第三幕 —— 麦当劳 / 伊利同题答卷</a:t>
              </a:r>
              <a:r>
                <a:rPr lang="zh-CN" sz="900" b="1" dirty="0">
                  <a:solidFill>
                    <a:srgbClr val="C8862E"/>
                  </a:solidFill>
                  <a:latin typeface="Arial"/>
                  <a:ea typeface="Microsoft YaHei"/>
                  <a:cs typeface="Arial"/>
                </a:rPr>
                <a:t>· 本场主角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4018" y="3247549"/>
              <a:ext cx="1542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主讲 · 麦当劳背景顾问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906000" y="29718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C8862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65553" y="3077528"/>
              <a:ext cx="614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12 – 20′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3450" y="3657600"/>
            <a:ext cx="10306050" cy="511969"/>
            <a:chOff x="933450" y="3657600"/>
            <a:chExt cx="10306050" cy="511969"/>
          </a:xfrm>
        </p:grpSpPr>
        <p:sp>
          <p:nvSpPr>
            <p:cNvPr id="34" name="Ellipse 34"/>
            <p:cNvSpPr/>
            <p:nvPr/>
          </p:nvSpPr>
          <p:spPr>
            <a:xfrm>
              <a:off x="933450" y="36576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A3A5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3826" y="38123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58302" y="3675221"/>
              <a:ext cx="37183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第四幕 —— 凯捷打法 + 系统解耦路线图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64018" y="3971449"/>
              <a:ext cx="2312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主讲 · 资深顾问 + 麦当劳背景顾问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906000" y="36957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1A3A5C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45426" y="3801428"/>
              <a:ext cx="6546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20 – 28′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" y="4381500"/>
            <a:ext cx="10306050" cy="511969"/>
            <a:chOff x="933450" y="4381500"/>
            <a:chExt cx="10306050" cy="511969"/>
          </a:xfrm>
        </p:grpSpPr>
        <p:sp>
          <p:nvSpPr>
            <p:cNvPr id="41" name="Ellipse 41"/>
            <p:cNvSpPr/>
            <p:nvPr/>
          </p:nvSpPr>
          <p:spPr>
            <a:xfrm>
              <a:off x="933450" y="43815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A3A5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3826" y="45362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58302" y="4399121"/>
              <a:ext cx="215591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第五幕 —— 下一步承诺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64018" y="4695349"/>
              <a:ext cx="944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主讲 · 负责人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06000" y="44196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1A3A5C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65553" y="4525328"/>
              <a:ext cx="614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28 – 31′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33450" y="5105400"/>
            <a:ext cx="10306050" cy="511969"/>
            <a:chOff x="933450" y="5105400"/>
            <a:chExt cx="10306050" cy="511969"/>
          </a:xfrm>
        </p:grpSpPr>
        <p:sp>
          <p:nvSpPr>
            <p:cNvPr id="48" name="Ellipse 48"/>
            <p:cNvSpPr/>
            <p:nvPr/>
          </p:nvSpPr>
          <p:spPr>
            <a:xfrm>
              <a:off x="933450" y="51054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E6B4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33826" y="52601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58302" y="5123021"/>
              <a:ext cx="4404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831"/>
                  </a:solidFill>
                  <a:latin typeface="Arial"/>
                  <a:ea typeface="Microsoft YaHei"/>
                  <a:cs typeface="Arial"/>
                </a:rPr>
                <a:t>Q&amp;A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664018" y="5419249"/>
              <a:ext cx="794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主讲 · 全员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906000" y="51435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1E6B4F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65553" y="5249228"/>
              <a:ext cx="614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B4F"/>
                  </a:solidFill>
                  <a:latin typeface="Arial"/>
                  <a:ea typeface="Microsoft YaHei"/>
                  <a:cs typeface="Arial"/>
                </a:rPr>
                <a:t>31 – 35′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5772150"/>
            <a:ext cx="10972800" cy="457200"/>
            <a:chOff x="609600" y="5772150"/>
            <a:chExt cx="10972800" cy="457200"/>
          </a:xfrm>
        </p:grpSpPr>
        <p:sp>
          <p:nvSpPr>
            <p:cNvPr id="55" name="Rectangle 55"/>
            <p:cNvSpPr/>
            <p:nvPr/>
          </p:nvSpPr>
          <p:spPr>
            <a:xfrm>
              <a:off x="609600" y="5772150"/>
              <a:ext cx="10972800" cy="457200"/>
            </a:xfrm>
            <a:prstGeom prst="roundRect">
              <a:avLst>
                <a:gd name="adj" fmla="val 12500"/>
              </a:avLst>
            </a:prstGeom>
            <a:solidFill>
              <a:srgbClr val="B0392E">
                <a:alpha val="10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19150" y="58864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28588" y="228600"/>
                  </a:moveTo>
                  <a:lnTo>
                    <a:pt x="100012" y="228600"/>
                  </a:lnTo>
                  <a:lnTo>
                    <a:pt x="0" y="128588"/>
                  </a:lnTo>
                  <a:lnTo>
                    <a:pt x="0" y="100012"/>
                  </a:lnTo>
                  <a:lnTo>
                    <a:pt x="100012" y="0"/>
                  </a:lnTo>
                  <a:lnTo>
                    <a:pt x="128588" y="0"/>
                  </a:lnTo>
                  <a:lnTo>
                    <a:pt x="228600" y="100012"/>
                  </a:lnTo>
                  <a:lnTo>
                    <a:pt x="228600" y="128588"/>
                  </a:lnTo>
                  <a:lnTo>
                    <a:pt x="128588" y="228600"/>
                  </a:lnTo>
                  <a:close/>
                  <a:moveTo>
                    <a:pt x="100012" y="42862"/>
                  </a:moveTo>
                  <a:lnTo>
                    <a:pt x="100012" y="128588"/>
                  </a:lnTo>
                  <a:lnTo>
                    <a:pt x="128588" y="128588"/>
                  </a:lnTo>
                  <a:lnTo>
                    <a:pt x="128588" y="42862"/>
                  </a:lnTo>
                  <a:lnTo>
                    <a:pt x="100012" y="42862"/>
                  </a:lnTo>
                  <a:close/>
                  <a:moveTo>
                    <a:pt x="100012" y="157162"/>
                  </a:moveTo>
                  <a:lnTo>
                    <a:pt x="100012" y="185738"/>
                  </a:lnTo>
                  <a:lnTo>
                    <a:pt x="128588" y="185738"/>
                  </a:lnTo>
                  <a:lnTo>
                    <a:pt x="128588" y="157162"/>
                  </a:lnTo>
                  <a:lnTo>
                    <a:pt x="100012" y="157162"/>
                  </a:lnTo>
                  <a:close/>
                </a:path>
              </a:pathLst>
            </a:custGeom>
            <a:solidFill>
              <a:srgbClr val="B0392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48715" y="5935028"/>
              <a:ext cx="69666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92E"/>
                  </a:solidFill>
                  <a:latin typeface="Arial"/>
                  <a:ea typeface="Microsoft YaHei"/>
                  <a:cs typeface="Arial"/>
                </a:rPr>
                <a:t>提醒:采购部门本轮不参与;首轮聚焦背景与案例、建立信任。第三幕务必由麦当劳背景顾问主讲。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9122" y="6521291"/>
            <a:ext cx="10993755" cy="167640"/>
            <a:chOff x="599122" y="6521291"/>
            <a:chExt cx="10993755" cy="167640"/>
          </a:xfrm>
        </p:grpSpPr>
        <p:sp>
          <p:nvSpPr>
            <p:cNvPr id="59" name="TextBox 59"/>
            <p:cNvSpPr txBox="1"/>
            <p:nvPr/>
          </p:nvSpPr>
          <p:spPr>
            <a:xfrm>
              <a:off x="599122" y="65212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星巴克中国 ERP 本地化拆分项目 · 凯捷 Capgemini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70617" y="6521291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AEB6"/>
                  </a:solidFill>
                  <a:latin typeface="Arial"/>
                  <a:ea typeface="Microsoft YaHei"/>
                  <a:cs typeface="Arial"/>
                </a:rPr>
                <a:t>CONFIDENTIAL · 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33" grpId="0"/>
      <p:bldP spid="40" grpId="0"/>
      <p:bldP spid="47" grpId="0"/>
      <p:bldP spid="54" grpId="0"/>
      <p:bldP spid="5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