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46304" cy="155448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星巴克中国 ERP 本地化拆分项目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9D6E3"/>
                </a:solidFill>
                <a:latin typeface="Microsoft YaHei"/>
                <a:ea typeface="Microsoft YaHei"/>
              </a:rPr>
              <a:t>不是换一套软件,是在高速行驶中换一台能独立行军的引擎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C88A2E"/>
                </a:solidFill>
                <a:latin typeface="Microsoft YaHei"/>
                <a:ea typeface="Microsoft YaHei"/>
              </a:rPr>
              <a:t>5月18日 · 上海 · 首轮拜访汇报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93776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9FB0C2"/>
                </a:solidFill>
                <a:latin typeface="Microsoft YaHei"/>
                <a:ea typeface="Microsoft YaHei"/>
              </a:rPr>
              <a:t>汉得们比的是「配软件」 —— 凯捷比的是「在万店餐饮零售里,真正做过这台引擎拆分的人」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E8095"/>
                </a:solidFill>
                <a:latin typeface="Microsoft YaHei"/>
                <a:ea typeface="Microsoft YaHei"/>
              </a:rPr>
              <a:t>凯捷 Capgemini  |  内部汇报材料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今天怎么讲 —— 一条故事线,五幕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不谈商务,只回答一个问题:为什么这件事该交给凯捷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18872" cy="1051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481328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C88A2E"/>
                </a:solidFill>
                <a:latin typeface="Microsoft YaHei"/>
                <a:ea typeface="Microsoft YaHei"/>
              </a:rPr>
              <a:t>核心主张   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星巴克要的不是「换软件」,是博裕入主后,给中国区换上一台能独立行军的引擎。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C9D6E3"/>
                </a:solidFill>
                <a:latin typeface="Microsoft YaHei"/>
                <a:ea typeface="Microsoft YaHei"/>
              </a:rPr>
              <a:t>竞争维度从「谁会配 SAP / Oracle」,切换到「谁真正做过万店餐饮零售的 ERP 分拆」。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2121408" cy="24688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2121408" cy="566928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212140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第一幕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02152"/>
            <a:ext cx="19019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222833"/>
                </a:solidFill>
                <a:latin typeface="Microsoft YaHei"/>
                <a:ea typeface="Microsoft YaHei"/>
              </a:rPr>
              <a:t>读懂处境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1847088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我们带着对你架构的判断来,不是来听需求的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703320"/>
            <a:ext cx="21031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C88A2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788920"/>
            <a:ext cx="2121408" cy="24688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88920" y="2788920"/>
            <a:ext cx="212140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788920"/>
            <a:ext cx="212140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第二幕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3502152"/>
            <a:ext cx="19019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222833"/>
                </a:solidFill>
                <a:latin typeface="Microsoft YaHei"/>
                <a:ea typeface="Microsoft YaHei"/>
              </a:rPr>
              <a:t>点破真难点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023360"/>
            <a:ext cx="1847088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这是一个「分拆」项目,不是「实施」项目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703320"/>
            <a:ext cx="21031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C88A2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788920"/>
            <a:ext cx="2121408" cy="24688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2788920"/>
            <a:ext cx="2121408" cy="566928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788920"/>
            <a:ext cx="212140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第三幕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3502152"/>
            <a:ext cx="19019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222833"/>
                </a:solidFill>
                <a:latin typeface="Microsoft YaHei"/>
                <a:ea typeface="Microsoft YaHei"/>
              </a:rPr>
              <a:t>我们做过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023360"/>
            <a:ext cx="1847088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麦当劳 / 伊利 —— 同一道题的答卷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703320"/>
            <a:ext cx="21031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C88A2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2788920"/>
            <a:ext cx="2121408" cy="24688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80" y="2788920"/>
            <a:ext cx="2121408" cy="56692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212140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第四幕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3502152"/>
            <a:ext cx="19019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222833"/>
                </a:solidFill>
                <a:latin typeface="Microsoft YaHei"/>
                <a:ea typeface="Microsoft YaHei"/>
              </a:rPr>
              <a:t>怎么控风险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023360"/>
            <a:ext cx="1847088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分阶段解耦 + 系统解耦路线图 + 过渡层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703320"/>
            <a:ext cx="21031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C88A2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788920"/>
            <a:ext cx="2121408" cy="24688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09760" y="2788920"/>
            <a:ext cx="2121408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2788920"/>
            <a:ext cx="212140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第五幕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3502152"/>
            <a:ext cx="19019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222833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4023360"/>
            <a:ext cx="1847088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一个具体、低成本、2 周可交付的承诺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汇报节奏:开场定调 2′ → 一/二幕 10′ → 三幕(麦当劳案例,本场主角)8′ → 四幕 8′ → 五幕 3′ →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第一幕 · 读懂处境 —— 这件事到底难在哪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用星巴克自己的事实证明:我们做过功课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2833"/>
                </a:solidFill>
                <a:latin typeface="Microsoft YaHei"/>
                <a:ea typeface="Microsoft YaHei"/>
              </a:rPr>
              <a:t>难点不是选型,是「高速换引擎」 —— 2026/4/1 交割,业务一天不能停。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246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62A4A"/>
                </a:solidFill>
                <a:latin typeface="Microsoft YaHei"/>
                <a:ea typeface="Microsoft YaHei"/>
              </a:rPr>
              <a:t>三个结构性约束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532888"/>
            <a:ext cx="82296" cy="82296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468880"/>
            <a:ext cx="6108192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共用一个 Instance  </a:t>
            </a: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EBS 与北美共用同一 Instance —— 拆的是一对「连体」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154680"/>
            <a:ext cx="82296" cy="82296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090672"/>
            <a:ext cx="6108192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美方不给代码  </a:t>
            </a: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仅提供 EBS 端口技术文档,不给克隆、不给源码 —— 不能 lift-and-shift,要重建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712464"/>
            <a:ext cx="6108192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接口靠文档反推  </a:t>
            </a: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11 Inbound / 22 Outbound 逻辑只能靠 RFI 文档还原 —— 文档质量 = 项目最大单点风险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398264"/>
            <a:ext cx="82296" cy="82296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334256"/>
            <a:ext cx="6108192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数据合规缺口  </a:t>
            </a: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现有系统仅覆盖至 2013 年,审计要求保留期需与财务核实口径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4142232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196596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6B4F"/>
                </a:solidFill>
                <a:latin typeface="Microsoft YaHei"/>
                <a:ea typeface="Microsoft YaHei"/>
              </a:rPr>
              <a:t>我们也读懂了「边界」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395728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本次切割范围内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69748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ERP(EBS 核心)· Hyperion · Anaplan · 主数据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29184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B03A2E"/>
                </a:solidFill>
                <a:latin typeface="Microsoft YaHei"/>
                <a:ea typeface="Microsoft YaHei"/>
              </a:rPr>
              <a:t>明确不碰(范围外)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593592"/>
            <a:ext cx="3657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租赁系统 · BOH(2028 另行更换)· Rainbow 销售预测算法(Control Tower 维护)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43484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1E6B4F"/>
                </a:solidFill>
                <a:latin typeface="Microsoft YaHei"/>
                <a:ea typeface="Microsoft YaHei"/>
              </a:rPr>
              <a:t>主动讲清边界 = 懂分寸、不贪大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03520"/>
            <a:ext cx="11091672" cy="64008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03520"/>
            <a:ext cx="1109167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「我们不是来听需求的,是带着对你架构的判断来的。」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第二幕 · 点破真难点 —— 这是「分拆」项目,不是「实施」项目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把竞争维度从「谁会配软件」换到「谁懂 Carve-out」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2833"/>
                </a:solidFill>
                <a:latin typeface="Microsoft YaHei"/>
                <a:ea typeface="Microsoft YaHei"/>
              </a:rPr>
              <a:t>Oracle EBS 在星巴克中国是「三位一体」 —— 拆 ERP = 拆整张蜘蛛网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5661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3566160" cy="502920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35661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财务核心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78608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GL / AP / AR / FA / PA / CE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法定账套与核算逻辑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35661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566160" cy="50292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920240"/>
            <a:ext cx="35661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集成枢纽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78608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11 Inbound + 22 Outbound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前后端系统全靠它串联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920240"/>
            <a:ext cx="35661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920240"/>
            <a:ext cx="3566160" cy="502920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920240"/>
            <a:ext cx="35661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主数据中心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578608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Oracle HUB 分发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Item / Supplier / Store / COA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105156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</a:rPr>
              <a:t>真正的能力门槛是「解耦」</a:t>
            </a:r>
            <a:r>
              <a:rPr sz="1350" b="0">
                <a:solidFill>
                  <a:srgbClr val="5B636E"/>
                </a:solidFill>
                <a:latin typeface="Microsoft YaHei"/>
                <a:ea typeface="Microsoft YaHei"/>
              </a:rPr>
              <a:t>  —— 不是会不会配 SAP / Oracle,而是能不能把「连体」干净地拆开、还让业务不停。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74920"/>
            <a:ext cx="11091672" cy="77724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109167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「会配软件的供应商很多;做过这种规模分拆的,没几家。」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第三幕 · 我们做过 —— 麦当劳 / 伊利的同题答卷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讲法:不是讲历史,是讲「星巴克现在的风险 = 当年的题,我们这样解的」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4572000" cy="71323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1417320"/>
            <a:ext cx="6519672" cy="713232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45720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星巴克现在的风险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417320"/>
            <a:ext cx="65196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凯捷做过的同题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30552"/>
            <a:ext cx="4572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130552"/>
            <a:ext cx="6519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130552"/>
            <a:ext cx="42976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EBS 与北美共用一个 Instance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2130552"/>
            <a:ext cx="619048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麦当劳中国从 Global 分拆 —— 共用 Instance 的拆分实操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43784"/>
            <a:ext cx="4572000" cy="713232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843784"/>
            <a:ext cx="6519672" cy="713232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843784"/>
            <a:ext cx="42976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美方只给文档、不给代码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843784"/>
            <a:ext cx="619048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总部只给接口文档不给源码,凯捷完成本地重建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57016"/>
            <a:ext cx="4572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3557016"/>
            <a:ext cx="6519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57016"/>
            <a:ext cx="42976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前端门店业务切换期不能停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3557016"/>
            <a:ext cx="619048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POS / BOH 在后端 ERP 切换期间「无感」过渡的过渡层设计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70248"/>
            <a:ext cx="4572000" cy="713232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0" y="4270248"/>
            <a:ext cx="6519672" cy="713232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270248"/>
            <a:ext cx="42976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万店规模、海量交易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270248"/>
            <a:ext cx="619048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伊利等大型企业本地架构落地;凯捷中国区 1000+ 人财务服务团队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83480"/>
            <a:ext cx="4572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0" y="4983480"/>
            <a:ext cx="6519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983480"/>
            <a:ext cx="42976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财务报表 / 预算割裂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4983480"/>
            <a:ext cx="619048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财务中台、合并报表、全面预算、票税、银企直连全链路能力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C88A2E"/>
                </a:solidFill>
                <a:latin typeface="Microsoft YaHei"/>
                <a:ea typeface="Microsoft YaHei"/>
              </a:rPr>
              <a:t>本页由具备麦当劳分拆背景的顾问主讲 —— 全场可信度的支点。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第四幕 · 怎么控风险 —— 凯捷的打法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给方法论,但落到具体、可追问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8872" cy="71323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" y="1463040"/>
            <a:ext cx="10972800" cy="71323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24688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0707A"/>
                </a:solidFill>
                <a:latin typeface="Microsoft YaHei"/>
                <a:ea typeface="Microsoft YaHei"/>
              </a:rPr>
              <a:t>1  分阶段解耦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804672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不一次性切换。并行 → 过渡 → 脱钩,正好对上「两年内继续用 Global」的节奏。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04288"/>
            <a:ext cx="118872" cy="713232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2304288"/>
            <a:ext cx="10972800" cy="71323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04288"/>
            <a:ext cx="24688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</a:rPr>
              <a:t>2  系统解耦路线图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304288"/>
            <a:ext cx="804672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区分「物理拆分」与「逻辑迁移」—— 汉得给不出的硬通货。详见下一节。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45536"/>
            <a:ext cx="118872" cy="713232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3145536"/>
            <a:ext cx="10972800" cy="71323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45536"/>
            <a:ext cx="24688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E6B4F"/>
                </a:solidFill>
                <a:latin typeface="Microsoft YaHei"/>
                <a:ea typeface="Microsoft YaHei"/>
              </a:rPr>
              <a:t>3  过渡层设计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145536"/>
            <a:ext cx="804672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接口与主数据缓冲层,前端门店业务无感,业务连续性优先。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86784"/>
            <a:ext cx="118872" cy="71323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" y="3986784"/>
            <a:ext cx="10972800" cy="71323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86784"/>
            <a:ext cx="24688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88A2E"/>
                </a:solidFill>
                <a:latin typeface="Microsoft YaHei"/>
                <a:ea typeface="Microsoft YaHei"/>
              </a:rPr>
              <a:t>4  财务侧做减法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986784"/>
            <a:ext cx="804672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Hyperion + Anaplan 走统一平台、统一界面,呼应「消除割裂、避免厂商锁定」。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28032"/>
            <a:ext cx="118872" cy="71323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" y="4828032"/>
            <a:ext cx="10972800" cy="71323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28032"/>
            <a:ext cx="24688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B03A2E"/>
                </a:solidFill>
                <a:latin typeface="Microsoft YaHei"/>
                <a:ea typeface="Microsoft YaHei"/>
              </a:rPr>
              <a:t>5  跨文化协调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828032"/>
            <a:ext cx="804672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凯捷 Global 网络推动美方数据移交谈判,降低本地团队直接交涉风险。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715000"/>
            <a:ext cx="11091672" cy="713232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110916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C9D6E3"/>
                </a:solidFill>
                <a:latin typeface="Microsoft YaHei"/>
                <a:ea typeface="Microsoft YaHei"/>
              </a:rPr>
              <a:t>选型不表态:Oracle / SAP 双技术栈都有 ——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「我们帮你把选型决策做对,而不是替某个厂商站台。」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系统解耦路线图 · 总览 —— 三阶段、两条处理路径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本次拜访唯一一张「硬通货」图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611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3611880" cy="457200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阶段一 · 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47672"/>
            <a:ext cx="3392424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0707A"/>
                </a:solidFill>
                <a:latin typeface="Microsoft YaHei"/>
                <a:ea typeface="Microsoft YaHei"/>
              </a:rPr>
              <a:t>交割前 ~ 2026/4/1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58568"/>
            <a:ext cx="33375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建中国区独立 Instance,与 Global 并行;主数据 HUB 本地化;搭过渡层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3944" y="1965960"/>
            <a:ext cx="23774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C88A2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1417320"/>
            <a:ext cx="3611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C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6" y="1417320"/>
            <a:ext cx="3611880" cy="4572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141732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阶段二 · 过渡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1947672"/>
            <a:ext cx="3392424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C88A2E"/>
                </a:solidFill>
                <a:latin typeface="Microsoft YaHei"/>
                <a:ea typeface="Microsoft YaHei"/>
              </a:rPr>
              <a:t>2026/4/1 ~ +24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258568"/>
            <a:ext cx="33375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双轨运行,Global 仍在用;接口逐批从「指向北美」切到「指向本地」;数据移交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965960"/>
            <a:ext cx="23774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C88A2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2" y="1417320"/>
            <a:ext cx="3611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2" y="1417320"/>
            <a:ext cx="3611880" cy="457200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2" y="141732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阶段三 · 脱钩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47672"/>
            <a:ext cx="3392424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1E6B4F"/>
                </a:solidFill>
                <a:latin typeface="Microsoft YaHei"/>
                <a:ea typeface="Microsoft YaHei"/>
              </a:rPr>
              <a:t>~2028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258568"/>
            <a:ext cx="33375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完全脱离 Global;BOH 等剩余系统按计划更换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2833"/>
                </a:solidFill>
                <a:latin typeface="Microsoft YaHei"/>
                <a:ea typeface="Microsoft YaHei"/>
              </a:rPr>
              <a:t>每个系统只走两条路径之一 —— 先分类,再排期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548640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路径 A · 物理拆分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34840"/>
            <a:ext cx="50292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必须真拆 —— 重建中国区独立实例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与北美共用 Instance / 承载法定账套或主数据源头 / 切割后失去美方支持的系统。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B03A2E"/>
                </a:solidFill>
                <a:latin typeface="Microsoft YaHei"/>
                <a:ea typeface="Microsoft YaHei"/>
              </a:rPr>
              <a:t>成本高、周期长,是项目的关键路径。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3840480"/>
            <a:ext cx="548640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3840480"/>
            <a:ext cx="5486400" cy="457200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3912" y="3840480"/>
            <a:ext cx="5486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路径 B · 逻辑迁移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434840"/>
            <a:ext cx="50292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只换归属与连接 —— 业务逻辑不动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6E"/>
                </a:solidFill>
                <a:latin typeface="Microsoft YaHei"/>
                <a:ea typeface="Microsoft YaHei"/>
              </a:rPr>
              <a:t>通过接口重指向即可解决的周边系统,本体不需重建。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0707A"/>
                </a:solidFill>
                <a:latin typeface="Microsoft YaHei"/>
                <a:ea typeface="Microsoft YaHei"/>
              </a:rPr>
              <a:t>成本低、可分批,用过渡层兜底。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C88A2E"/>
                </a:solidFill>
                <a:latin typeface="Microsoft YaHei"/>
                <a:ea typeface="Microsoft YaHei"/>
              </a:rPr>
              <a:t>收敛判断:33 个接口不是 33 个项目 —— 分类后真正高风险的物理拆分项,可能不到 1/3。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系统解耦路线图 · 判断标准 —— 「物理拆 or 逻辑迁」的四问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任意一问为「是」→ 物理拆分;四问全为「否」→ 逻辑迁移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011680" cy="96012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011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Q1  连体性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463040"/>
            <a:ext cx="4937760" cy="960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463040"/>
            <a:ext cx="45720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是否与北美共用同一 Instance / 共享数据库?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463040"/>
            <a:ext cx="4050791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463040"/>
            <a:ext cx="36576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是 → 物理拆分:无法靠接口切断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60320"/>
            <a:ext cx="2011680" cy="96012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2011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Q2  账套源头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560320"/>
            <a:ext cx="4937760" cy="960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560320"/>
            <a:ext cx="45720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是否承载法定财务账套,或是主数据的源头系统?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560320"/>
            <a:ext cx="4050791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560320"/>
            <a:ext cx="36576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是 → 物理拆分:必须落到中国区独立实例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57600"/>
            <a:ext cx="2011680" cy="96012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2011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Q3  支持中断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657600"/>
            <a:ext cx="4937760" cy="960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657600"/>
            <a:ext cx="45720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切割后美方是否不再提供运维 / 升级支持?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3657600"/>
            <a:ext cx="4050791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3657600"/>
            <a:ext cx="36576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是 → 物理拆分:不能依赖一个失去支持的系统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54880"/>
            <a:ext cx="2011680" cy="96012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2011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Q4  接口可解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54880"/>
            <a:ext cx="4937760" cy="960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4754880"/>
            <a:ext cx="45720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是否无法仅靠「接口重指向」解决归属问题?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4754880"/>
            <a:ext cx="4050791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4754880"/>
            <a:ext cx="36576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是 → 物理拆分;否 → 逻辑迁移即可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这套标准让分类「可解释、可追问」—— 拜访现场被问到任何一个系统,都能当场给出归类逻辑。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04C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系统解耦路线图 · 系统分类清单(初判,待 RFI 文档校准)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基于现有架构图的初步归类 —— 拿到 RFI 后出精确版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611880" cy="4114800"/>
          </a:xfrm>
          <a:prstGeom prst="rect">
            <a:avLst/>
          </a:prstGeom>
          <a:solidFill>
            <a:srgbClr val="FFFFFF"/>
          </a:solidFill>
          <a:ln w="222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路径 A · 物理拆分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130552"/>
            <a:ext cx="73152" cy="73152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07568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Oracle EBS 财务核心(GL/AP/AR/FA/PA/CE)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2788920"/>
            <a:ext cx="73152" cy="73152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734056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Oracle HUB(主数据分发:Item/Supplier/Store/COA)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447288"/>
            <a:ext cx="73152" cy="73152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392424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Hyperion(报表合并,建本地独立 Instance)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4105656"/>
            <a:ext cx="73152" cy="73152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050792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Anaplan(全面预算,本地化承接)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4764024"/>
            <a:ext cx="73152" cy="73152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709160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Oracle MFG / OPM / QA(烘焙制造)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1417320"/>
            <a:ext cx="3611880" cy="41148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6" y="1417320"/>
            <a:ext cx="3611880" cy="502920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1417320"/>
            <a:ext cx="361188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路径 B · 逻辑迁移</a:t>
            </a:r>
          </a:p>
        </p:txBody>
      </p:sp>
      <p:sp>
        <p:nvSpPr>
          <p:cNvPr id="26" name="Oval 25"/>
          <p:cNvSpPr/>
          <p:nvPr/>
        </p:nvSpPr>
        <p:spPr>
          <a:xfrm>
            <a:off x="4453128" y="2130552"/>
            <a:ext cx="73152" cy="73152"/>
          </a:xfrm>
          <a:prstGeom prst="ellipse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07568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S2P(供应商准入 / 合同 / 订单 / 付款)</a:t>
            </a:r>
          </a:p>
        </p:txBody>
      </p:sp>
      <p:sp>
        <p:nvSpPr>
          <p:cNvPr id="28" name="Oval 27"/>
          <p:cNvSpPr/>
          <p:nvPr/>
        </p:nvSpPr>
        <p:spPr>
          <a:xfrm>
            <a:off x="4453128" y="2788920"/>
            <a:ext cx="73152" cy="73152"/>
          </a:xfrm>
          <a:prstGeom prst="ellipse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734056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3PL WMS(收货 GR / 拣货 Pick Release)</a:t>
            </a:r>
          </a:p>
        </p:txBody>
      </p:sp>
      <p:sp>
        <p:nvSpPr>
          <p:cNvPr id="30" name="Oval 29"/>
          <p:cNvSpPr/>
          <p:nvPr/>
        </p:nvSpPr>
        <p:spPr>
          <a:xfrm>
            <a:off x="4453128" y="3447288"/>
            <a:ext cx="73152" cy="73152"/>
          </a:xfrm>
          <a:prstGeom prst="ellipse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392424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NGBOH(门店进销存)· Control Tower</a:t>
            </a:r>
          </a:p>
        </p:txBody>
      </p:sp>
      <p:sp>
        <p:nvSpPr>
          <p:cNvPr id="32" name="Oval 31"/>
          <p:cNvSpPr/>
          <p:nvPr/>
        </p:nvSpPr>
        <p:spPr>
          <a:xfrm>
            <a:off x="4453128" y="4105656"/>
            <a:ext cx="73152" cy="73152"/>
          </a:xfrm>
          <a:prstGeom prst="ellipse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50792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NGT&amp;E(报销)· SUN(电商)· SIMS(门店管理)</a:t>
            </a:r>
          </a:p>
        </p:txBody>
      </p:sp>
      <p:sp>
        <p:nvSpPr>
          <p:cNvPr id="34" name="Oval 33"/>
          <p:cNvSpPr/>
          <p:nvPr/>
        </p:nvSpPr>
        <p:spPr>
          <a:xfrm>
            <a:off x="4453128" y="4764024"/>
            <a:ext cx="73152" cy="73152"/>
          </a:xfrm>
          <a:prstGeom prst="ellipse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709160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BIP · CDP · TMS · BPM / NGBPM · Vertex</a:t>
            </a:r>
          </a:p>
        </p:txBody>
      </p:sp>
      <p:sp>
        <p:nvSpPr>
          <p:cNvPr id="36" name="Oval 35"/>
          <p:cNvSpPr/>
          <p:nvPr/>
        </p:nvSpPr>
        <p:spPr>
          <a:xfrm>
            <a:off x="4453128" y="5422392"/>
            <a:ext cx="73152" cy="73152"/>
          </a:xfrm>
          <a:prstGeom prst="ellipse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536752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Blackline(对账)· Citi Bank 银企接口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2" y="1417320"/>
            <a:ext cx="3611880" cy="4114800"/>
          </a:xfrm>
          <a:prstGeom prst="rect">
            <a:avLst/>
          </a:prstGeom>
          <a:solidFill>
            <a:srgbClr val="FFFFFF"/>
          </a:solidFill>
          <a:ln w="22225">
            <a:solidFill>
              <a:srgbClr val="5B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2" y="1417320"/>
            <a:ext cx="3611880" cy="502920"/>
          </a:xfrm>
          <a:prstGeom prst="rect">
            <a:avLst/>
          </a:prstGeom>
          <a:solidFill>
            <a:srgbClr val="5B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28432" y="1417320"/>
            <a:ext cx="361188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范围外 · 本次不动</a:t>
            </a:r>
          </a:p>
        </p:txBody>
      </p:sp>
      <p:sp>
        <p:nvSpPr>
          <p:cNvPr id="41" name="Oval 40"/>
          <p:cNvSpPr/>
          <p:nvPr/>
        </p:nvSpPr>
        <p:spPr>
          <a:xfrm>
            <a:off x="8193024" y="2130552"/>
            <a:ext cx="73152" cy="73152"/>
          </a:xfrm>
          <a:prstGeom prst="ellipse">
            <a:avLst/>
          </a:prstGeom>
          <a:solidFill>
            <a:srgbClr val="5B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7616" y="207568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租赁系统(本次不纳入切割)</a:t>
            </a:r>
          </a:p>
        </p:txBody>
      </p:sp>
      <p:sp>
        <p:nvSpPr>
          <p:cNvPr id="43" name="Oval 42"/>
          <p:cNvSpPr/>
          <p:nvPr/>
        </p:nvSpPr>
        <p:spPr>
          <a:xfrm>
            <a:off x="8193024" y="2788920"/>
            <a:ext cx="73152" cy="73152"/>
          </a:xfrm>
          <a:prstGeom prst="ellipse">
            <a:avLst/>
          </a:prstGeom>
          <a:solidFill>
            <a:srgbClr val="5B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57616" y="2734056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BOH 微软系统(2028 年另行更换)</a:t>
            </a:r>
          </a:p>
        </p:txBody>
      </p:sp>
      <p:sp>
        <p:nvSpPr>
          <p:cNvPr id="45" name="Oval 44"/>
          <p:cNvSpPr/>
          <p:nvPr/>
        </p:nvSpPr>
        <p:spPr>
          <a:xfrm>
            <a:off x="8193024" y="3447288"/>
            <a:ext cx="73152" cy="73152"/>
          </a:xfrm>
          <a:prstGeom prst="ellipse">
            <a:avLst/>
          </a:prstGeom>
          <a:solidFill>
            <a:srgbClr val="5B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7616" y="3392424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Rainbow 销售预测算法(Control Tower 维护)</a:t>
            </a:r>
          </a:p>
        </p:txBody>
      </p:sp>
      <p:sp>
        <p:nvSpPr>
          <p:cNvPr id="47" name="Oval 46"/>
          <p:cNvSpPr/>
          <p:nvPr/>
        </p:nvSpPr>
        <p:spPr>
          <a:xfrm>
            <a:off x="8193024" y="4105656"/>
            <a:ext cx="73152" cy="73152"/>
          </a:xfrm>
          <a:prstGeom prst="ellipse">
            <a:avLst/>
          </a:prstGeom>
          <a:solidFill>
            <a:srgbClr val="5B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4050792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Oracle Global 系统(交割后两年内继续使用)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B03A2E"/>
                </a:solidFill>
                <a:latin typeface="Microsoft YaHei"/>
                <a:ea typeface="Microsoft YaHei"/>
              </a:rPr>
              <a:t>注:</a:t>
            </a: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本表为基于架构图的初判,部分系统归类需 RFI 文档与现场确认 —— 这正是下一步「接口可拆解性评估」要交付的。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04D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过渡层设计 —— 让前端门店业务「无感」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业务连续性优先:在高速行驶中换引擎的关键缓冲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377440" cy="31089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62A4A"/>
                </a:solidFill>
                <a:latin typeface="Microsoft YaHei"/>
                <a:ea typeface="Microsoft YaHei"/>
              </a:rPr>
              <a:t>前端 / 门店侧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3172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22833"/>
                </a:solidFill>
                <a:latin typeface="Microsoft YaHei"/>
                <a:ea typeface="Microsoft YaHei"/>
              </a:rP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22833"/>
                </a:solidFill>
                <a:latin typeface="Microsoft YaHei"/>
                <a:ea typeface="Microsoft YaHei"/>
              </a:rPr>
              <a:t>NGBOH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3756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22833"/>
                </a:solidFill>
                <a:latin typeface="Microsoft YaHei"/>
                <a:ea typeface="Microsoft YaHei"/>
              </a:rPr>
              <a:t>3PL WMS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22833"/>
                </a:solidFill>
                <a:latin typeface="Microsoft YaHei"/>
                <a:ea typeface="Microsoft YaHei"/>
              </a:rPr>
              <a:t>天猫 / 电商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4340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22833"/>
                </a:solidFill>
                <a:latin typeface="Microsoft YaHei"/>
                <a:ea typeface="Microsoft YaHei"/>
              </a:rPr>
              <a:t>S2P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1828800"/>
            <a:ext cx="4572000" cy="31089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1965960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过渡层(缓冲 / 转换)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2423160"/>
            <a:ext cx="4114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42316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222833"/>
                </a:solidFill>
                <a:latin typeface="Microsoft YaHei"/>
                <a:ea typeface="Microsoft YaHei"/>
              </a:rPr>
              <a:t>接口缓冲  </a:t>
            </a:r>
            <a:r>
              <a:rPr sz="1050" b="0">
                <a:solidFill>
                  <a:srgbClr val="5B636E"/>
                </a:solidFill>
                <a:latin typeface="Microsoft YaHei"/>
                <a:ea typeface="Microsoft YaHei"/>
              </a:rPr>
              <a:t>前端按原协议收发,过渡层做格式与路由转换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3200400"/>
            <a:ext cx="4114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320040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222833"/>
                </a:solidFill>
                <a:latin typeface="Microsoft YaHei"/>
                <a:ea typeface="Microsoft YaHei"/>
              </a:rPr>
              <a:t>主数据双写  </a:t>
            </a:r>
            <a:r>
              <a:rPr sz="1050" b="0">
                <a:solidFill>
                  <a:srgbClr val="5B636E"/>
                </a:solidFill>
                <a:latin typeface="Microsoft YaHei"/>
                <a:ea typeface="Microsoft YaHei"/>
              </a:rPr>
              <a:t>新旧实例同步,HUB 切换期数据一致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3977640"/>
            <a:ext cx="4114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397764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222833"/>
                </a:solidFill>
                <a:latin typeface="Microsoft YaHei"/>
                <a:ea typeface="Microsoft YaHei"/>
              </a:rPr>
              <a:t>路由开关  </a:t>
            </a:r>
            <a:r>
              <a:rPr sz="1050" b="0">
                <a:solidFill>
                  <a:srgbClr val="5B636E"/>
                </a:solidFill>
                <a:latin typeface="Microsoft YaHei"/>
                <a:ea typeface="Microsoft YaHei"/>
              </a:rPr>
              <a:t>接口逐批「指向北美 → 指向本地」,可灰度可回滚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828800"/>
            <a:ext cx="2679192" cy="31089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1920240"/>
            <a:ext cx="267919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62A4A"/>
                </a:solidFill>
                <a:latin typeface="Microsoft YaHei"/>
                <a:ea typeface="Microsoft YaHei"/>
              </a:rPr>
              <a:t>后端 ERP 切换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37744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377440"/>
            <a:ext cx="22860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5B636E"/>
                </a:solidFill>
                <a:latin typeface="Microsoft YaHei"/>
                <a:ea typeface="Microsoft YaHei"/>
              </a:rPr>
              <a:t>旧:共用 Instance
(Oracle EBS)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52044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520440"/>
            <a:ext cx="22860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1E6B4F"/>
                </a:solidFill>
                <a:latin typeface="Microsoft YaHei"/>
                <a:ea typeface="Microsoft YaHei"/>
              </a:rPr>
              <a:t>新:中国区独立
Instance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200400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C88A2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200400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C88A2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1672" cy="77724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12080"/>
            <a:ext cx="1109167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价值:后端引擎可以「分批换」,前端门店一天都不用停 —— 这是麦当劳分拆验证过的打法。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第五幕 · 下一步 —— 一个具体、低成本的承诺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让会议有下文:不空谈,给一个 2 周可交付的钩子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091672" cy="1554480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DEE5D8"/>
                </a:solidFill>
                <a:latin typeface="Microsoft YaHei"/>
                <a:ea typeface="Microsoft YaHei"/>
              </a:rPr>
              <a:t>承诺动作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星巴克提供 RFI 文档后,凯捷 2 周内交付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0">
                <a:solidFill>
                  <a:srgbClr val="DDEEE6"/>
                </a:solidFill>
                <a:latin typeface="Microsoft YaHei"/>
                <a:ea typeface="Microsoft YaHei"/>
              </a:rPr>
              <a:t>《接口可拆解性评估 + 风险分级清单》—— 把 33 个接口按「物理拆 / 逻辑迁」分类,标出真正高风险的关键路径项。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</a:rPr>
              <a:t>后续配合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67328"/>
            <a:ext cx="82296" cy="82296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703320"/>
            <a:ext cx="103144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案例材料包  </a:t>
            </a: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整理 Oracle / SAP 餐饮零售实施实例 + 从 Global Instance 分拆的成功项目复盘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315968"/>
            <a:ext cx="82296" cy="82296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51960"/>
            <a:ext cx="103144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专家资源对接  </a:t>
            </a: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技术、数据、财务三维度专家按需参与后续会议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64608"/>
            <a:ext cx="82296" cy="82296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800600"/>
            <a:ext cx="103144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商务节奏  </a:t>
            </a: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今天不谈商务;采购流程按星巴克节奏推进,凯捷不催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106070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C88A2E"/>
                </a:solidFill>
                <a:latin typeface="Microsoft YaHei"/>
                <a:ea typeface="Microsoft YaHei"/>
              </a:rPr>
              <a:t>为什么这个承诺有效:</a:t>
            </a: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低成本、可验证、直击星巴克最大单点风险(接口靠文档反推)—— 一次就建立专业信任。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146304" cy="22860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987552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「汉得强在『配软件』,凯捷强在『懂分拆』。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0">
                <a:solidFill>
                  <a:srgbClr val="C9D6E3"/>
                </a:solidFill>
                <a:latin typeface="Microsoft YaHei"/>
                <a:ea typeface="Microsoft YaHei"/>
              </a:rPr>
              <a:t>万店规模的餐饮零售 ERP 切换,我在麦当劳验证过一条铁律 ——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600" b="1">
                <a:solidFill>
                  <a:srgbClr val="C88A2E"/>
                </a:solidFill>
                <a:latin typeface="Microsoft YaHei"/>
                <a:ea typeface="Microsoft YaHei"/>
              </a:rPr>
              <a:t>稳,永远比快值钱。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0">
                <a:solidFill>
                  <a:srgbClr val="C9D6E3"/>
                </a:solidFill>
                <a:latin typeface="Microsoft YaHei"/>
                <a:ea typeface="Microsoft YaHei"/>
              </a:rPr>
              <a:t>我们要交付给星巴克的,不是一套 SAP 或 Oracle,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是博裕入主后,星巴克中国能独立行军的技术底座。」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5577840"/>
            <a:ext cx="3657600" cy="31750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71500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FB0C2"/>
                </a:solidFill>
                <a:latin typeface="Microsoft YaHei"/>
                <a:ea typeface="Microsoft YaHei"/>
              </a:rPr>
              <a:t>凯捷 Capgemini  ·  星巴克中国 ERP 本地化拆分项目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2A4A"/>
                </a:solidFill>
                <a:latin typeface="Microsoft YaHei"/>
                <a:ea typeface="Microsoft YaHei"/>
              </a:rPr>
              <a:t>汇报节奏与现场分工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412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36E"/>
                </a:solidFill>
                <a:latin typeface="Microsoft YaHei"/>
                <a:ea typeface="Microsoft YaHei"/>
              </a:rPr>
              <a:t>35 分钟首轮轻量面谈 · 听众:IT 负责人 / PS 团队 / 财务关键用户 / 上级主管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A8AEB6"/>
                </a:solidFill>
                <a:latin typeface="Microsoft YaHei"/>
                <a:ea typeface="Microsoft YaHei"/>
              </a:rPr>
              <a:t>星巴克中国 ERP 本地化拆分项目  |  凯捷  |  5月18日拜访汇报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828800" cy="65836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时段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463040"/>
            <a:ext cx="6400800" cy="65836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463040"/>
            <a:ext cx="64008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463040"/>
            <a:ext cx="2862072" cy="658368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463040"/>
            <a:ext cx="286207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主讲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21408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21408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707A"/>
                </a:solidFill>
                <a:latin typeface="Microsoft YaHei"/>
                <a:ea typeface="Microsoft YaHei"/>
              </a:rPr>
              <a:t>0 – 2′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121408"/>
            <a:ext cx="6400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121408"/>
            <a:ext cx="6126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开场定调:抛出核心主张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121408"/>
            <a:ext cx="28620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121408"/>
            <a:ext cx="25877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22833"/>
                </a:solidFill>
                <a:latin typeface="Microsoft YaHei"/>
                <a:ea typeface="Microsoft YaHei"/>
              </a:rPr>
              <a:t>负责人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79776"/>
            <a:ext cx="1828800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79776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707A"/>
                </a:solidFill>
                <a:latin typeface="Microsoft YaHei"/>
                <a:ea typeface="Microsoft YaHei"/>
              </a:rPr>
              <a:t>2 – 12′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779776"/>
            <a:ext cx="6400800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779776"/>
            <a:ext cx="6126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第一、二幕 —— 读懂处境 + 点破真难点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2779776"/>
            <a:ext cx="2862072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779776"/>
            <a:ext cx="25877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22833"/>
                </a:solidFill>
                <a:latin typeface="Microsoft YaHei"/>
                <a:ea typeface="Microsoft YaHei"/>
              </a:rPr>
              <a:t>资深顾问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38144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38144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707A"/>
                </a:solidFill>
                <a:latin typeface="Microsoft YaHei"/>
                <a:ea typeface="Microsoft YaHei"/>
              </a:rPr>
              <a:t>12 – 20′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438144"/>
            <a:ext cx="6400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3438144"/>
            <a:ext cx="6126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第三幕 —— 麦当劳 / 伊利同题答卷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3438144"/>
            <a:ext cx="28620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3438144"/>
            <a:ext cx="25877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22833"/>
                </a:solidFill>
                <a:latin typeface="Microsoft YaHei"/>
                <a:ea typeface="Microsoft YaHei"/>
              </a:rPr>
              <a:t>麦当劳背景顾问(本场主角)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96512"/>
            <a:ext cx="1828800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096512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707A"/>
                </a:solidFill>
                <a:latin typeface="Microsoft YaHei"/>
                <a:ea typeface="Microsoft YaHei"/>
              </a:rPr>
              <a:t>20 – 28′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4096512"/>
            <a:ext cx="6400800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4096512"/>
            <a:ext cx="6126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第四幕 —— 凯捷打法 + 系统解耦路线图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4096512"/>
            <a:ext cx="2862072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4096512"/>
            <a:ext cx="25877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22833"/>
                </a:solidFill>
                <a:latin typeface="Microsoft YaHei"/>
                <a:ea typeface="Microsoft YaHei"/>
              </a:rPr>
              <a:t>资深顾问 + 麦当劳背景顾问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54880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54880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707A"/>
                </a:solidFill>
                <a:latin typeface="Microsoft YaHei"/>
                <a:ea typeface="Microsoft YaHei"/>
              </a:rPr>
              <a:t>28 – 31′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4754880"/>
            <a:ext cx="6400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0" y="4754880"/>
            <a:ext cx="6126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第五幕 —— 下一步承诺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754880"/>
            <a:ext cx="28620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4754880"/>
            <a:ext cx="25877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22833"/>
                </a:solidFill>
                <a:latin typeface="Microsoft YaHei"/>
                <a:ea typeface="Microsoft YaHei"/>
              </a:rPr>
              <a:t>负责人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413248"/>
            <a:ext cx="1828800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413248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707A"/>
                </a:solidFill>
                <a:latin typeface="Microsoft YaHei"/>
                <a:ea typeface="Microsoft YaHei"/>
              </a:rPr>
              <a:t>31 – 35′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5413248"/>
            <a:ext cx="6400800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5413248"/>
            <a:ext cx="6126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36E"/>
                </a:solidFill>
                <a:latin typeface="Microsoft YaHei"/>
                <a:ea typeface="Microsoft YaHei"/>
              </a:rPr>
              <a:t>Q&amp;A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5413248"/>
            <a:ext cx="2862072" cy="658368"/>
          </a:xfrm>
          <a:prstGeom prst="rect">
            <a:avLst/>
          </a:prstGeom>
          <a:solidFill>
            <a:srgbClr val="ECEEF1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0" y="5413248"/>
            <a:ext cx="25877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22833"/>
                </a:solidFill>
                <a:latin typeface="Microsoft YaHei"/>
                <a:ea typeface="Microsoft YaHei"/>
              </a:rPr>
              <a:t>全员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486400"/>
            <a:ext cx="11091672" cy="77724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B03A2E"/>
                </a:solidFill>
                <a:latin typeface="Microsoft YaHei"/>
                <a:ea typeface="Microsoft YaHei"/>
              </a:rPr>
              <a:t>提醒:</a:t>
            </a:r>
            <a:r>
              <a:rPr sz="1250" b="0">
                <a:solidFill>
                  <a:srgbClr val="5B636E"/>
                </a:solidFill>
                <a:latin typeface="Microsoft YaHei"/>
                <a:ea typeface="Microsoft YaHei"/>
              </a:rPr>
              <a:t>采购部门本轮不参与;首轮聚焦背景与案例、建立信任,不进商务细节。第三幕务必由麦当劳背景顾问主讲。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